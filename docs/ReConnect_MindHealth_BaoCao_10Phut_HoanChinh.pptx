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75" r:id="rId11"/>
    <p:sldId id="267" r:id="rId12"/>
    <p:sldId id="268" r:id="rId13"/>
    <p:sldId id="271" r:id="rId14"/>
    <p:sldId id="273" r:id="rId15"/>
    <p:sldId id="274" r:id="rId16"/>
  </p:sldIdLst>
  <p:sldSz cx="18288000" cy="10287000"/>
  <p:notesSz cx="6858000" cy="9144000"/>
  <p:embeddedFontLst>
    <p:embeddedFont>
      <p:font typeface="League Spartan" panose="020B0604020202020204" charset="0"/>
      <p:regular r:id="rId18"/>
    </p:embeddedFont>
    <p:embeddedFont>
      <p:font typeface="Glacial Indifference Bold" panose="020B0604020202020204" charset="0"/>
      <p:regular r:id="rId19"/>
    </p:embeddedFont>
    <p:embeddedFont>
      <p:font typeface="Agrandir Bold" panose="020B0604020202020204" charset="0"/>
      <p:regular r:id="rId20"/>
    </p:embeddedFont>
    <p:embeddedFont>
      <p:font typeface="TT Hoves Bold" panose="020B0604020202020204" charset="0"/>
      <p:regular r:id="rId21"/>
    </p:embeddedFont>
    <p:embeddedFont>
      <p:font typeface="Glacial Indifference" panose="020B0604020202020204" charset="0"/>
      <p:regular r:id="rId22"/>
    </p:embeddedFont>
    <p:embeddedFont>
      <p:font typeface="Nunito" panose="020B0604020202020204" charset="0"/>
      <p:regular r:id="rId23"/>
    </p:embeddedFont>
    <p:embeddedFont>
      <p:font typeface="Open Sauce Bold" panose="020B0604020202020204" charset="0"/>
      <p:regular r:id="rId24"/>
    </p:embeddedFont>
    <p:embeddedFont>
      <p:font typeface="Poppins Bold" panose="020B0604020202020204" charset="0"/>
      <p:regular r:id="rId25"/>
    </p:embeddedFont>
    <p:embeddedFont>
      <p:font typeface="TT Hoves" panose="020B0604020202020204" charset="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Nunito Bold" panose="020B0604020202020204" charset="0"/>
      <p:regular r:id="rId31"/>
    </p:embeddedFont>
    <p:embeddedFont>
      <p:font typeface="Inter" panose="020B0604020202020204" charset="0"/>
      <p:regular r:id="rId32"/>
    </p:embeddedFont>
    <p:embeddedFont>
      <p:font typeface="Poppins" panose="020B0604020202020204" charset="0"/>
      <p:regular r:id="rId33"/>
    </p:embeddedFont>
    <p:embeddedFont>
      <p:font typeface="Open Sauce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300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2A9BE-556F-4A79-ABD3-D9392CA1E672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88385-F1A7-4FF9-BBA1-0E5C13173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8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88385-F1A7-4FF9-BBA1-0E5C13173D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25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0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0.sv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huongtech24/do_an/blob/develop/docs/submission/05_co_so_khoa_hoc_va_anh_xa_nghiep_vu.md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huongtech24/do_an/blob/develop/docs/submission/04_bao_cao_danh_gia_thu_nghiem_ai.md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1F8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6256000" cy="9652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787400" y="254000"/>
            <a:ext cx="660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 smtClean="0">
                <a:solidFill>
                  <a:srgbClr val="0E3068"/>
                </a:solidFill>
                <a:latin typeface="Aptos"/>
              </a:rPr>
              <a:t>TRƯỜNG ĐẠI HỌC THỦY LỢI</a:t>
            </a:r>
            <a:endParaRPr lang="en-US" sz="16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400" y="5588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smtClean="0">
                <a:solidFill>
                  <a:srgbClr val="495869"/>
                </a:solidFill>
                <a:latin typeface="Aptos"/>
              </a:rPr>
              <a:t>KHOA CÔNG NGHỆ THÔNG TIN</a:t>
            </a:r>
            <a:endParaRPr lang="en-US" sz="1000">
              <a:solidFill>
                <a:srgbClr val="495869"/>
              </a:solidFill>
              <a:latin typeface="Apto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033000" y="965200"/>
            <a:ext cx="6223000" cy="7239000"/>
          </a:xfrm>
          <a:prstGeom prst="rect">
            <a:avLst/>
          </a:prstGeom>
          <a:solidFill>
            <a:srgbClr val="1C4E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3081000" y="965200"/>
            <a:ext cx="3175000" cy="7239000"/>
          </a:xfrm>
          <a:prstGeom prst="rect">
            <a:avLst/>
          </a:prstGeom>
          <a:solidFill>
            <a:srgbClr val="0E3068">
              <a:alpha val="9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0795000" y="2032000"/>
            <a:ext cx="3111500" cy="3111500"/>
          </a:xfrm>
          <a:prstGeom prst="ellipse">
            <a:avLst/>
          </a:prstGeom>
          <a:solidFill>
            <a:srgbClr val="FFFFFF">
              <a:alpha val="12000"/>
            </a:srgbClr>
          </a:solidFill>
          <a:ln w="25400" cap="flat" cmpd="sng" algn="ctr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12446000" y="41910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 cap="flat" cmpd="sng" algn="ctr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10947400" y="3175000"/>
            <a:ext cx="444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400" b="1" smtClean="0">
                <a:solidFill>
                  <a:srgbClr val="FFFFFF"/>
                </a:solidFill>
                <a:latin typeface="Aptos"/>
              </a:rPr>
              <a:t>AI + CBT</a:t>
            </a:r>
            <a:endParaRPr lang="en-US" sz="3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795000" y="4000500"/>
            <a:ext cx="469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smtClean="0">
                <a:solidFill>
                  <a:srgbClr val="FFFFFF"/>
                </a:solidFill>
                <a:latin typeface="Aptos"/>
              </a:rPr>
              <a:t>Hỗ trợ • Theo dõi • An toàn</a:t>
            </a:r>
            <a:endParaRPr lang="en-US" sz="15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87400" y="1524000"/>
            <a:ext cx="9906000" cy="546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1219200" y="1905000"/>
            <a:ext cx="2667000" cy="457200"/>
          </a:xfrm>
          <a:prstGeom prst="roundRect">
            <a:avLst/>
          </a:prstGeom>
          <a:solidFill>
            <a:srgbClr val="0E306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smtClean="0">
                <a:solidFill>
                  <a:srgbClr val="FFFFFF"/>
                </a:solidFill>
                <a:latin typeface="Aptos"/>
              </a:rPr>
              <a:t>ĐỒ ÁN TỐT NGHIỆP</a:t>
            </a:r>
            <a:endParaRPr lang="en-US"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19200" y="2730500"/>
            <a:ext cx="787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smtClean="0">
                <a:solidFill>
                  <a:srgbClr val="1C4EAA"/>
                </a:solidFill>
                <a:latin typeface="Aptos"/>
              </a:rPr>
              <a:t>ĐỀ TÀI</a:t>
            </a:r>
            <a:endParaRPr lang="en-US" sz="1500" b="1">
              <a:solidFill>
                <a:srgbClr val="1C4EAA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19200" y="3200400"/>
            <a:ext cx="825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0E3068"/>
                </a:solidFill>
                <a:latin typeface="Aptos"/>
              </a:rPr>
              <a:t>RECONNECT MINDHEALTH</a:t>
            </a:r>
            <a:endParaRPr lang="en-US" sz="31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19200" y="4000500"/>
            <a:ext cx="825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 smtClean="0">
                <a:solidFill>
                  <a:srgbClr val="0E3068"/>
                </a:solidFill>
                <a:latin typeface="Aptos"/>
              </a:rPr>
              <a:t>Hệ thống hỗ trợ trị liệu lo âu xã hội tích hợp AI</a:t>
            </a:r>
            <a:endParaRPr lang="en-US" sz="27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219200" y="5334000"/>
            <a:ext cx="825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495869"/>
                </a:solidFill>
                <a:latin typeface="Aptos"/>
              </a:rPr>
              <a:t>Ứng dụng CBT số hóa, RAG và điều phối lâm sàng an toàn</a:t>
            </a:r>
            <a:endParaRPr lang="en-US" sz="1500">
              <a:solidFill>
                <a:srgbClr val="495869"/>
              </a:solidFill>
              <a:latin typeface="Apto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87400" y="7302500"/>
            <a:ext cx="9906000" cy="1092200"/>
          </a:xfrm>
          <a:prstGeom prst="roundRect">
            <a:avLst/>
          </a:prstGeom>
          <a:solidFill>
            <a:srgbClr val="FFFFFF"/>
          </a:solidFill>
          <a:ln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066800" y="7531100"/>
            <a:ext cx="927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 b="1" smtClean="0">
                <a:solidFill>
                  <a:srgbClr val="0E3068"/>
                </a:solidFill>
                <a:latin typeface="Aptos"/>
              </a:rPr>
              <a:t>Sinh viên: Nguyễn Khắc Nam Phương  •  MSSV: 2251172459  •  Lớp: 64KTPM5</a:t>
            </a:r>
            <a:endParaRPr lang="en-US" sz="13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6800" y="7924800"/>
            <a:ext cx="927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 smtClean="0">
                <a:solidFill>
                  <a:srgbClr val="495869"/>
                </a:solidFill>
                <a:latin typeface="Aptos"/>
              </a:rPr>
              <a:t>Giảng viên hướng dẫn: Lê Thị Tú Kiên</a:t>
            </a:r>
            <a:endParaRPr lang="en-US" sz="1300">
              <a:solidFill>
                <a:srgbClr val="495869"/>
              </a:solidFill>
              <a:latin typeface="Apto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E306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787400" y="87757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FFFFFF"/>
                </a:solidFill>
                <a:latin typeface="Aptos"/>
              </a:rPr>
              <a:t>HÀ NỘI, 2026</a:t>
            </a:r>
            <a:endParaRPr lang="en-US" sz="12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5740" y="2195108"/>
            <a:ext cx="3810961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593"/>
              </a:lnSpc>
              <a:spcBef>
                <a:spcPct val="0"/>
              </a:spcBef>
            </a:pPr>
            <a:r>
              <a:rPr lang="en-US" sz="7994" u="none" strike="noStrike">
                <a:solidFill>
                  <a:srgbClr val="1C75BC"/>
                </a:solidFill>
                <a:latin typeface="Poppins"/>
                <a:ea typeface="Poppins"/>
                <a:cs typeface="Poppins"/>
                <a:sym typeface="Poppins"/>
              </a:rPr>
              <a:t>Lý Do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57219" y="4385045"/>
            <a:ext cx="371475" cy="3714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75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7219" y="5900201"/>
            <a:ext cx="371475" cy="3714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75B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7219" y="7415358"/>
            <a:ext cx="371475" cy="37147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75B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90481" y="4346945"/>
            <a:ext cx="500447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  <a:spcBef>
                <a:spcPct val="0"/>
              </a:spcBef>
            </a:pPr>
            <a:r>
              <a:rPr lang="en-US" sz="2301" b="1" dirty="0" err="1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Rào</a:t>
            </a:r>
            <a:r>
              <a:rPr lang="en-US" sz="2301" b="1" dirty="0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01" b="1" dirty="0" err="1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cản</a:t>
            </a:r>
            <a:r>
              <a:rPr lang="en-US" sz="2301" b="1" dirty="0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01" b="1" dirty="0" err="1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tiếp</a:t>
            </a:r>
            <a:r>
              <a:rPr lang="en-US" sz="2301" b="1" dirty="0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01" b="1" dirty="0" err="1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cận</a:t>
            </a:r>
            <a:endParaRPr lang="en-US" sz="2301" b="1" dirty="0">
              <a:solidFill>
                <a:srgbClr val="00000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90481" y="5862101"/>
            <a:ext cx="5417103" cy="39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222"/>
              </a:lnSpc>
              <a:spcBef>
                <a:spcPct val="0"/>
              </a:spcBef>
            </a:pPr>
            <a:r>
              <a:rPr lang="en-US" sz="2301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Khoảng</a:t>
            </a:r>
            <a:r>
              <a:rPr lang="en-US" sz="2301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trống</a:t>
            </a:r>
            <a:r>
              <a:rPr lang="en-US" sz="2301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ngoài</a:t>
            </a:r>
            <a:r>
              <a:rPr lang="en-US" sz="2301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phiên</a:t>
            </a:r>
            <a:r>
              <a:rPr lang="en-US" sz="2301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trị</a:t>
            </a:r>
            <a:r>
              <a:rPr lang="en-US" sz="2301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liệu</a:t>
            </a:r>
            <a:endParaRPr lang="en-US" sz="2301" b="1" u="none" strike="noStrike" dirty="0">
              <a:solidFill>
                <a:srgbClr val="00000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90481" y="7377258"/>
            <a:ext cx="6435943" cy="39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222"/>
              </a:lnSpc>
              <a:spcBef>
                <a:spcPct val="0"/>
              </a:spcBef>
            </a:pPr>
            <a:r>
              <a:rPr lang="en-US" sz="2301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Dữ</a:t>
            </a:r>
            <a:r>
              <a:rPr lang="en-US" sz="2301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liệu</a:t>
            </a:r>
            <a:r>
              <a:rPr lang="en-US" sz="2301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rời</a:t>
            </a:r>
            <a:r>
              <a:rPr lang="en-US" sz="2301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01" b="1" dirty="0" err="1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rạc</a:t>
            </a:r>
            <a:endParaRPr lang="en-US" sz="2301" b="1" dirty="0">
              <a:solidFill>
                <a:srgbClr val="00000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90481" y="4925715"/>
            <a:ext cx="6224474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8"/>
              </a:lnSpc>
              <a:spcBef>
                <a:spcPct val="0"/>
              </a:spcBef>
            </a:pP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âu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xã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hội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gây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né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tránh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tự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cô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lập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và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làm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suy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giảm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khả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năng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học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tập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làm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việc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và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kết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nối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xã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hội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lang="en-US" sz="184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90481" y="6440871"/>
            <a:ext cx="6435943" cy="32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578"/>
              </a:lnSpc>
              <a:spcBef>
                <a:spcPct val="0"/>
              </a:spcBef>
            </a:pPr>
            <a:r>
              <a:rPr lang="en-US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Khó</a:t>
            </a: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theo</a:t>
            </a:r>
            <a:r>
              <a:rPr lang="en-US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dõi</a:t>
            </a:r>
            <a:r>
              <a:rPr lang="en-US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hành</a:t>
            </a:r>
            <a:r>
              <a:rPr lang="en-US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vi an </a:t>
            </a:r>
            <a:r>
              <a:rPr lang="en-US" sz="1841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toàn</a:t>
            </a:r>
            <a:r>
              <a:rPr lang="en-US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né </a:t>
            </a:r>
            <a:r>
              <a:rPr lang="en-US" sz="1841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tránh</a:t>
            </a:r>
            <a:r>
              <a:rPr lang="en-US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và</a:t>
            </a:r>
            <a:r>
              <a:rPr lang="en-US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bài</a:t>
            </a:r>
            <a:r>
              <a:rPr lang="en-US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tập</a:t>
            </a:r>
            <a:r>
              <a:rPr lang="en-US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hằng</a:t>
            </a:r>
            <a:r>
              <a:rPr lang="en-US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41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ngày</a:t>
            </a:r>
            <a:r>
              <a:rPr lang="en-US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..</a:t>
            </a:r>
            <a:endParaRPr lang="en-US" sz="184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90481" y="7956028"/>
            <a:ext cx="6224474" cy="65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578"/>
              </a:lnSpc>
              <a:spcBef>
                <a:spcPct val="0"/>
              </a:spcBef>
            </a:pPr>
            <a:r>
              <a:rPr lang="en-US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vi-VN" sz="1841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hiếu </a:t>
            </a:r>
            <a:r>
              <a:rPr lang="vi-VN" sz="184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chuỗi dữ liệu LSAS, check-in, Thought Record và thực hành để bác sĩ xem trước phiên.</a:t>
            </a:r>
            <a:endParaRPr lang="en-US" sz="184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0361382" y="4499345"/>
            <a:ext cx="8716741" cy="3998020"/>
            <a:chOff x="0" y="0"/>
            <a:chExt cx="2295767" cy="10529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95767" cy="1052977"/>
            </a:xfrm>
            <a:custGeom>
              <a:avLst/>
              <a:gdLst/>
              <a:ahLst/>
              <a:cxnLst/>
              <a:rect l="l" t="t" r="r" b="b"/>
              <a:pathLst>
                <a:path w="2295767" h="1052977">
                  <a:moveTo>
                    <a:pt x="28421" y="0"/>
                  </a:moveTo>
                  <a:lnTo>
                    <a:pt x="2267346" y="0"/>
                  </a:lnTo>
                  <a:cubicBezTo>
                    <a:pt x="2274884" y="0"/>
                    <a:pt x="2282113" y="2994"/>
                    <a:pt x="2287443" y="8324"/>
                  </a:cubicBezTo>
                  <a:cubicBezTo>
                    <a:pt x="2292773" y="13654"/>
                    <a:pt x="2295767" y="20884"/>
                    <a:pt x="2295767" y="28421"/>
                  </a:cubicBezTo>
                  <a:lnTo>
                    <a:pt x="2295767" y="1024555"/>
                  </a:lnTo>
                  <a:cubicBezTo>
                    <a:pt x="2295767" y="1040252"/>
                    <a:pt x="2283043" y="1052977"/>
                    <a:pt x="2267346" y="1052977"/>
                  </a:cubicBezTo>
                  <a:lnTo>
                    <a:pt x="28421" y="1052977"/>
                  </a:lnTo>
                  <a:cubicBezTo>
                    <a:pt x="20884" y="1052977"/>
                    <a:pt x="13654" y="1049982"/>
                    <a:pt x="8324" y="1044652"/>
                  </a:cubicBezTo>
                  <a:cubicBezTo>
                    <a:pt x="2994" y="1039322"/>
                    <a:pt x="0" y="1032093"/>
                    <a:pt x="0" y="1024555"/>
                  </a:cubicBezTo>
                  <a:lnTo>
                    <a:pt x="0" y="28421"/>
                  </a:lnTo>
                  <a:cubicBezTo>
                    <a:pt x="0" y="12725"/>
                    <a:pt x="12725" y="0"/>
                    <a:pt x="28421" y="0"/>
                  </a:cubicBezTo>
                  <a:close/>
                </a:path>
              </a:pathLst>
            </a:custGeom>
            <a:solidFill>
              <a:srgbClr val="E8E8F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95767" cy="1091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991144" y="4091290"/>
            <a:ext cx="5268156" cy="5167010"/>
            <a:chOff x="0" y="0"/>
            <a:chExt cx="764096" cy="7494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64096" cy="749425"/>
            </a:xfrm>
            <a:custGeom>
              <a:avLst/>
              <a:gdLst/>
              <a:ahLst/>
              <a:cxnLst/>
              <a:rect l="l" t="t" r="r" b="b"/>
              <a:pathLst>
                <a:path w="764096" h="749425">
                  <a:moveTo>
                    <a:pt x="33800" y="0"/>
                  </a:moveTo>
                  <a:lnTo>
                    <a:pt x="730296" y="0"/>
                  </a:lnTo>
                  <a:cubicBezTo>
                    <a:pt x="748963" y="0"/>
                    <a:pt x="764096" y="15133"/>
                    <a:pt x="764096" y="33800"/>
                  </a:cubicBezTo>
                  <a:lnTo>
                    <a:pt x="764096" y="715625"/>
                  </a:lnTo>
                  <a:cubicBezTo>
                    <a:pt x="764096" y="734293"/>
                    <a:pt x="748963" y="749425"/>
                    <a:pt x="730296" y="749425"/>
                  </a:cubicBezTo>
                  <a:lnTo>
                    <a:pt x="33800" y="749425"/>
                  </a:lnTo>
                  <a:cubicBezTo>
                    <a:pt x="15133" y="749425"/>
                    <a:pt x="0" y="734293"/>
                    <a:pt x="0" y="715625"/>
                  </a:cubicBezTo>
                  <a:lnTo>
                    <a:pt x="0" y="33800"/>
                  </a:lnTo>
                  <a:cubicBezTo>
                    <a:pt x="0" y="15133"/>
                    <a:pt x="15133" y="0"/>
                    <a:pt x="33800" y="0"/>
                  </a:cubicBezTo>
                  <a:close/>
                </a:path>
              </a:pathLst>
            </a:custGeom>
            <a:blipFill>
              <a:blip r:embed="rId2"/>
              <a:stretch>
                <a:fillRect l="-40" r="-40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4641272" y="2232395"/>
            <a:ext cx="694736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3"/>
              </a:lnSpc>
              <a:spcBef>
                <a:spcPct val="0"/>
              </a:spcBef>
            </a:pPr>
            <a:r>
              <a:rPr lang="en-US" sz="799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Chọn Đề Tài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96743" y="1160051"/>
            <a:ext cx="310893" cy="47625"/>
            <a:chOff x="0" y="0"/>
            <a:chExt cx="81881" cy="125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881" cy="12543"/>
            </a:xfrm>
            <a:custGeom>
              <a:avLst/>
              <a:gdLst/>
              <a:ahLst/>
              <a:cxnLst/>
              <a:rect l="l" t="t" r="r" b="b"/>
              <a:pathLst>
                <a:path w="81881" h="12543">
                  <a:moveTo>
                    <a:pt x="0" y="0"/>
                  </a:moveTo>
                  <a:lnTo>
                    <a:pt x="81881" y="0"/>
                  </a:lnTo>
                  <a:lnTo>
                    <a:pt x="81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881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96743" y="1244241"/>
            <a:ext cx="310893" cy="47625"/>
            <a:chOff x="0" y="0"/>
            <a:chExt cx="81881" cy="125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881" cy="12543"/>
            </a:xfrm>
            <a:custGeom>
              <a:avLst/>
              <a:gdLst/>
              <a:ahLst/>
              <a:cxnLst/>
              <a:rect l="l" t="t" r="r" b="b"/>
              <a:pathLst>
                <a:path w="81881" h="12543">
                  <a:moveTo>
                    <a:pt x="0" y="0"/>
                  </a:moveTo>
                  <a:lnTo>
                    <a:pt x="81881" y="0"/>
                  </a:lnTo>
                  <a:lnTo>
                    <a:pt x="81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1881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 rot="-5400000">
            <a:off x="16917977" y="973938"/>
            <a:ext cx="263611" cy="419035"/>
          </a:xfrm>
          <a:custGeom>
            <a:avLst/>
            <a:gdLst/>
            <a:ahLst/>
            <a:cxnLst/>
            <a:rect l="l" t="t" r="r" b="b"/>
            <a:pathLst>
              <a:path w="263611" h="419035">
                <a:moveTo>
                  <a:pt x="0" y="0"/>
                </a:moveTo>
                <a:lnTo>
                  <a:pt x="263611" y="0"/>
                </a:lnTo>
                <a:lnTo>
                  <a:pt x="263611" y="419035"/>
                </a:lnTo>
                <a:lnTo>
                  <a:pt x="0" y="4190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547249" y="1037046"/>
            <a:ext cx="1033971" cy="31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8"/>
              </a:lnSpc>
            </a:pPr>
            <a:r>
              <a:rPr lang="en-US" sz="18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Giới thiệu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18431" y="1037046"/>
            <a:ext cx="1033971" cy="31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8"/>
              </a:lnSpc>
            </a:pPr>
            <a:r>
              <a:rPr lang="en-US" sz="18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Vấn đề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089613" y="1037046"/>
            <a:ext cx="1018840" cy="31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8"/>
              </a:lnSpc>
            </a:pPr>
            <a:r>
              <a:rPr lang="en-US" sz="18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Giải pháp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0279" y="2121870"/>
            <a:ext cx="6095650" cy="6095650"/>
          </a:xfrm>
          <a:custGeom>
            <a:avLst/>
            <a:gdLst/>
            <a:ahLst/>
            <a:cxnLst/>
            <a:rect l="l" t="t" r="r" b="b"/>
            <a:pathLst>
              <a:path w="6095650" h="6095650">
                <a:moveTo>
                  <a:pt x="0" y="0"/>
                </a:moveTo>
                <a:lnTo>
                  <a:pt x="6095650" y="0"/>
                </a:lnTo>
                <a:lnTo>
                  <a:pt x="6095650" y="6095650"/>
                </a:lnTo>
                <a:lnTo>
                  <a:pt x="0" y="609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31923" t="-30783" r="-30783" b="-31923"/>
            </a:stretch>
          </a:blipFill>
          <a:ln cap="rnd">
            <a:noFill/>
            <a:prstDash val="solid"/>
            <a:round/>
          </a:ln>
        </p:spPr>
      </p:sp>
      <p:sp>
        <p:nvSpPr>
          <p:cNvPr id="3" name="TextBox 3"/>
          <p:cNvSpPr txBox="1"/>
          <p:nvPr/>
        </p:nvSpPr>
        <p:spPr>
          <a:xfrm>
            <a:off x="2879338" y="600075"/>
            <a:ext cx="12529324" cy="176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311"/>
              </a:lnSpc>
              <a:spcBef>
                <a:spcPct val="0"/>
              </a:spcBef>
            </a:pPr>
            <a:r>
              <a:rPr lang="en-US" sz="8793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Mục Tiêu Nghiên Cứu</a:t>
            </a:r>
          </a:p>
        </p:txBody>
      </p:sp>
      <p:sp>
        <p:nvSpPr>
          <p:cNvPr id="4" name="Freeform 4"/>
          <p:cNvSpPr/>
          <p:nvPr/>
        </p:nvSpPr>
        <p:spPr>
          <a:xfrm>
            <a:off x="16562179" y="8474217"/>
            <a:ext cx="697121" cy="784083"/>
          </a:xfrm>
          <a:custGeom>
            <a:avLst/>
            <a:gdLst/>
            <a:ahLst/>
            <a:cxnLst/>
            <a:rect l="l" t="t" r="r" b="b"/>
            <a:pathLst>
              <a:path w="697121" h="784083">
                <a:moveTo>
                  <a:pt x="0" y="0"/>
                </a:moveTo>
                <a:lnTo>
                  <a:pt x="697121" y="0"/>
                </a:lnTo>
                <a:lnTo>
                  <a:pt x="697121" y="784083"/>
                </a:lnTo>
                <a:lnTo>
                  <a:pt x="0" y="7840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5900989" y="2643550"/>
            <a:ext cx="10863414" cy="2167257"/>
            <a:chOff x="0" y="0"/>
            <a:chExt cx="2866578" cy="5718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66578" cy="571884"/>
            </a:xfrm>
            <a:custGeom>
              <a:avLst/>
              <a:gdLst/>
              <a:ahLst/>
              <a:cxnLst/>
              <a:rect l="l" t="t" r="r" b="b"/>
              <a:pathLst>
                <a:path w="2866578" h="571884">
                  <a:moveTo>
                    <a:pt x="20667" y="0"/>
                  </a:moveTo>
                  <a:lnTo>
                    <a:pt x="2845911" y="0"/>
                  </a:lnTo>
                  <a:cubicBezTo>
                    <a:pt x="2857325" y="0"/>
                    <a:pt x="2866578" y="9253"/>
                    <a:pt x="2866578" y="20667"/>
                  </a:cubicBezTo>
                  <a:lnTo>
                    <a:pt x="2866578" y="551217"/>
                  </a:lnTo>
                  <a:cubicBezTo>
                    <a:pt x="2866578" y="556698"/>
                    <a:pt x="2864401" y="561955"/>
                    <a:pt x="2860525" y="565831"/>
                  </a:cubicBezTo>
                  <a:cubicBezTo>
                    <a:pt x="2856649" y="569706"/>
                    <a:pt x="2851392" y="571884"/>
                    <a:pt x="2845911" y="571884"/>
                  </a:cubicBezTo>
                  <a:lnTo>
                    <a:pt x="20667" y="571884"/>
                  </a:lnTo>
                  <a:cubicBezTo>
                    <a:pt x="15186" y="571884"/>
                    <a:pt x="9929" y="569706"/>
                    <a:pt x="6053" y="565831"/>
                  </a:cubicBezTo>
                  <a:cubicBezTo>
                    <a:pt x="2177" y="561955"/>
                    <a:pt x="0" y="556698"/>
                    <a:pt x="0" y="551217"/>
                  </a:cubicBezTo>
                  <a:lnTo>
                    <a:pt x="0" y="20667"/>
                  </a:lnTo>
                  <a:cubicBezTo>
                    <a:pt x="0" y="15186"/>
                    <a:pt x="2177" y="9929"/>
                    <a:pt x="6053" y="6053"/>
                  </a:cubicBezTo>
                  <a:cubicBezTo>
                    <a:pt x="9929" y="2177"/>
                    <a:pt x="15186" y="0"/>
                    <a:pt x="20667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66578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425537" y="3028011"/>
            <a:ext cx="9523548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630"/>
              </a:lnSpc>
              <a:spcBef>
                <a:spcPct val="0"/>
              </a:spcBef>
            </a:pPr>
            <a:r>
              <a:rPr lang="vi-VN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Số hóa một phần quy trình hỗ trợ CBT cho lo âu xã hội thành nền tảng tương tác, kết hợp AI hỗ trợ nhận thức và cơ chế an </a:t>
            </a:r>
            <a:r>
              <a:rPr lang="vi-VN" sz="2593" spc="12" dirty="0" smtClean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toàn</a:t>
            </a:r>
            <a:r>
              <a:rPr lang="en-US" sz="2593" u="none" strike="noStrike" spc="12" dirty="0" smtClean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,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tích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hợp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AI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đồng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hành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hỗ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trợ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nhận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thức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cho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người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dùng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trong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quá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trình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trị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liệu</a:t>
            </a:r>
            <a:r>
              <a:rPr lang="en-US" sz="2593" u="none" strike="noStrike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11" name="Freeform 11"/>
          <p:cNvSpPr/>
          <p:nvPr/>
        </p:nvSpPr>
        <p:spPr>
          <a:xfrm>
            <a:off x="4998624" y="3615501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9340067" flipV="1">
            <a:off x="670974" y="3948991"/>
            <a:ext cx="5637614" cy="4715095"/>
          </a:xfrm>
          <a:custGeom>
            <a:avLst/>
            <a:gdLst/>
            <a:ahLst/>
            <a:cxnLst/>
            <a:rect l="l" t="t" r="r" b="b"/>
            <a:pathLst>
              <a:path w="5637614" h="4715095">
                <a:moveTo>
                  <a:pt x="0" y="4715095"/>
                </a:moveTo>
                <a:lnTo>
                  <a:pt x="5637614" y="4715095"/>
                </a:lnTo>
                <a:lnTo>
                  <a:pt x="5637614" y="0"/>
                </a:lnTo>
                <a:lnTo>
                  <a:pt x="0" y="0"/>
                </a:lnTo>
                <a:lnTo>
                  <a:pt x="0" y="4715095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900989" y="5072908"/>
            <a:ext cx="10863414" cy="2167257"/>
            <a:chOff x="0" y="0"/>
            <a:chExt cx="2866578" cy="5718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66578" cy="571884"/>
            </a:xfrm>
            <a:custGeom>
              <a:avLst/>
              <a:gdLst/>
              <a:ahLst/>
              <a:cxnLst/>
              <a:rect l="l" t="t" r="r" b="b"/>
              <a:pathLst>
                <a:path w="2866578" h="571884">
                  <a:moveTo>
                    <a:pt x="20667" y="0"/>
                  </a:moveTo>
                  <a:lnTo>
                    <a:pt x="2845911" y="0"/>
                  </a:lnTo>
                  <a:cubicBezTo>
                    <a:pt x="2857325" y="0"/>
                    <a:pt x="2866578" y="9253"/>
                    <a:pt x="2866578" y="20667"/>
                  </a:cubicBezTo>
                  <a:lnTo>
                    <a:pt x="2866578" y="551217"/>
                  </a:lnTo>
                  <a:cubicBezTo>
                    <a:pt x="2866578" y="556698"/>
                    <a:pt x="2864401" y="561955"/>
                    <a:pt x="2860525" y="565831"/>
                  </a:cubicBezTo>
                  <a:cubicBezTo>
                    <a:pt x="2856649" y="569706"/>
                    <a:pt x="2851392" y="571884"/>
                    <a:pt x="2845911" y="571884"/>
                  </a:cubicBezTo>
                  <a:lnTo>
                    <a:pt x="20667" y="571884"/>
                  </a:lnTo>
                  <a:cubicBezTo>
                    <a:pt x="15186" y="571884"/>
                    <a:pt x="9929" y="569706"/>
                    <a:pt x="6053" y="565831"/>
                  </a:cubicBezTo>
                  <a:cubicBezTo>
                    <a:pt x="2177" y="561955"/>
                    <a:pt x="0" y="556698"/>
                    <a:pt x="0" y="551217"/>
                  </a:cubicBezTo>
                  <a:lnTo>
                    <a:pt x="0" y="20667"/>
                  </a:lnTo>
                  <a:cubicBezTo>
                    <a:pt x="0" y="15186"/>
                    <a:pt x="2177" y="9929"/>
                    <a:pt x="6053" y="6053"/>
                  </a:cubicBezTo>
                  <a:cubicBezTo>
                    <a:pt x="9929" y="2177"/>
                    <a:pt x="15186" y="0"/>
                    <a:pt x="20667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66578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425537" y="5457369"/>
            <a:ext cx="9523548" cy="1369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630"/>
              </a:lnSpc>
              <a:spcBef>
                <a:spcPct val="0"/>
              </a:spcBef>
            </a:pP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Xây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dựng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hệ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thống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đa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vai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trò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bằng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Flutter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và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Spring Boot REST API;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bảo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đảm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tách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lớp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,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toàn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vẹn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dữ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liệu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và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khả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năng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tích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hợp</a:t>
            </a:r>
            <a:r>
              <a:rPr lang="en-US" sz="2593" spc="12" dirty="0">
                <a:solidFill>
                  <a:srgbClr val="181D2B"/>
                </a:solidFill>
                <a:latin typeface="Nunito" panose="020B0604020202020204" charset="0"/>
                <a:ea typeface="Open Sauce"/>
                <a:cs typeface="Open Sauce"/>
                <a:sym typeface="Open Sauce"/>
              </a:rPr>
              <a:t> AI/RAG.</a:t>
            </a:r>
            <a:endParaRPr lang="en-US" sz="2593" u="none" strike="noStrike" spc="12" dirty="0">
              <a:solidFill>
                <a:srgbClr val="181D2B"/>
              </a:solidFill>
              <a:latin typeface="Nunito" panose="020B060402020202020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4998624" y="6044859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70615" y="3124077"/>
            <a:ext cx="7651050" cy="12268447"/>
          </a:xfrm>
          <a:custGeom>
            <a:avLst/>
            <a:gdLst/>
            <a:ahLst/>
            <a:cxnLst/>
            <a:rect l="l" t="t" r="r" b="b"/>
            <a:pathLst>
              <a:path w="7651050" h="12268447">
                <a:moveTo>
                  <a:pt x="0" y="0"/>
                </a:moveTo>
                <a:lnTo>
                  <a:pt x="7651049" y="0"/>
                </a:lnTo>
                <a:lnTo>
                  <a:pt x="7651049" y="12268446"/>
                </a:lnTo>
                <a:lnTo>
                  <a:pt x="0" y="12268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028700" y="4218294"/>
            <a:ext cx="4802016" cy="4479196"/>
            <a:chOff x="0" y="0"/>
            <a:chExt cx="1267130" cy="11819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457284" y="2085444"/>
            <a:ext cx="4802016" cy="4479196"/>
            <a:chOff x="0" y="0"/>
            <a:chExt cx="1267130" cy="11819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42992" y="3151869"/>
            <a:ext cx="4802016" cy="4479196"/>
            <a:chOff x="0" y="0"/>
            <a:chExt cx="1267130" cy="11819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56122" y="3479517"/>
            <a:ext cx="3784832" cy="27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96"/>
              </a:lnSpc>
              <a:spcBef>
                <a:spcPct val="0"/>
              </a:spcBef>
            </a:pPr>
            <a:r>
              <a:rPr lang="en-US" sz="1640" b="1" spc="8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Mô hình CBT - Judith Beck (2020)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56122" y="4048051"/>
            <a:ext cx="4011851" cy="132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2"/>
              </a:lnSpc>
              <a:spcBef>
                <a:spcPct val="0"/>
              </a:spcBef>
            </a:pPr>
            <a:r>
              <a:rPr lang="en-US" sz="1523" u="none" strike="noStrike" spc="7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Tái cấu trúc nhận thức qua Nhật ký suy nghĩ (Thought Record) 6 bước: Xác định tình huống → Cảm xúc → Suy nghĩ tự động → Bằng chứng → Phản hồi thích nghi → Kết quả.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562179" y="8474217"/>
            <a:ext cx="697121" cy="784083"/>
          </a:xfrm>
          <a:custGeom>
            <a:avLst/>
            <a:gdLst/>
            <a:ahLst/>
            <a:cxnLst/>
            <a:rect l="l" t="t" r="r" b="b"/>
            <a:pathLst>
              <a:path w="697121" h="784083">
                <a:moveTo>
                  <a:pt x="0" y="0"/>
                </a:moveTo>
                <a:lnTo>
                  <a:pt x="697121" y="0"/>
                </a:lnTo>
                <a:lnTo>
                  <a:pt x="697121" y="784083"/>
                </a:lnTo>
                <a:lnTo>
                  <a:pt x="0" y="78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rot="1433494">
            <a:off x="4930128" y="2970811"/>
            <a:ext cx="1413072" cy="1379521"/>
          </a:xfrm>
          <a:custGeom>
            <a:avLst/>
            <a:gdLst/>
            <a:ahLst/>
            <a:cxnLst/>
            <a:rect l="l" t="t" r="r" b="b"/>
            <a:pathLst>
              <a:path w="1413072" h="1379521">
                <a:moveTo>
                  <a:pt x="0" y="0"/>
                </a:moveTo>
                <a:lnTo>
                  <a:pt x="1413072" y="0"/>
                </a:lnTo>
                <a:lnTo>
                  <a:pt x="1413072" y="1379521"/>
                </a:lnTo>
                <a:lnTo>
                  <a:pt x="0" y="1379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771525"/>
            <a:ext cx="10516308" cy="104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16"/>
              </a:lnSpc>
              <a:spcBef>
                <a:spcPct val="0"/>
              </a:spcBef>
            </a:pPr>
            <a:r>
              <a:rPr lang="en-US" sz="5154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Cơ Sở Lý Thuyết Lâm Sàng</a:t>
            </a:r>
          </a:p>
        </p:txBody>
      </p:sp>
      <p:sp>
        <p:nvSpPr>
          <p:cNvPr id="19" name="Freeform 19"/>
          <p:cNvSpPr/>
          <p:nvPr/>
        </p:nvSpPr>
        <p:spPr>
          <a:xfrm rot="1433494">
            <a:off x="10649180" y="1938069"/>
            <a:ext cx="1413072" cy="1379521"/>
          </a:xfrm>
          <a:custGeom>
            <a:avLst/>
            <a:gdLst/>
            <a:ahLst/>
            <a:cxnLst/>
            <a:rect l="l" t="t" r="r" b="b"/>
            <a:pathLst>
              <a:path w="1413072" h="1379521">
                <a:moveTo>
                  <a:pt x="0" y="0"/>
                </a:moveTo>
                <a:lnTo>
                  <a:pt x="1413072" y="0"/>
                </a:lnTo>
                <a:lnTo>
                  <a:pt x="1413072" y="1379521"/>
                </a:lnTo>
                <a:lnTo>
                  <a:pt x="0" y="1379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441830" y="4545942"/>
            <a:ext cx="3784832" cy="27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96"/>
              </a:lnSpc>
              <a:spcBef>
                <a:spcPct val="0"/>
              </a:spcBef>
            </a:pPr>
            <a:r>
              <a:rPr lang="en-US" sz="1640" b="1" spc="8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Mô hình Clark &amp; Wells (1995)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41830" y="5114477"/>
            <a:ext cx="4011851" cy="132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2"/>
              </a:lnSpc>
              <a:spcBef>
                <a:spcPct val="0"/>
              </a:spcBef>
            </a:pPr>
            <a:r>
              <a:rPr lang="en-US" sz="1523" u="none" strike="noStrike" spc="7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Phá vỡ vòng lặp duy trì lo âu xã hội. Cơ chế: chú ý tự hướng nội và hành vi an toàn củng cố nỗi sợ. Can thiệp: Thử nghiệm hành vi (Behavioral Experiments) để kiểm chứng niềm tin sai lệch.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70414" y="2413092"/>
            <a:ext cx="3784832" cy="27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96"/>
              </a:lnSpc>
              <a:spcBef>
                <a:spcPct val="0"/>
              </a:spcBef>
            </a:pPr>
            <a:r>
              <a:rPr lang="en-US" sz="1640" b="1" spc="8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Thang đo LSAS-SR (Liebowitz, 1987)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70414" y="2981626"/>
            <a:ext cx="4011851" cy="105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2"/>
              </a:lnSpc>
              <a:spcBef>
                <a:spcPct val="0"/>
              </a:spcBef>
            </a:pP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24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tình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huống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xã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hội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đo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lường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hai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miền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Sợ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hãi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(Fear)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và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Né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tránh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(Avoidance).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Công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cụ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chuẩn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hóa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đánh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giá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mức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độ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lo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âu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xã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hội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trước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và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sau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can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thiệp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CBT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số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23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hóa</a:t>
            </a:r>
            <a:r>
              <a:rPr lang="en-US" sz="1523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2B5B91"/>
                </a:solidFill>
                <a:latin typeface="Aptos"/>
              </a:rPr>
              <a:t>PHẠM VI ĐỀ TÀI VÀ GIỚI HẠN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smtClean="0">
                <a:solidFill>
                  <a:srgbClr val="4E5B69"/>
                </a:solidFill>
                <a:latin typeface="Aptos"/>
              </a:rPr>
              <a:t>Xác định rõ phần hệ thống đã hiện thực và các nội dung chưa thuộc phạm vi đồ án.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52500" y="2222500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52500" y="2222500"/>
            <a:ext cx="127000" cy="4953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308100" y="2451100"/>
            <a:ext cx="624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B5B91"/>
                </a:solidFill>
                <a:latin typeface="Aptos"/>
              </a:rPr>
              <a:t>PHẠM VI ĐÃ HIỆN THỰC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08100" y="3009900"/>
            <a:ext cx="6248400" cy="21544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 dirty="0" smtClean="0">
                <a:solidFill>
                  <a:srgbClr val="152D4B"/>
                </a:solidFill>
                <a:latin typeface="Aptos"/>
              </a:rPr>
              <a:t>• Hồ sơ ẩn danh và tài khoản bệnh nhân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ptos"/>
              </a:rPr>
              <a:t>• LSAS, Goal Setting và lộ trình CBT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ptos"/>
              </a:rPr>
              <a:t>• Thought Record, Daily Check-in và Safety Gate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ptos"/>
              </a:rPr>
              <a:t>• Đặt lịch, Web CMS và điều phối Cờ đỏ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ptos"/>
              </a:rPr>
              <a:t>• </a:t>
            </a:r>
            <a:r>
              <a:rPr lang="vi-VN" sz="2000" dirty="0">
                <a:solidFill>
                  <a:srgbClr val="152D4B"/>
                </a:solidFill>
                <a:latin typeface="Aptos"/>
              </a:rPr>
              <a:t>Gemini kết hợp vector RAG trên Qdrant với kho tri thức CBT nội bộ chọn lọc; AI chỉ hỗ trợ giải thích và gợi ý, chưa được xác nhận lâm sàng.</a:t>
            </a:r>
            <a:endParaRPr lang="en-US" sz="2000" dirty="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445500" y="2222500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445500" y="2222500"/>
            <a:ext cx="127000" cy="49530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801100" y="2451100"/>
            <a:ext cx="624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E2972D"/>
                </a:solidFill>
                <a:latin typeface="Aptos"/>
              </a:rPr>
              <a:t>GIỚI HẠN VÀ LOẠI TRỪ</a:t>
            </a:r>
            <a:endParaRPr lang="en-US" sz="1900" b="1">
              <a:solidFill>
                <a:srgbClr val="E2972D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01100" y="3009900"/>
            <a:ext cx="6248400" cy="27699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 dirty="0" smtClean="0">
                <a:solidFill>
                  <a:srgbClr val="152D4B"/>
                </a:solidFill>
                <a:latin typeface="Aptos"/>
              </a:rPr>
              <a:t>• Chưa tích hợp video call trực tiếp; sử dụng liên kết họp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ptos"/>
              </a:rPr>
              <a:t>• AI là mô hình tổng quát, không thay thế bác sĩ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ptos"/>
              </a:rPr>
              <a:t>• Chưa thực hiện thử nghiệm lâm sàng trên người bệnh thật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ptos"/>
              </a:rPr>
              <a:t>• Chưa công bố độ chính xác khi thiếu tập nhãn chuyên gia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ptos"/>
              </a:rPr>
              <a:t>• Dữ liệu nhạy cảm cần tiếp tục tăng cường quản trị khi triển khai thật</a:t>
            </a:r>
            <a:endParaRPr lang="en-US" sz="2000" dirty="0">
              <a:solidFill>
                <a:srgbClr val="152D4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5969" y="3450709"/>
            <a:ext cx="12486777" cy="2359541"/>
          </a:xfrm>
          <a:custGeom>
            <a:avLst/>
            <a:gdLst/>
            <a:ahLst/>
            <a:cxnLst/>
            <a:rect l="l" t="t" r="r" b="b"/>
            <a:pathLst>
              <a:path w="12486777" h="2359541">
                <a:moveTo>
                  <a:pt x="0" y="0"/>
                </a:moveTo>
                <a:lnTo>
                  <a:pt x="12486777" y="0"/>
                </a:lnTo>
                <a:lnTo>
                  <a:pt x="12486777" y="2359541"/>
                </a:lnTo>
                <a:lnTo>
                  <a:pt x="0" y="2359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043246" y="3450709"/>
            <a:ext cx="3069285" cy="2359541"/>
          </a:xfrm>
          <a:custGeom>
            <a:avLst/>
            <a:gdLst/>
            <a:ahLst/>
            <a:cxnLst/>
            <a:rect l="l" t="t" r="r" b="b"/>
            <a:pathLst>
              <a:path w="3069285" h="2359541">
                <a:moveTo>
                  <a:pt x="0" y="0"/>
                </a:moveTo>
                <a:lnTo>
                  <a:pt x="3069285" y="0"/>
                </a:lnTo>
                <a:lnTo>
                  <a:pt x="3069285" y="2359541"/>
                </a:lnTo>
                <a:lnTo>
                  <a:pt x="0" y="2359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r="-306830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-433771" y="6420478"/>
            <a:ext cx="19155541" cy="0"/>
          </a:xfrm>
          <a:prstGeom prst="line">
            <a:avLst/>
          </a:prstGeom>
          <a:ln w="95250" cap="flat">
            <a:solidFill>
              <a:srgbClr val="DBE0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2416972" y="6286500"/>
            <a:ext cx="267956" cy="26795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61961" y="6286500"/>
            <a:ext cx="267956" cy="2679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26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706950" y="6286500"/>
            <a:ext cx="267956" cy="26795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51939" y="6286500"/>
            <a:ext cx="267956" cy="26795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D6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044810" y="6286500"/>
            <a:ext cx="267956" cy="26795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3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2253803" y="4172448"/>
            <a:ext cx="617717" cy="591583"/>
          </a:xfrm>
          <a:custGeom>
            <a:avLst/>
            <a:gdLst/>
            <a:ahLst/>
            <a:cxnLst/>
            <a:rect l="l" t="t" r="r" b="b"/>
            <a:pathLst>
              <a:path w="617717" h="591583">
                <a:moveTo>
                  <a:pt x="0" y="0"/>
                </a:moveTo>
                <a:lnTo>
                  <a:pt x="617718" y="0"/>
                </a:lnTo>
                <a:lnTo>
                  <a:pt x="617718" y="591583"/>
                </a:lnTo>
                <a:lnTo>
                  <a:pt x="0" y="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364115" y="4120804"/>
            <a:ext cx="658282" cy="624323"/>
          </a:xfrm>
          <a:custGeom>
            <a:avLst/>
            <a:gdLst/>
            <a:ahLst/>
            <a:cxnLst/>
            <a:rect l="l" t="t" r="r" b="b"/>
            <a:pathLst>
              <a:path w="658282" h="624323">
                <a:moveTo>
                  <a:pt x="0" y="0"/>
                </a:moveTo>
                <a:lnTo>
                  <a:pt x="658282" y="0"/>
                </a:lnTo>
                <a:lnTo>
                  <a:pt x="658282" y="624324"/>
                </a:lnTo>
                <a:lnTo>
                  <a:pt x="0" y="6243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287783" y="4120682"/>
            <a:ext cx="1081451" cy="630470"/>
          </a:xfrm>
          <a:custGeom>
            <a:avLst/>
            <a:gdLst/>
            <a:ahLst/>
            <a:cxnLst/>
            <a:rect l="l" t="t" r="r" b="b"/>
            <a:pathLst>
              <a:path w="1081451" h="630470">
                <a:moveTo>
                  <a:pt x="0" y="0"/>
                </a:moveTo>
                <a:lnTo>
                  <a:pt x="1081452" y="0"/>
                </a:lnTo>
                <a:lnTo>
                  <a:pt x="1081452" y="630469"/>
                </a:lnTo>
                <a:lnTo>
                  <a:pt x="0" y="630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691086" y="4019021"/>
            <a:ext cx="525258" cy="725615"/>
          </a:xfrm>
          <a:custGeom>
            <a:avLst/>
            <a:gdLst/>
            <a:ahLst/>
            <a:cxnLst/>
            <a:rect l="l" t="t" r="r" b="b"/>
            <a:pathLst>
              <a:path w="525258" h="725615">
                <a:moveTo>
                  <a:pt x="0" y="0"/>
                </a:moveTo>
                <a:lnTo>
                  <a:pt x="525259" y="0"/>
                </a:lnTo>
                <a:lnTo>
                  <a:pt x="525259" y="725615"/>
                </a:lnTo>
                <a:lnTo>
                  <a:pt x="0" y="7256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324443" y="904875"/>
            <a:ext cx="11639114" cy="47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54"/>
              </a:lnSpc>
            </a:pPr>
            <a:r>
              <a:rPr lang="en-US" sz="2824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Phương Pháp Nghiên Cứu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24443" y="1715943"/>
            <a:ext cx="11639114" cy="24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7"/>
              </a:lnSpc>
            </a:pPr>
            <a:r>
              <a:rPr lang="en-US" sz="149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Bốn giai đoạn tuần tự trong quy trình nghiên cứu và phát triển phần mềm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5969" y="6859672"/>
            <a:ext cx="2369964" cy="25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156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Nghiên Cứu Lý Thuyết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5969" y="5174578"/>
            <a:ext cx="2369964" cy="20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Giai đoạn 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0958" y="6859672"/>
            <a:ext cx="2369964" cy="25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156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Phân Tích &amp; Thiết Kế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0958" y="5174578"/>
            <a:ext cx="2369964" cy="20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Giai đoạn 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55946" y="6859672"/>
            <a:ext cx="2369964" cy="25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156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Thực Nghiệm Phần Mềm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55946" y="5174578"/>
            <a:ext cx="2369964" cy="20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Giai đoạn 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00935" y="6859672"/>
            <a:ext cx="2369964" cy="25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156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Kiểm Thử &amp; Đánh Giá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00935" y="5174578"/>
            <a:ext cx="2369964" cy="20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Giai đoạn 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5969" y="7328118"/>
            <a:ext cx="2369964" cy="86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Nghiên cứu phác đồ CBT, mô hình Clark &amp; Wells và thang đo LSAS để số hóa nghiệp vụ y văn vào logic phần mềm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10958" y="7328118"/>
            <a:ext cx="2369964" cy="86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Khảo sát yêu cầu, mô hình hóa bằng biểu đồ UML (Use Case, Activity, Sequence, Class Diagram) và thiết kế ERD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55946" y="7328118"/>
            <a:ext cx="2369964" cy="86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Lập trình Backend (Spring Boot), CSDL (MySQL), Mobile App và Web CMS (Flutter), tích hợp Gemini API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706894" y="7328118"/>
            <a:ext cx="2558045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vi-VN" sz="1255" smtClean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Kiểm thử các luồng nghiệp vụ, đánh giá định tính phản hồi AI và xác minh cơ chế chống đặt lịch trùng</a:t>
            </a:r>
            <a:endParaRPr lang="en-US" sz="1255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2B5B91"/>
                </a:solidFill>
                <a:latin typeface="Aptos"/>
              </a:rPr>
              <a:t>CHỨC NĂNG CHÍNH CỦA HỆ THỐNG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smtClean="0">
                <a:solidFill>
                  <a:srgbClr val="4E5B69"/>
                </a:solidFill>
                <a:latin typeface="Aptos"/>
              </a:rPr>
              <a:t>Ba nhóm người dùng phối hợp trên cùng một nền tảng dữ liệu.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98500" y="2222500"/>
            <a:ext cx="4699000" cy="520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98500" y="2222500"/>
            <a:ext cx="127000" cy="5207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054100" y="2451100"/>
            <a:ext cx="4089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B5B91"/>
                </a:solidFill>
                <a:latin typeface="Aptos"/>
              </a:rPr>
              <a:t>BỆNH NHÂN – FLUTTER APP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4100" y="3009900"/>
            <a:ext cx="40894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Hồ sơ ẩn danh và hồ sơ chính thức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LSAS và mục tiêu trị liệu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Fear Ladder và Behavioral Experiment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Daily Check-in, Thought Record và AI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Đặt lịch tư vấn từ xa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778500" y="2222500"/>
            <a:ext cx="4699000" cy="520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778500" y="2222500"/>
            <a:ext cx="127000" cy="5207000"/>
          </a:xfrm>
          <a:prstGeom prst="rect">
            <a:avLst/>
          </a:prstGeom>
          <a:solidFill>
            <a:srgbClr val="32858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134100" y="2451100"/>
            <a:ext cx="4089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32858C"/>
                </a:solidFill>
                <a:latin typeface="Aptos"/>
              </a:rPr>
              <a:t>BÁC SĨ – WEB CMS</a:t>
            </a:r>
            <a:endParaRPr lang="en-US" sz="1900" b="1">
              <a:solidFill>
                <a:srgbClr val="32858C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34100" y="3009900"/>
            <a:ext cx="40894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Danh sách bệnh nhân phụ trách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Xem trước phiên tư vấn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Theo dõi LSAS và tiến trình trị liệu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Quản lý lịch làm việc, lịch hẹn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Ghi chú lâm sàng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858500" y="2222500"/>
            <a:ext cx="4699000" cy="520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0858500" y="2222500"/>
            <a:ext cx="127000" cy="52070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1214100" y="2451100"/>
            <a:ext cx="4089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E2972D"/>
                </a:solidFill>
                <a:latin typeface="Aptos"/>
              </a:rPr>
              <a:t>QUẢN TRỊ VIÊN</a:t>
            </a:r>
            <a:endParaRPr lang="en-US" sz="1900" b="1">
              <a:solidFill>
                <a:srgbClr val="E2972D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14100" y="3009900"/>
            <a:ext cx="40894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Quản lý tài khoản và bác sĩ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Duyệt hồ sơ chuyên môn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Theo dõi dashboard ưu tiên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Điều phối và gán bác sĩ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Xử lý hàng chờ Cờ đỏ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46669" y="-27941"/>
            <a:ext cx="10324927" cy="10398762"/>
            <a:chOff x="0" y="0"/>
            <a:chExt cx="13766570" cy="1386501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569" b="2569"/>
            <a:stretch>
              <a:fillRect/>
            </a:stretch>
          </p:blipFill>
          <p:spPr>
            <a:xfrm>
              <a:off x="0" y="0"/>
              <a:ext cx="13766570" cy="13865017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2793688" y="428576"/>
            <a:ext cx="125357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Profile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44568" y="428576"/>
            <a:ext cx="81473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75866" y="428576"/>
            <a:ext cx="85681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Gallery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61279" y="428576"/>
            <a:ext cx="85681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Portfolio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2B5B91"/>
                </a:solidFill>
                <a:latin typeface="Aptos"/>
              </a:rPr>
              <a:t>CÁ NHÂN HÓA LỘ TRÌNH TRỊ LIỆU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smtClean="0">
                <a:solidFill>
                  <a:srgbClr val="4E5B69"/>
                </a:solidFill>
                <a:latin typeface="Aptos"/>
              </a:rPr>
              <a:t>LSAS baseline quyết định mức độ; goalType là tín hiệu ưu tiên, không thay thế đánh giá lâm sàng.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825500" y="2413000"/>
            <a:ext cx="44450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825500" y="2413000"/>
            <a:ext cx="127000" cy="3175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1181100" y="26416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B5B91"/>
                </a:solidFill>
                <a:latin typeface="Aptos"/>
              </a:rPr>
              <a:t>1. DỮ LIỆU NỀN LSAS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181100" y="3200400"/>
            <a:ext cx="3835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24 tình huống được chấm theo hai chiều: Sợ hãi và Né tránh. Hệ thống chỉ lấy các tình huống có điểm lớn hơn 0 để tạo Fear Ladder.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5905500" y="2413000"/>
            <a:ext cx="44450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5905500" y="2413000"/>
            <a:ext cx="127000" cy="3175000"/>
          </a:xfrm>
          <a:prstGeom prst="rect">
            <a:avLst/>
          </a:prstGeom>
          <a:solidFill>
            <a:srgbClr val="6E4F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6261100" y="26416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900" b="1" smtClean="0">
                <a:solidFill>
                  <a:srgbClr val="6E4FAA"/>
                </a:solidFill>
                <a:latin typeface="Aptos"/>
              </a:rPr>
              <a:t>2. ƯU TIÊN THEO MỤC TIÊU</a:t>
            </a:r>
            <a:endParaRPr lang="en-US" sz="1900" b="1">
              <a:solidFill>
                <a:srgbClr val="6E4FAA"/>
              </a:solidFill>
              <a:latin typeface="Apto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261100" y="3200400"/>
            <a:ext cx="3835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SOCIAL ưu tiên nhóm tương tác xã hội. BEHAVIORAL ưu tiên nhóm hiệu suất/biểu diễn. EMOTIONAL giữ thứ tự trung tính và bổ sung hướng dẫn điều hòa cảm xúc.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0985500" y="2413000"/>
            <a:ext cx="44450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10985500" y="2413000"/>
            <a:ext cx="127000" cy="3175000"/>
          </a:xfrm>
          <a:prstGeom prst="rect">
            <a:avLst/>
          </a:prstGeom>
          <a:solidFill>
            <a:srgbClr val="228B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>
            <a:off x="11341100" y="26416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28B5E"/>
                </a:solidFill>
                <a:latin typeface="Aptos"/>
              </a:rPr>
              <a:t>3. SẮP XẾP VÀ MỞ KHÓA</a:t>
            </a:r>
            <a:endParaRPr lang="en-US" sz="1900" b="1">
              <a:solidFill>
                <a:srgbClr val="228B5E"/>
              </a:solidFill>
              <a:latin typeface="Apto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1341100" y="3200400"/>
            <a:ext cx="383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Thứ tự: goalMatch giảm dần → tổng điểm tăng dần → số tình huống. Các nấc được mở dần theo trạng thái hoàn thành.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143000" y="6350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ptos"/>
              </a:rPr>
              <a:t>LSAS baseline</a:t>
            </a:r>
            <a:endParaRPr lang="en-US" b="1">
              <a:solidFill>
                <a:srgbClr val="152D4B"/>
              </a:solidFill>
              <a:latin typeface="Aptos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064000" y="6273800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 smtClean="0">
                <a:solidFill>
                  <a:srgbClr val="2B5B91"/>
                </a:solidFill>
                <a:latin typeface="Aptos"/>
              </a:rPr>
              <a:t>→</a:t>
            </a:r>
            <a:endParaRPr lang="en-US" sz="26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953000" y="6350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ptos"/>
              </a:rPr>
              <a:t>Goal priority</a:t>
            </a:r>
            <a:endParaRPr lang="en-US" b="1">
              <a:solidFill>
                <a:srgbClr val="152D4B"/>
              </a:solidFill>
              <a:latin typeface="Apto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874000" y="6273800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 smtClean="0">
                <a:solidFill>
                  <a:srgbClr val="2B5B91"/>
                </a:solidFill>
                <a:latin typeface="Aptos"/>
              </a:rPr>
              <a:t>→</a:t>
            </a:r>
            <a:endParaRPr lang="en-US" sz="26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763000" y="6350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ptos"/>
              </a:rPr>
              <a:t>Fear Ladder</a:t>
            </a:r>
            <a:endParaRPr lang="en-US" b="1">
              <a:solidFill>
                <a:srgbClr val="152D4B"/>
              </a:solidFill>
              <a:latin typeface="Apto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1684000" y="6273800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 smtClean="0">
                <a:solidFill>
                  <a:srgbClr val="2B5B91"/>
                </a:solidFill>
                <a:latin typeface="Aptos"/>
              </a:rPr>
              <a:t>→</a:t>
            </a:r>
            <a:endParaRPr lang="en-US" sz="26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2446000" y="6350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ptos"/>
              </a:rPr>
              <a:t>Behavioral Experiment</a:t>
            </a:r>
            <a:endParaRPr lang="en-US" b="1">
              <a:solidFill>
                <a:srgbClr val="152D4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dirty="0" err="1" smtClean="0">
                <a:solidFill>
                  <a:srgbClr val="2B5B91"/>
                </a:solidFill>
                <a:latin typeface="Aptos"/>
              </a:rPr>
              <a:t>Một</a:t>
            </a:r>
            <a:r>
              <a:rPr lang="en-US" sz="3100" b="1" dirty="0" smtClean="0">
                <a:solidFill>
                  <a:srgbClr val="2B5B91"/>
                </a:solidFill>
                <a:latin typeface="Aptos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ptos"/>
              </a:rPr>
              <a:t>số</a:t>
            </a:r>
            <a:r>
              <a:rPr lang="en-US" sz="3100" b="1" dirty="0" smtClean="0">
                <a:solidFill>
                  <a:srgbClr val="2B5B91"/>
                </a:solidFill>
                <a:latin typeface="Aptos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ptos"/>
              </a:rPr>
              <a:t>màn</a:t>
            </a:r>
            <a:r>
              <a:rPr lang="en-US" sz="3100" b="1" dirty="0" smtClean="0">
                <a:solidFill>
                  <a:srgbClr val="2B5B91"/>
                </a:solidFill>
                <a:latin typeface="Aptos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ptos"/>
              </a:rPr>
              <a:t>hình</a:t>
            </a:r>
            <a:r>
              <a:rPr lang="en-US" sz="3100" b="1" dirty="0" smtClean="0">
                <a:solidFill>
                  <a:srgbClr val="2B5B91"/>
                </a:solidFill>
                <a:latin typeface="Aptos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ptos"/>
              </a:rPr>
              <a:t>chính</a:t>
            </a:r>
            <a:r>
              <a:rPr lang="en-US" sz="3100" b="1" dirty="0" smtClean="0">
                <a:solidFill>
                  <a:srgbClr val="2B5B91"/>
                </a:solidFill>
                <a:latin typeface="Aptos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ptos"/>
              </a:rPr>
              <a:t>của</a:t>
            </a:r>
            <a:r>
              <a:rPr lang="en-US" sz="3100" b="1" dirty="0" smtClean="0">
                <a:solidFill>
                  <a:srgbClr val="2B5B91"/>
                </a:solidFill>
                <a:latin typeface="Aptos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ptos"/>
              </a:rPr>
              <a:t>hệ</a:t>
            </a:r>
            <a:r>
              <a:rPr lang="en-US" sz="3100" b="1" dirty="0" smtClean="0">
                <a:solidFill>
                  <a:srgbClr val="2B5B91"/>
                </a:solidFill>
                <a:latin typeface="Aptos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ptos"/>
              </a:rPr>
              <a:t>thống</a:t>
            </a:r>
            <a:endParaRPr lang="en-US" sz="3100" b="1" dirty="0">
              <a:solidFill>
                <a:srgbClr val="2B5B91"/>
              </a:solidFill>
              <a:latin typeface="Apto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714500"/>
            <a:ext cx="4953000" cy="6324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1722620"/>
            <a:ext cx="49530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236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2B5B91"/>
                </a:solidFill>
                <a:latin typeface="Aptos"/>
              </a:rPr>
              <a:t>KẾT QUẢ NGHIÊN CỨU VÀ KỸ THUẬT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E5B69"/>
                </a:solidFill>
                <a:latin typeface="Aptos"/>
              </a:rPr>
              <a:t>Các kết quả đã hiện thực và có thể chứng minh bằng code, API hoặc dữ liệu kiểm thử.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9000" y="2222500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89000" y="2222500"/>
            <a:ext cx="127000" cy="23495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244600" y="2451100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1900" b="1" smtClean="0">
                <a:solidFill>
                  <a:srgbClr val="2B5B91"/>
                </a:solidFill>
                <a:latin typeface="Aptos"/>
              </a:rPr>
              <a:t>SẢN PHẨM ĐA VAI TRÒ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44600" y="3009900"/>
            <a:ext cx="612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Flutter App cho bệnh nhân; Web CMS cho bác sĩ và quản trị viên; Spring Boot API kết nối dữ liệu xuyên suốt.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55000" y="2222500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255000" y="2222500"/>
            <a:ext cx="127000" cy="2349500"/>
          </a:xfrm>
          <a:prstGeom prst="rect">
            <a:avLst/>
          </a:prstGeom>
          <a:solidFill>
            <a:srgbClr val="32858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610600" y="2451100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32858C"/>
                </a:solidFill>
                <a:latin typeface="Aptos"/>
              </a:rPr>
              <a:t>SỐ HÓA NGHIỆP VỤ CBT</a:t>
            </a:r>
            <a:endParaRPr lang="en-US" sz="1900" b="1">
              <a:solidFill>
                <a:srgbClr val="32858C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10600" y="3009900"/>
            <a:ext cx="612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Ánh xạ LSAS, Thought Record, Fear Ladder và Behavioral Experiment từ cơ sở lý thuyết thành luồng phần mềm.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9000" y="5080000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89000" y="5080000"/>
            <a:ext cx="127000" cy="23495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244600" y="5308600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E2972D"/>
                </a:solidFill>
                <a:latin typeface="Aptos"/>
              </a:rPr>
              <a:t>AN TOÀN VÀ TOÀN VẸN</a:t>
            </a:r>
            <a:endParaRPr lang="en-US" sz="1900" b="1">
              <a:solidFill>
                <a:srgbClr val="E2972D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44600" y="5867400"/>
            <a:ext cx="612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dirty="0">
                <a:solidFill>
                  <a:srgbClr val="152D4B"/>
                </a:solidFill>
                <a:latin typeface="Aptos"/>
              </a:rPr>
              <a:t>JWT, AES-128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cho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nội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dung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nhật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ký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, transaction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và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hai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unique constraint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chống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trùng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lịch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.</a:t>
            </a:r>
            <a:endParaRPr lang="en-US" sz="1500" dirty="0">
              <a:solidFill>
                <a:srgbClr val="152D4B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55000" y="5080000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255000" y="5080000"/>
            <a:ext cx="127000" cy="2349500"/>
          </a:xfrm>
          <a:prstGeom prst="rect">
            <a:avLst/>
          </a:prstGeom>
          <a:solidFill>
            <a:srgbClr val="6E4F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8610600" y="5308600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900" b="1" smtClean="0">
                <a:solidFill>
                  <a:srgbClr val="6E4FAA"/>
                </a:solidFill>
                <a:latin typeface="Aptos"/>
              </a:rPr>
              <a:t>AI, RAG VÀ KIỂM THỬ</a:t>
            </a:r>
            <a:endParaRPr lang="en-US" sz="1900" b="1">
              <a:solidFill>
                <a:srgbClr val="6E4FA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10600" y="5867400"/>
            <a:ext cx="612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dirty="0">
                <a:solidFill>
                  <a:srgbClr val="152D4B"/>
                </a:solidFill>
                <a:latin typeface="Aptos"/>
              </a:rPr>
              <a:t>Gemini Embedding +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Qdrant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, fallback, API contract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và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bộ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ca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kiểm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thử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chủ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152D4B"/>
                </a:solidFill>
                <a:latin typeface="Aptos"/>
              </a:rPr>
              <a:t>đề</a:t>
            </a:r>
            <a:r>
              <a:rPr lang="en-US" sz="1500" dirty="0">
                <a:solidFill>
                  <a:srgbClr val="152D4B"/>
                </a:solidFill>
                <a:latin typeface="Aptos"/>
              </a:rPr>
              <a:t>.</a:t>
            </a:r>
            <a:endParaRPr lang="en-US" sz="1500" dirty="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1607800" y="7493000"/>
            <a:ext cx="3708400" cy="1041400"/>
          </a:xfrm>
          <a:prstGeom prst="roundRect">
            <a:avLst/>
          </a:prstGeom>
          <a:solidFill>
            <a:srgbClr val="F1F8FD"/>
          </a:solidFill>
          <a:ln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861800" y="7645400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0E3068"/>
                </a:solidFill>
                <a:latin typeface="Aptos"/>
              </a:rPr>
              <a:t>Minh chứng nghiên cứu</a:t>
            </a:r>
            <a:endParaRPr lang="en-US" sz="12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11861800" y="7975600"/>
            <a:ext cx="3175000" cy="533400"/>
          </a:xfrm>
          <a:prstGeom prst="roundRect">
            <a:avLst/>
          </a:prstGeom>
          <a:solidFill>
            <a:srgbClr val="1C4E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300" b="1" smtClean="0">
                <a:solidFill>
                  <a:srgbClr val="FFFFFF"/>
                </a:solidFill>
                <a:latin typeface="Aptos"/>
              </a:rPr>
              <a:t>↗  MỞ BÁO CÁO CƠ SỞ KHOA HỌC</a:t>
            </a:r>
            <a:endParaRPr lang="en-US" sz="13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100" b="1" smtClean="0">
                <a:solidFill>
                  <a:srgbClr val="2B5B91"/>
                </a:solidFill>
                <a:latin typeface="Aptos"/>
              </a:rPr>
              <a:t>KIỂM SOÁT TƯƠNG TRANH KHI ĐẶT LỊCH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E5B69"/>
                </a:solidFill>
                <a:latin typeface="Aptos"/>
              </a:rPr>
              <a:t>Hai request cùng chọn một khung giờ – hệ thống bảo vệ dữ liệu qua hai lớp.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5500" y="2667000"/>
            <a:ext cx="3810000" cy="260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25500" y="2667000"/>
            <a:ext cx="127000" cy="2603500"/>
          </a:xfrm>
          <a:prstGeom prst="rect">
            <a:avLst/>
          </a:prstGeom>
          <a:solidFill>
            <a:srgbClr val="4E5B6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81100" y="2895600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4E5B69"/>
                </a:solidFill>
                <a:latin typeface="Aptos"/>
              </a:rPr>
              <a:t>REQUEST ĐỒNG THỜI</a:t>
            </a:r>
            <a:endParaRPr lang="en-US" sz="1900" b="1">
              <a:solidFill>
                <a:srgbClr val="4E5B6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1100" y="3454400"/>
            <a:ext cx="3200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Request A và Request B cùng gửi yêu cầu đặt một slot của bác sĩ.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26000" y="3556000"/>
            <a:ext cx="698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 smtClean="0">
                <a:solidFill>
                  <a:srgbClr val="2B5B91"/>
                </a:solidFill>
                <a:latin typeface="Aptos"/>
              </a:rPr>
              <a:t>→</a:t>
            </a:r>
            <a:endParaRPr lang="en-US" sz="30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51500" y="2667000"/>
            <a:ext cx="4318000" cy="260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651500" y="2667000"/>
            <a:ext cx="127000" cy="26035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007100" y="2895600"/>
            <a:ext cx="370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B5B91"/>
                </a:solidFill>
                <a:latin typeface="Aptos"/>
              </a:rPr>
              <a:t>SPRING BOOT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07100" y="3454400"/>
            <a:ext cx="3708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Kiểm tra nghiệp vụ và lịch tồn tại. Toàn bộ thao tác chạy trong @Transactional.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160000" y="3556000"/>
            <a:ext cx="698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 smtClean="0">
                <a:solidFill>
                  <a:srgbClr val="2B5B91"/>
                </a:solidFill>
                <a:latin typeface="Aptos"/>
              </a:rPr>
              <a:t>→</a:t>
            </a:r>
            <a:endParaRPr lang="en-US" sz="30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85500" y="2667000"/>
            <a:ext cx="4445000" cy="260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985500" y="2667000"/>
            <a:ext cx="127000" cy="2603500"/>
          </a:xfrm>
          <a:prstGeom prst="rect">
            <a:avLst/>
          </a:prstGeom>
          <a:solidFill>
            <a:srgbClr val="6E4F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1341100" y="28956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6E4FAA"/>
                </a:solidFill>
                <a:latin typeface="Aptos"/>
              </a:rPr>
              <a:t>MYSQL – LỚP BẢO VỆ CUỐI</a:t>
            </a:r>
            <a:endParaRPr lang="en-US" sz="1900" b="1">
              <a:solidFill>
                <a:srgbClr val="6E4FAA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41100" y="3454400"/>
            <a:ext cx="3835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UNIQUE (therapist_id, start_at)</a:t>
            </a:r>
          </a:p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UNIQUE (patient_id, start_at)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000" y="6350000"/>
            <a:ext cx="4191000" cy="533400"/>
          </a:xfrm>
          <a:prstGeom prst="roundRect">
            <a:avLst/>
          </a:prstGeom>
          <a:solidFill>
            <a:srgbClr val="228B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500" b="1" smtClean="0">
                <a:solidFill>
                  <a:srgbClr val="FFFFFF"/>
                </a:solidFill>
                <a:latin typeface="Aptos"/>
              </a:rPr>
              <a:t>200 OK – Lịch được tạo</a:t>
            </a:r>
            <a:endParaRPr lang="en-US"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890000" y="6350000"/>
            <a:ext cx="4826000" cy="533400"/>
          </a:xfrm>
          <a:prstGeom prst="roundRect">
            <a:avLst/>
          </a:prstGeom>
          <a:solidFill>
            <a:srgbClr val="CD474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smtClean="0">
                <a:solidFill>
                  <a:srgbClr val="FFFFFF"/>
                </a:solidFill>
                <a:latin typeface="Aptos"/>
              </a:rPr>
              <a:t>409 Conflict – Từ chối lịch trùng</a:t>
            </a:r>
            <a:endParaRPr lang="en-US" sz="15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2B5B91"/>
                </a:solidFill>
                <a:latin typeface="Aptos"/>
              </a:rPr>
              <a:t>KẾT QUẢ ĐÁNH GIÁ AI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smtClean="0">
                <a:solidFill>
                  <a:srgbClr val="4E5B69"/>
                </a:solidFill>
                <a:latin typeface="Aptos"/>
              </a:rPr>
              <a:t>Đánh giá ở mức chức năng phần mềm; chưa phải thử nghiệm lâm sàng.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89000" y="2349500"/>
            <a:ext cx="6604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89000" y="2349500"/>
            <a:ext cx="127000" cy="3810000"/>
          </a:xfrm>
          <a:prstGeom prst="rect">
            <a:avLst/>
          </a:prstGeom>
          <a:solidFill>
            <a:srgbClr val="228B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244600" y="2578100"/>
            <a:ext cx="599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28B5E"/>
                </a:solidFill>
                <a:latin typeface="Aptos"/>
              </a:rPr>
              <a:t>KẾT QUẢ ĐẠT</a:t>
            </a:r>
            <a:endParaRPr lang="en-US" sz="1900" b="1">
              <a:solidFill>
                <a:srgbClr val="228B5E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44600" y="3136900"/>
            <a:ext cx="5994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✓ API và JSON contract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✓ Qdrant RAG – 26 chunks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✓ Fallback khi Gemini/Qdrant lỗi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✓ Thought Record lưu AI metadata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55000" y="2349500"/>
            <a:ext cx="6604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255000" y="2349500"/>
            <a:ext cx="127000" cy="38100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610600" y="2578100"/>
            <a:ext cx="599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E2972D"/>
                </a:solidFill>
                <a:latin typeface="Aptos"/>
              </a:rPr>
              <a:t>KẾT QUẢ CẦN HIỆU CHỈNH</a:t>
            </a:r>
            <a:endParaRPr lang="en-US" sz="1900" b="1">
              <a:solidFill>
                <a:srgbClr val="E2972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10600" y="3136900"/>
            <a:ext cx="5994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△ Nhận diện distortion: đạt một phần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△ Corpus tri thức còn nhỏ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○ Chưa có tập nhãn chuyên gia đủ lớn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○ Chưa đánh giá lâm sàng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87500" y="6794500"/>
            <a:ext cx="1308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2000" b="1" smtClean="0">
                <a:solidFill>
                  <a:srgbClr val="152D4B"/>
                </a:solidFill>
                <a:latin typeface="Aptos"/>
              </a:rPr>
              <a:t>AI hỗ trợ nhận thức và điều hướng an toàn; không chẩn đoán hoặc thay thế quyết định của bác sĩ.</a:t>
            </a:r>
            <a:endParaRPr lang="en-US" sz="2000" b="1">
              <a:solidFill>
                <a:srgbClr val="152D4B"/>
              </a:solidFill>
              <a:latin typeface="Aptos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1607800" y="7493000"/>
            <a:ext cx="3708400" cy="1041400"/>
          </a:xfrm>
          <a:prstGeom prst="roundRect">
            <a:avLst/>
          </a:prstGeom>
          <a:solidFill>
            <a:srgbClr val="F1F8FD"/>
          </a:solidFill>
          <a:ln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861800" y="7645400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0E3068"/>
                </a:solidFill>
                <a:latin typeface="Aptos"/>
              </a:rPr>
              <a:t>Minh chứng đánh giá</a:t>
            </a:r>
            <a:endParaRPr lang="en-US" sz="12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11861800" y="7975600"/>
            <a:ext cx="3175000" cy="533400"/>
          </a:xfrm>
          <a:prstGeom prst="roundRect">
            <a:avLst/>
          </a:prstGeom>
          <a:solidFill>
            <a:srgbClr val="1C4E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smtClean="0">
                <a:solidFill>
                  <a:srgbClr val="FFFFFF"/>
                </a:solidFill>
                <a:latin typeface="Aptos"/>
              </a:rPr>
              <a:t>↗  MỞ BÁO CÁO ĐÁNH GIÁ AI</a:t>
            </a:r>
            <a:endParaRPr lang="en-US" sz="13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100" b="1" smtClean="0">
                <a:solidFill>
                  <a:srgbClr val="2B5B91"/>
                </a:solidFill>
                <a:latin typeface="Aptos"/>
              </a:rPr>
              <a:t>KẾT LUẬN VÀ HƯỚNG PHÁT TRIỂN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9000" y="2159000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89000" y="2159000"/>
            <a:ext cx="127000" cy="4953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244600" y="2387600"/>
            <a:ext cx="624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B5B91"/>
                </a:solidFill>
                <a:latin typeface="Aptos"/>
              </a:rPr>
              <a:t>KẾT LUẬN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44600" y="2946400"/>
            <a:ext cx="6248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Hoàn thiện hệ thống đa vai trò App – CMS – Backend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Số hóa các luồng CBT cốt lõi cho lo âu xã hội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Tích hợp vector RAG và cơ chế fallback an toàn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Bảo vệ toàn vẹn lịch hẹn bằng transaction và constraint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382000" y="2159000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382000" y="2159000"/>
            <a:ext cx="127000" cy="4953000"/>
          </a:xfrm>
          <a:prstGeom prst="rect">
            <a:avLst/>
          </a:prstGeom>
          <a:solidFill>
            <a:srgbClr val="32858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737600" y="2387600"/>
            <a:ext cx="624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900" b="1" smtClean="0">
                <a:solidFill>
                  <a:srgbClr val="32858C"/>
                </a:solidFill>
                <a:latin typeface="Aptos"/>
              </a:rPr>
              <a:t>HƯỚNG PHÁT TRIỂN</a:t>
            </a:r>
            <a:endParaRPr lang="en-US" sz="1900" b="1">
              <a:solidFill>
                <a:srgbClr val="32858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37600" y="2946400"/>
            <a:ext cx="6248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Mở rộng và thẩm định corpus tri thức với chuyên gia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Đánh giá AI trên tập dữ liệu được gán nhãn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Bổ sung video call và thông báo thời gian thực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Tăng cường audit, bảo mật khóa và triển khai production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31947" y="-383853"/>
            <a:ext cx="11054707" cy="1105470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2541448" y="0"/>
            <a:ext cx="4056204" cy="4123136"/>
            <a:chOff x="0" y="0"/>
            <a:chExt cx="799606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99606" cy="812800"/>
            </a:xfrm>
            <a:custGeom>
              <a:avLst/>
              <a:gdLst/>
              <a:ahLst/>
              <a:cxnLst/>
              <a:rect l="l" t="t" r="r" b="b"/>
              <a:pathLst>
                <a:path w="799606" h="812800">
                  <a:moveTo>
                    <a:pt x="399803" y="0"/>
                  </a:moveTo>
                  <a:cubicBezTo>
                    <a:pt x="178998" y="0"/>
                    <a:pt x="0" y="181951"/>
                    <a:pt x="0" y="406400"/>
                  </a:cubicBezTo>
                  <a:cubicBezTo>
                    <a:pt x="0" y="630849"/>
                    <a:pt x="178998" y="812800"/>
                    <a:pt x="399803" y="812800"/>
                  </a:cubicBezTo>
                  <a:cubicBezTo>
                    <a:pt x="620608" y="812800"/>
                    <a:pt x="799606" y="630849"/>
                    <a:pt x="799606" y="406400"/>
                  </a:cubicBezTo>
                  <a:cubicBezTo>
                    <a:pt x="799606" y="181951"/>
                    <a:pt x="620608" y="0"/>
                    <a:pt x="399803" y="0"/>
                  </a:cubicBezTo>
                  <a:close/>
                </a:path>
              </a:pathLst>
            </a:custGeom>
            <a:ln w="628650" cap="sq">
              <a:solidFill>
                <a:srgbClr val="3E8CB7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963" y="38100"/>
              <a:ext cx="64968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10788" y="9421802"/>
            <a:ext cx="2498104" cy="249810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8CB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245890" y="2061568"/>
            <a:ext cx="486056" cy="448083"/>
          </a:xfrm>
          <a:custGeom>
            <a:avLst/>
            <a:gdLst/>
            <a:ahLst/>
            <a:cxnLst/>
            <a:rect l="l" t="t" r="r" b="b"/>
            <a:pathLst>
              <a:path w="486056" h="448083">
                <a:moveTo>
                  <a:pt x="0" y="0"/>
                </a:moveTo>
                <a:lnTo>
                  <a:pt x="486057" y="0"/>
                </a:lnTo>
                <a:lnTo>
                  <a:pt x="486057" y="448083"/>
                </a:lnTo>
                <a:lnTo>
                  <a:pt x="0" y="448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31484" t="-39236" r="-39297" b="-46019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9799" y="7186245"/>
            <a:ext cx="486056" cy="448083"/>
          </a:xfrm>
          <a:custGeom>
            <a:avLst/>
            <a:gdLst/>
            <a:ahLst/>
            <a:cxnLst/>
            <a:rect l="l" t="t" r="r" b="b"/>
            <a:pathLst>
              <a:path w="486056" h="448083">
                <a:moveTo>
                  <a:pt x="0" y="0"/>
                </a:moveTo>
                <a:lnTo>
                  <a:pt x="486056" y="0"/>
                </a:lnTo>
                <a:lnTo>
                  <a:pt x="486056" y="448083"/>
                </a:lnTo>
                <a:lnTo>
                  <a:pt x="0" y="448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31484" t="-39236" r="-39297" b="-4601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3097926"/>
            <a:ext cx="10125514" cy="4138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236"/>
              </a:lnSpc>
            </a:pPr>
            <a:r>
              <a:rPr lang="en-US" sz="13997" b="1">
                <a:solidFill>
                  <a:srgbClr val="2A4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CẢM ƠN</a:t>
            </a:r>
          </a:p>
          <a:p>
            <a:pPr marL="0" lvl="0" indent="0" algn="ctr">
              <a:lnSpc>
                <a:spcPts val="16236"/>
              </a:lnSpc>
            </a:pPr>
            <a:r>
              <a:rPr lang="en-US" sz="13997" b="1">
                <a:solidFill>
                  <a:srgbClr val="2A4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QUÝ VỊ!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802049"/>
            <a:ext cx="6285149" cy="456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4"/>
              </a:lnSpc>
            </a:pPr>
            <a:r>
              <a:rPr lang="en-US" sz="2660">
                <a:solidFill>
                  <a:srgbClr val="2A426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Nhóm Nghiên Cứu &amp; Phát Triển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00164" y="8753067"/>
            <a:ext cx="4463565" cy="456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4"/>
              </a:lnSpc>
            </a:pPr>
            <a:r>
              <a:rPr lang="en-US" sz="2660" b="1">
                <a:solidFill>
                  <a:srgbClr val="2A426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Lo Âu Xã Hội AI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500164" y="-1550961"/>
            <a:ext cx="2498104" cy="249810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8CB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rot="2599173">
            <a:off x="2531375" y="1367104"/>
            <a:ext cx="609542" cy="561922"/>
          </a:xfrm>
          <a:custGeom>
            <a:avLst/>
            <a:gdLst/>
            <a:ahLst/>
            <a:cxnLst/>
            <a:rect l="l" t="t" r="r" b="b"/>
            <a:pathLst>
              <a:path w="609542" h="561922">
                <a:moveTo>
                  <a:pt x="0" y="0"/>
                </a:moveTo>
                <a:lnTo>
                  <a:pt x="609542" y="0"/>
                </a:lnTo>
                <a:lnTo>
                  <a:pt x="609542" y="561922"/>
                </a:lnTo>
                <a:lnTo>
                  <a:pt x="0" y="5619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31484" t="-39236" r="-39297" b="-4601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1532</Words>
  <Application>Microsoft Office PowerPoint</Application>
  <PresentationFormat>Custom</PresentationFormat>
  <Paragraphs>157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32" baseType="lpstr">
      <vt:lpstr>League Spartan</vt:lpstr>
      <vt:lpstr>Glacial Indifference Bold</vt:lpstr>
      <vt:lpstr>Agrandir Bold</vt:lpstr>
      <vt:lpstr>TT Hoves Bold</vt:lpstr>
      <vt:lpstr>Glacial Indifference</vt:lpstr>
      <vt:lpstr>Arial</vt:lpstr>
      <vt:lpstr>Nunito</vt:lpstr>
      <vt:lpstr>Aptos</vt:lpstr>
      <vt:lpstr>Open Sauce Bold</vt:lpstr>
      <vt:lpstr>Poppins Bold</vt:lpstr>
      <vt:lpstr>TT Hoves</vt:lpstr>
      <vt:lpstr>Calibri</vt:lpstr>
      <vt:lpstr>Nunito Bold</vt:lpstr>
      <vt:lpstr>Inter</vt:lpstr>
      <vt:lpstr>Poppins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Sinh viên: Nguyễn Khắc Nam Phương (2251172459) | Lớp: 64KTPM5 - Ngành: Kỹ thuật phần mềm</dc:title>
  <cp:lastModifiedBy>T14</cp:lastModifiedBy>
  <cp:revision>6</cp:revision>
  <dcterms:created xsi:type="dcterms:W3CDTF">2006-08-16T00:00:00Z</dcterms:created>
  <dcterms:modified xsi:type="dcterms:W3CDTF">2026-07-05T15:35:02Z</dcterms:modified>
  <dc:identifier>DAHOWN8GcjQ</dc:identifier>
</cp:coreProperties>
</file>