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81" r:id="rId11"/>
    <p:sldId id="277" r:id="rId12"/>
    <p:sldId id="278" r:id="rId13"/>
    <p:sldId id="265" r:id="rId14"/>
    <p:sldId id="275" r:id="rId15"/>
    <p:sldId id="267" r:id="rId16"/>
    <p:sldId id="280" r:id="rId17"/>
    <p:sldId id="268" r:id="rId18"/>
    <p:sldId id="271" r:id="rId19"/>
    <p:sldId id="279" r:id="rId20"/>
    <p:sldId id="273" r:id="rId21"/>
    <p:sldId id="274" r:id="rId22"/>
  </p:sldIdLst>
  <p:sldSz cx="18288000" cy="10287000"/>
  <p:notesSz cx="6858000" cy="9144000"/>
  <p:embeddedFontLst>
    <p:embeddedFont>
      <p:font typeface="Open Sauce Bold" panose="020B0604020202020204" charset="0"/>
      <p:regular r:id="rId24"/>
    </p:embeddedFont>
    <p:embeddedFont>
      <p:font typeface="Nunito" panose="020B0604020202020204" charset="0"/>
      <p:regular r:id="rId25"/>
    </p:embeddedFont>
    <p:embeddedFont>
      <p:font typeface="Poppins" panose="020B0604020202020204" charset="0"/>
      <p:regular r:id="rId26"/>
    </p:embeddedFont>
    <p:embeddedFont>
      <p:font typeface="TT Hoves" panose="020B0604020202020204" charset="0"/>
      <p:regular r:id="rId27"/>
    </p:embeddedFont>
    <p:embeddedFont>
      <p:font typeface="Open Sauce" panose="020B0604020202020204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Glacial Indifference" panose="020B0604020202020204" charset="0"/>
      <p:regular r:id="rId33"/>
    </p:embeddedFont>
    <p:embeddedFont>
      <p:font typeface="Agrandir Bold" panose="020B0604020202020204" charset="0"/>
      <p:regular r:id="rId34"/>
    </p:embeddedFont>
    <p:embeddedFont>
      <p:font typeface="Poppins Bold" panose="020B0604020202020204" charset="0"/>
      <p:regular r:id="rId35"/>
    </p:embeddedFont>
    <p:embeddedFont>
      <p:font typeface="Glacial Indifference Bold" panose="020B0604020202020204" charset="0"/>
      <p:regular r:id="rId36"/>
    </p:embeddedFont>
    <p:embeddedFont>
      <p:font typeface="TT Hoves Bold" panose="020B0604020202020204" charset="0"/>
      <p:regular r:id="rId37"/>
    </p:embeddedFont>
    <p:embeddedFont>
      <p:font typeface="Nunito Bold" panose="020B0604020202020204" charset="0"/>
      <p:regular r:id="rId38"/>
    </p:embeddedFont>
    <p:embeddedFont>
      <p:font typeface="League Spartan" panose="020B0604020202020204" charset="0"/>
      <p:regular r:id="rId39"/>
    </p:embeddedFont>
    <p:embeddedFont>
      <p:font typeface="Inter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7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2A9BE-556F-4A79-ABD3-D9392CA1E67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88385-F1A7-4FF9-BBA1-0E5C13173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8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88385-F1A7-4FF9-BBA1-0E5C13173D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25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88385-F1A7-4FF9-BBA1-0E5C13173DB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09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88385-F1A7-4FF9-BBA1-0E5C13173DB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46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5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huongtech24/do_an/blob/develop/docs/submission/05_co_so_khoa_hoc_va_anh_xa_nghiep_vu.md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phuongtech24/do_an/blob/develop/docs/submission/05_co_so_khoa_hoc_va_anh_xa_nghiep_vu.md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huongtech24/do_an/blob/develop/docs/submission/04_bao_cao_danh_gia_thu_nghiem_ai.md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1F8F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6256000" cy="9652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235200" y="535802"/>
            <a:ext cx="660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THỦY LỢI</a:t>
            </a:r>
            <a:endParaRPr lang="en-US" sz="1600" b="1" dirty="0">
              <a:solidFill>
                <a:srgbClr val="0E30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247900" y="951012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  <a:endParaRPr lang="en-US" sz="1000" dirty="0">
              <a:solidFill>
                <a:srgbClr val="4958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033000" y="965200"/>
            <a:ext cx="6223000" cy="7239000"/>
          </a:xfrm>
          <a:prstGeom prst="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3081000" y="965200"/>
            <a:ext cx="3175000" cy="7239000"/>
          </a:xfrm>
          <a:prstGeom prst="rect">
            <a:avLst/>
          </a:prstGeom>
          <a:solidFill>
            <a:srgbClr val="0E3068">
              <a:alpha val="92000"/>
            </a:srgbClr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795000" y="2032000"/>
            <a:ext cx="3111500" cy="311150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 cap="flat" cmpd="sng" algn="ctr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2446000" y="41910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 cap="flat" cmpd="sng" algn="ctr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87400" y="1524000"/>
            <a:ext cx="9906000" cy="546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219200" y="1905000"/>
            <a:ext cx="2667000" cy="457200"/>
          </a:xfrm>
          <a:prstGeom prst="roundRect">
            <a:avLst/>
          </a:prstGeom>
          <a:solidFill>
            <a:srgbClr val="0E306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 ÁN TỐT NGHIỆP</a:t>
            </a:r>
            <a:endParaRPr lang="en-US" sz="13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219200" y="2730500"/>
            <a:ext cx="787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smtClean="0">
                <a:solidFill>
                  <a:srgbClr val="1C4E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 TÀI</a:t>
            </a:r>
            <a:endParaRPr lang="en-US" sz="1500" b="1">
              <a:solidFill>
                <a:srgbClr val="1C4E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219200" y="3200400"/>
            <a:ext cx="825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RECONNECT MINDHEALTH</a:t>
            </a:r>
            <a:endParaRPr lang="en-US" sz="3100" b="1" dirty="0">
              <a:solidFill>
                <a:srgbClr val="0E30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219200" y="4000500"/>
            <a:ext cx="8255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rối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loạn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âu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tuệ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30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endParaRPr lang="en-US" sz="3000" b="1" dirty="0">
              <a:solidFill>
                <a:srgbClr val="0E30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19200" y="5334000"/>
            <a:ext cx="825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CBT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RAG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lâm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r>
              <a:rPr lang="en-US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en-US" sz="2000" dirty="0" err="1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endParaRPr lang="en-US" sz="2000" dirty="0">
              <a:solidFill>
                <a:srgbClr val="4958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87400" y="7302500"/>
            <a:ext cx="9906000" cy="1092200"/>
          </a:xfrm>
          <a:prstGeom prst="roundRect">
            <a:avLst/>
          </a:prstGeom>
          <a:solidFill>
            <a:srgbClr val="FFFFFF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66800" y="7531100"/>
            <a:ext cx="927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Sinh viên: Nguyễn Khắc Nam Phương  •  MSSV: 2251172459  •  Lớp: 64KTPM5</a:t>
            </a:r>
            <a:endParaRPr lang="en-US" b="1" dirty="0">
              <a:solidFill>
                <a:srgbClr val="0E30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6800" y="7924800"/>
            <a:ext cx="927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4958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Giảng viên hướng dẫn: Lê Thị Tú Kiên</a:t>
            </a:r>
            <a:endParaRPr lang="en-US" sz="2000" dirty="0">
              <a:solidFill>
                <a:srgbClr val="4958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0E306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87400" y="8775700"/>
            <a:ext cx="381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 NỘI, 2026</a:t>
            </a:r>
            <a:endParaRPr lang="en-US" sz="12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105970"/>
            <a:ext cx="1292225" cy="1309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E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899493"/>
            <a:ext cx="3749039" cy="113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
TRÌNH BÀY</a:t>
            </a:r>
          </a:p>
        </p:txBody>
      </p:sp>
      <p:sp>
        <p:nvSpPr>
          <p:cNvPr id="3" name="Chevron 2"/>
          <p:cNvSpPr/>
          <p:nvPr/>
        </p:nvSpPr>
        <p:spPr>
          <a:xfrm>
            <a:off x="6705600" y="2232660"/>
            <a:ext cx="5212080" cy="658368"/>
          </a:xfrm>
          <a:prstGeom prst="chevron">
            <a:avLst/>
          </a:prstGeom>
          <a:solidFill>
            <a:srgbClr val="29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42760" y="2343501"/>
            <a:ext cx="4617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Bối cảnh và mục tiêu</a:t>
            </a:r>
          </a:p>
        </p:txBody>
      </p:sp>
      <p:sp>
        <p:nvSpPr>
          <p:cNvPr id="5" name="Chevron 4"/>
          <p:cNvSpPr/>
          <p:nvPr/>
        </p:nvSpPr>
        <p:spPr>
          <a:xfrm>
            <a:off x="6705600" y="3055620"/>
            <a:ext cx="5212080" cy="658368"/>
          </a:xfrm>
          <a:prstGeom prst="chevron">
            <a:avLst/>
          </a:prstGeom>
          <a:solidFill>
            <a:srgbClr val="27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42760" y="3166461"/>
            <a:ext cx="4617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 </a:t>
            </a:r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sz="2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endParaRPr sz="2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6705600" y="3878580"/>
            <a:ext cx="5212080" cy="658368"/>
          </a:xfrm>
          <a:prstGeom prst="chevron">
            <a:avLst/>
          </a:prstGeom>
          <a:solidFill>
            <a:srgbClr val="3EA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42760" y="3989420"/>
            <a:ext cx="4617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 Thiết kế hệ thống</a:t>
            </a:r>
          </a:p>
        </p:txBody>
      </p:sp>
      <p:sp>
        <p:nvSpPr>
          <p:cNvPr id="9" name="Chevron 8"/>
          <p:cNvSpPr/>
          <p:nvPr/>
        </p:nvSpPr>
        <p:spPr>
          <a:xfrm>
            <a:off x="6705600" y="4701539"/>
            <a:ext cx="5212080" cy="658368"/>
          </a:xfrm>
          <a:prstGeom prst="chevron">
            <a:avLst/>
          </a:prstGeom>
          <a:solidFill>
            <a:srgbClr val="4C7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42760" y="4812380"/>
            <a:ext cx="4617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 Kết quả và Demo</a:t>
            </a:r>
          </a:p>
        </p:txBody>
      </p:sp>
      <p:sp>
        <p:nvSpPr>
          <p:cNvPr id="11" name="Chevron 10"/>
          <p:cNvSpPr/>
          <p:nvPr/>
        </p:nvSpPr>
        <p:spPr>
          <a:xfrm>
            <a:off x="6705600" y="5524500"/>
            <a:ext cx="5212080" cy="658368"/>
          </a:xfrm>
          <a:prstGeom prst="chevron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42760" y="5635340"/>
            <a:ext cx="4617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 Kết luận và hướng phát triển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0" y="784763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5740" y="2195108"/>
            <a:ext cx="3810961" cy="115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593"/>
              </a:lnSpc>
              <a:spcBef>
                <a:spcPct val="0"/>
              </a:spcBef>
            </a:pPr>
            <a:r>
              <a:rPr lang="en-US" sz="7994" b="1" u="none" strike="noStrike" dirty="0" err="1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Lý</a:t>
            </a:r>
            <a:r>
              <a:rPr lang="en-US" sz="7994" b="1" u="none" strike="noStrike" dirty="0"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 Do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57219" y="4385045"/>
            <a:ext cx="371475" cy="37147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57219" y="5900201"/>
            <a:ext cx="371475" cy="3714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7219" y="7415358"/>
            <a:ext cx="371475" cy="37147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C75B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90481" y="4346945"/>
            <a:ext cx="5004474" cy="37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2"/>
              </a:lnSpc>
              <a:spcBef>
                <a:spcPct val="0"/>
              </a:spcBef>
            </a:pPr>
            <a:r>
              <a:rPr lang="en-US" sz="2301" b="1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Rào</a:t>
            </a:r>
            <a:r>
              <a:rPr lang="en-US" sz="2301" b="1" dirty="0" smtClean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cản</a:t>
            </a:r>
            <a:r>
              <a:rPr lang="en-US" sz="2301" b="1" dirty="0" smtClean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tiếp</a:t>
            </a:r>
            <a:r>
              <a:rPr lang="en-US" sz="2301" b="1" dirty="0" smtClean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cận</a:t>
            </a:r>
            <a:endParaRPr lang="en-US" sz="2301" b="1" dirty="0">
              <a:solidFill>
                <a:srgbClr val="000000"/>
              </a:solidFill>
              <a:latin typeface="Arial" panose="020B0604020202020204" pitchFamily="34" charset="0"/>
              <a:ea typeface="Nunito Bold"/>
              <a:cs typeface="Arial" panose="020B0604020202020204" pitchFamily="34" charset="0"/>
              <a:sym typeface="Nuni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90481" y="5862101"/>
            <a:ext cx="5417103" cy="37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222"/>
              </a:lnSpc>
              <a:spcBef>
                <a:spcPct val="0"/>
              </a:spcBef>
            </a:pP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Khoảng</a:t>
            </a:r>
            <a:r>
              <a:rPr lang="en-US" sz="2301" b="1" dirty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trống</a:t>
            </a:r>
            <a:r>
              <a:rPr lang="en-US" sz="2301" b="1" dirty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ngoài</a:t>
            </a:r>
            <a:r>
              <a:rPr lang="en-US" sz="2301" b="1" dirty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phiên</a:t>
            </a:r>
            <a:r>
              <a:rPr lang="en-US" sz="2301" b="1" dirty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trị</a:t>
            </a:r>
            <a:r>
              <a:rPr lang="en-US" sz="2301" b="1" dirty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liệu</a:t>
            </a:r>
            <a:endParaRPr lang="en-US" sz="2301" b="1" u="none" strike="noStrike" dirty="0">
              <a:solidFill>
                <a:srgbClr val="000000"/>
              </a:solidFill>
              <a:latin typeface="Arial" panose="020B0604020202020204" pitchFamily="34" charset="0"/>
              <a:ea typeface="Nunito Bold"/>
              <a:cs typeface="Arial" panose="020B0604020202020204" pitchFamily="34" charset="0"/>
              <a:sym typeface="Nunit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90481" y="7377258"/>
            <a:ext cx="643594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222"/>
              </a:lnSpc>
              <a:spcBef>
                <a:spcPct val="0"/>
              </a:spcBef>
            </a:pP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Dữ</a:t>
            </a:r>
            <a:r>
              <a:rPr lang="en-US" sz="2301" b="1" dirty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liệu</a:t>
            </a:r>
            <a:r>
              <a:rPr lang="en-US" sz="2301" b="1" dirty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rời</a:t>
            </a:r>
            <a:r>
              <a:rPr lang="en-US" sz="2301" b="1" dirty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 </a:t>
            </a:r>
            <a:r>
              <a:rPr lang="en-US" sz="2301" b="1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 Bold"/>
                <a:cs typeface="Arial" panose="020B0604020202020204" pitchFamily="34" charset="0"/>
                <a:sym typeface="Nunito Bold"/>
              </a:rPr>
              <a:t>rạc</a:t>
            </a:r>
            <a:endParaRPr lang="en-US" sz="2301" b="1" dirty="0">
              <a:solidFill>
                <a:srgbClr val="000000"/>
              </a:solidFill>
              <a:latin typeface="Arial" panose="020B0604020202020204" pitchFamily="34" charset="0"/>
              <a:ea typeface="Nunito Bold"/>
              <a:cs typeface="Arial" panose="020B0604020202020204" pitchFamily="34" charset="0"/>
              <a:sym typeface="Nunit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90481" y="4925715"/>
            <a:ext cx="6224474" cy="63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78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Lo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âu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xã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hội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gây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né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tránh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tự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cô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lập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và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làm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suy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giảm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khả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năng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học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tập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làm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việc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và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kết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nối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xã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hội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890481" y="6440871"/>
            <a:ext cx="6435943" cy="641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578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Khó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theo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dõi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hành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vi an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toàn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, né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tránh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bài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tập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hằng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ngày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..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90481" y="7956028"/>
            <a:ext cx="6224474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2578"/>
              </a:lnSpc>
              <a:spcBef>
                <a:spcPct val="0"/>
              </a:spcBef>
            </a:pP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</a:t>
            </a:r>
            <a:r>
              <a:rPr lang="vi-VN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hiếu </a:t>
            </a:r>
            <a:r>
              <a:rPr lang="vi-VN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chuỗi dữ liệu LSAS, check-in,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Nhật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ký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suy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nghĩ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vi-VN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Thought </a:t>
            </a:r>
            <a:r>
              <a:rPr lang="vi-VN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Record và thực hành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thử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nghiệm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hành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 vi </a:t>
            </a:r>
            <a:r>
              <a:rPr lang="vi-VN" sz="2000" dirty="0" smtClean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để </a:t>
            </a:r>
            <a:r>
              <a:rPr lang="vi-VN" sz="2000" dirty="0">
                <a:solidFill>
                  <a:srgbClr val="000000"/>
                </a:solidFill>
                <a:latin typeface="Arial" panose="020B0604020202020204" pitchFamily="34" charset="0"/>
                <a:ea typeface="Nunito"/>
                <a:cs typeface="Arial" panose="020B0604020202020204" pitchFamily="34" charset="0"/>
                <a:sym typeface="Nunito"/>
              </a:rPr>
              <a:t>bác sĩ xem trước phiên.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Nunito"/>
              <a:cs typeface="Arial" panose="020B0604020202020204" pitchFamily="34" charset="0"/>
              <a:sym typeface="Nunito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0361382" y="4499345"/>
            <a:ext cx="8716741" cy="3998020"/>
            <a:chOff x="0" y="0"/>
            <a:chExt cx="2295767" cy="10529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95767" cy="1052977"/>
            </a:xfrm>
            <a:custGeom>
              <a:avLst/>
              <a:gdLst/>
              <a:ahLst/>
              <a:cxnLst/>
              <a:rect l="l" t="t" r="r" b="b"/>
              <a:pathLst>
                <a:path w="2295767" h="1052977">
                  <a:moveTo>
                    <a:pt x="28421" y="0"/>
                  </a:moveTo>
                  <a:lnTo>
                    <a:pt x="2267346" y="0"/>
                  </a:lnTo>
                  <a:cubicBezTo>
                    <a:pt x="2274884" y="0"/>
                    <a:pt x="2282113" y="2994"/>
                    <a:pt x="2287443" y="8324"/>
                  </a:cubicBezTo>
                  <a:cubicBezTo>
                    <a:pt x="2292773" y="13654"/>
                    <a:pt x="2295767" y="20884"/>
                    <a:pt x="2295767" y="28421"/>
                  </a:cubicBezTo>
                  <a:lnTo>
                    <a:pt x="2295767" y="1024555"/>
                  </a:lnTo>
                  <a:cubicBezTo>
                    <a:pt x="2295767" y="1040252"/>
                    <a:pt x="2283043" y="1052977"/>
                    <a:pt x="2267346" y="1052977"/>
                  </a:cubicBezTo>
                  <a:lnTo>
                    <a:pt x="28421" y="1052977"/>
                  </a:lnTo>
                  <a:cubicBezTo>
                    <a:pt x="20884" y="1052977"/>
                    <a:pt x="13654" y="1049982"/>
                    <a:pt x="8324" y="1044652"/>
                  </a:cubicBezTo>
                  <a:cubicBezTo>
                    <a:pt x="2994" y="1039322"/>
                    <a:pt x="0" y="1032093"/>
                    <a:pt x="0" y="1024555"/>
                  </a:cubicBezTo>
                  <a:lnTo>
                    <a:pt x="0" y="28421"/>
                  </a:lnTo>
                  <a:cubicBezTo>
                    <a:pt x="0" y="12725"/>
                    <a:pt x="12725" y="0"/>
                    <a:pt x="28421" y="0"/>
                  </a:cubicBezTo>
                  <a:close/>
                </a:path>
              </a:pathLst>
            </a:custGeom>
            <a:solidFill>
              <a:srgbClr val="E8E8F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95767" cy="1091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91144" y="4091290"/>
            <a:ext cx="5268156" cy="5167010"/>
            <a:chOff x="0" y="0"/>
            <a:chExt cx="764096" cy="7494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64096" cy="749425"/>
            </a:xfrm>
            <a:custGeom>
              <a:avLst/>
              <a:gdLst/>
              <a:ahLst/>
              <a:cxnLst/>
              <a:rect l="l" t="t" r="r" b="b"/>
              <a:pathLst>
                <a:path w="764096" h="749425">
                  <a:moveTo>
                    <a:pt x="33800" y="0"/>
                  </a:moveTo>
                  <a:lnTo>
                    <a:pt x="730296" y="0"/>
                  </a:lnTo>
                  <a:cubicBezTo>
                    <a:pt x="748963" y="0"/>
                    <a:pt x="764096" y="15133"/>
                    <a:pt x="764096" y="33800"/>
                  </a:cubicBezTo>
                  <a:lnTo>
                    <a:pt x="764096" y="715625"/>
                  </a:lnTo>
                  <a:cubicBezTo>
                    <a:pt x="764096" y="734293"/>
                    <a:pt x="748963" y="749425"/>
                    <a:pt x="730296" y="749425"/>
                  </a:cubicBezTo>
                  <a:lnTo>
                    <a:pt x="33800" y="749425"/>
                  </a:lnTo>
                  <a:cubicBezTo>
                    <a:pt x="15133" y="749425"/>
                    <a:pt x="0" y="734293"/>
                    <a:pt x="0" y="715625"/>
                  </a:cubicBezTo>
                  <a:lnTo>
                    <a:pt x="0" y="33800"/>
                  </a:lnTo>
                  <a:cubicBezTo>
                    <a:pt x="0" y="15133"/>
                    <a:pt x="15133" y="0"/>
                    <a:pt x="33800" y="0"/>
                  </a:cubicBezTo>
                  <a:close/>
                </a:path>
              </a:pathLst>
            </a:custGeom>
            <a:blipFill>
              <a:blip r:embed="rId2"/>
              <a:stretch>
                <a:fillRect l="-40" r="-40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4641272" y="2232395"/>
            <a:ext cx="6947368" cy="115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3"/>
              </a:lnSpc>
              <a:spcBef>
                <a:spcPct val="0"/>
              </a:spcBef>
            </a:pPr>
            <a:r>
              <a:rPr lang="en-US" sz="7994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Chọn</a:t>
            </a:r>
            <a:r>
              <a:rPr lang="en-US" sz="7994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7994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Đề</a:t>
            </a:r>
            <a:r>
              <a:rPr lang="en-US" sz="7994" b="1" dirty="0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 </a:t>
            </a:r>
            <a:r>
              <a:rPr lang="en-US" sz="7994" b="1" dirty="0" err="1">
                <a:solidFill>
                  <a:srgbClr val="000000"/>
                </a:solidFill>
                <a:latin typeface="Arial" panose="020B0604020202020204" pitchFamily="34" charset="0"/>
                <a:ea typeface="Poppins Bold"/>
                <a:cs typeface="Arial" panose="020B0604020202020204" pitchFamily="34" charset="0"/>
                <a:sym typeface="Poppins Bold"/>
              </a:rPr>
              <a:t>Tài</a:t>
            </a:r>
            <a:endParaRPr lang="en-US" sz="7994" b="1" dirty="0">
              <a:solidFill>
                <a:srgbClr val="000000"/>
              </a:solidFill>
              <a:latin typeface="Arial" panose="020B0604020202020204" pitchFamily="34" charset="0"/>
              <a:ea typeface="Poppins Bold"/>
              <a:cs typeface="Arial" panose="020B0604020202020204" pitchFamily="34" charset="0"/>
              <a:sym typeface="Poppins Bold"/>
            </a:endParaRPr>
          </a:p>
        </p:txBody>
      </p:sp>
      <p:sp>
        <p:nvSpPr>
          <p:cNvPr id="30" name="Freeform 30"/>
          <p:cNvSpPr/>
          <p:nvPr/>
        </p:nvSpPr>
        <p:spPr>
          <a:xfrm rot="-5400000">
            <a:off x="16917977" y="973938"/>
            <a:ext cx="263611" cy="419035"/>
          </a:xfrm>
          <a:custGeom>
            <a:avLst/>
            <a:gdLst/>
            <a:ahLst/>
            <a:cxnLst/>
            <a:rect l="l" t="t" r="r" b="b"/>
            <a:pathLst>
              <a:path w="263611" h="419035">
                <a:moveTo>
                  <a:pt x="0" y="0"/>
                </a:moveTo>
                <a:lnTo>
                  <a:pt x="263611" y="0"/>
                </a:lnTo>
                <a:lnTo>
                  <a:pt x="263611" y="419035"/>
                </a:lnTo>
                <a:lnTo>
                  <a:pt x="0" y="4190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458486" y="393525"/>
            <a:ext cx="6550147" cy="1013747"/>
          </a:xfrm>
          <a:prstGeom prst="round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53320" y="497774"/>
            <a:ext cx="776047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1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BỐI CẢNH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0279" y="2121870"/>
            <a:ext cx="6095650" cy="6095650"/>
          </a:xfrm>
          <a:custGeom>
            <a:avLst/>
            <a:gdLst/>
            <a:ahLst/>
            <a:cxnLst/>
            <a:rect l="l" t="t" r="r" b="b"/>
            <a:pathLst>
              <a:path w="6095650" h="6095650">
                <a:moveTo>
                  <a:pt x="0" y="0"/>
                </a:moveTo>
                <a:lnTo>
                  <a:pt x="6095650" y="0"/>
                </a:lnTo>
                <a:lnTo>
                  <a:pt x="6095650" y="6095650"/>
                </a:lnTo>
                <a:lnTo>
                  <a:pt x="0" y="60956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923" t="-30783" r="-30783" b="-31923"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393938" y="1900223"/>
            <a:ext cx="12529324" cy="143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311"/>
              </a:lnSpc>
              <a:spcBef>
                <a:spcPct val="0"/>
              </a:spcBef>
            </a:pPr>
            <a:r>
              <a:rPr lang="en-US" sz="8793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Mục</a:t>
            </a:r>
            <a:r>
              <a:rPr lang="en-US" sz="8793" b="1" u="none" strike="noStrike" dirty="0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 </a:t>
            </a:r>
            <a:r>
              <a:rPr lang="en-US" sz="8793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Tiêu</a:t>
            </a:r>
            <a:r>
              <a:rPr lang="en-US" sz="8793" b="1" u="none" strike="noStrike" dirty="0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 </a:t>
            </a:r>
            <a:r>
              <a:rPr lang="en-US" sz="8793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Nghiên</a:t>
            </a:r>
            <a:r>
              <a:rPr lang="en-US" sz="8793" b="1" u="none" strike="noStrike" dirty="0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 </a:t>
            </a:r>
            <a:r>
              <a:rPr lang="en-US" sz="8793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Cứu</a:t>
            </a:r>
            <a:endParaRPr lang="en-US" sz="8793" b="1" u="none" strike="noStrike" dirty="0">
              <a:solidFill>
                <a:srgbClr val="2B598F"/>
              </a:solidFill>
              <a:latin typeface="Arial" panose="020B0604020202020204" pitchFamily="34" charset="0"/>
              <a:ea typeface="Agrandir Bold"/>
              <a:cs typeface="Arial" panose="020B0604020202020204" pitchFamily="34" charset="0"/>
              <a:sym typeface="Agrandir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562179" y="8474217"/>
            <a:ext cx="697121" cy="784083"/>
          </a:xfrm>
          <a:custGeom>
            <a:avLst/>
            <a:gdLst/>
            <a:ahLst/>
            <a:cxnLst/>
            <a:rect l="l" t="t" r="r" b="b"/>
            <a:pathLst>
              <a:path w="697121" h="784083">
                <a:moveTo>
                  <a:pt x="0" y="0"/>
                </a:moveTo>
                <a:lnTo>
                  <a:pt x="697121" y="0"/>
                </a:lnTo>
                <a:lnTo>
                  <a:pt x="697121" y="784083"/>
                </a:lnTo>
                <a:lnTo>
                  <a:pt x="0" y="7840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785584" y="4165405"/>
            <a:ext cx="10863414" cy="2167257"/>
            <a:chOff x="0" y="0"/>
            <a:chExt cx="2866578" cy="5718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398349" y="4193481"/>
            <a:ext cx="9523548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630"/>
              </a:lnSpc>
              <a:spcBef>
                <a:spcPct val="0"/>
              </a:spcBef>
            </a:pPr>
            <a:r>
              <a:rPr lang="vi-VN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Số hóa một phần quy trình hỗ </a:t>
            </a:r>
            <a:r>
              <a:rPr lang="vi-VN" sz="2593" spc="12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trợ</a:t>
            </a:r>
            <a:r>
              <a:rPr lang="en-US" sz="2593" spc="12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trị</a:t>
            </a:r>
            <a:r>
              <a:rPr lang="en-US" sz="2593" spc="12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liệu</a:t>
            </a:r>
            <a:r>
              <a:rPr lang="en-US" sz="2593" spc="12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phương</a:t>
            </a:r>
            <a:r>
              <a:rPr lang="en-US" sz="2593" spc="12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pháp</a:t>
            </a:r>
            <a:r>
              <a:rPr lang="vi-VN" sz="2593" spc="12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vi-VN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CBT cho lo âu xã hội thành nền tảng tương tác, kết hợp AI hỗ trợ nhận thức và cơ chế an </a:t>
            </a:r>
            <a:r>
              <a:rPr lang="vi-VN" sz="2593" spc="12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toàn</a:t>
            </a:r>
            <a:r>
              <a:rPr lang="en-US" sz="2593" u="none" strike="noStrike" spc="12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,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tích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hợp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AI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đồng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hành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hỗ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trợ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nhận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thức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cho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người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dùng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trong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quá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trình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trị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u="none" strike="noStrike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liệu</a:t>
            </a:r>
            <a:r>
              <a:rPr lang="en-US" sz="2593" u="none" strike="noStrike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.</a:t>
            </a:r>
          </a:p>
        </p:txBody>
      </p:sp>
      <p:sp>
        <p:nvSpPr>
          <p:cNvPr id="11" name="Freeform 11"/>
          <p:cNvSpPr/>
          <p:nvPr/>
        </p:nvSpPr>
        <p:spPr>
          <a:xfrm>
            <a:off x="4998624" y="3615501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2"/>
          <p:cNvSpPr/>
          <p:nvPr/>
        </p:nvSpPr>
        <p:spPr>
          <a:xfrm rot="-9340067" flipV="1">
            <a:off x="670974" y="3948991"/>
            <a:ext cx="5637614" cy="4715095"/>
          </a:xfrm>
          <a:custGeom>
            <a:avLst/>
            <a:gdLst/>
            <a:ahLst/>
            <a:cxnLst/>
            <a:rect l="l" t="t" r="r" b="b"/>
            <a:pathLst>
              <a:path w="5637614" h="4715095">
                <a:moveTo>
                  <a:pt x="0" y="4715095"/>
                </a:moveTo>
                <a:lnTo>
                  <a:pt x="5637614" y="4715095"/>
                </a:lnTo>
                <a:lnTo>
                  <a:pt x="5637614" y="0"/>
                </a:lnTo>
                <a:lnTo>
                  <a:pt x="0" y="0"/>
                </a:lnTo>
                <a:lnTo>
                  <a:pt x="0" y="4715095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5755604" y="6861945"/>
            <a:ext cx="10863414" cy="2167257"/>
            <a:chOff x="0" y="0"/>
            <a:chExt cx="2866578" cy="57188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66578" cy="571884"/>
            </a:xfrm>
            <a:custGeom>
              <a:avLst/>
              <a:gdLst/>
              <a:ahLst/>
              <a:cxnLst/>
              <a:rect l="l" t="t" r="r" b="b"/>
              <a:pathLst>
                <a:path w="2866578" h="571884">
                  <a:moveTo>
                    <a:pt x="20667" y="0"/>
                  </a:moveTo>
                  <a:lnTo>
                    <a:pt x="2845911" y="0"/>
                  </a:lnTo>
                  <a:cubicBezTo>
                    <a:pt x="2857325" y="0"/>
                    <a:pt x="2866578" y="9253"/>
                    <a:pt x="2866578" y="20667"/>
                  </a:cubicBezTo>
                  <a:lnTo>
                    <a:pt x="2866578" y="551217"/>
                  </a:lnTo>
                  <a:cubicBezTo>
                    <a:pt x="2866578" y="556698"/>
                    <a:pt x="2864401" y="561955"/>
                    <a:pt x="2860525" y="565831"/>
                  </a:cubicBezTo>
                  <a:cubicBezTo>
                    <a:pt x="2856649" y="569706"/>
                    <a:pt x="2851392" y="571884"/>
                    <a:pt x="2845911" y="571884"/>
                  </a:cubicBezTo>
                  <a:lnTo>
                    <a:pt x="20667" y="571884"/>
                  </a:lnTo>
                  <a:cubicBezTo>
                    <a:pt x="15186" y="571884"/>
                    <a:pt x="9929" y="569706"/>
                    <a:pt x="6053" y="565831"/>
                  </a:cubicBezTo>
                  <a:cubicBezTo>
                    <a:pt x="2177" y="561955"/>
                    <a:pt x="0" y="556698"/>
                    <a:pt x="0" y="551217"/>
                  </a:cubicBezTo>
                  <a:lnTo>
                    <a:pt x="0" y="20667"/>
                  </a:lnTo>
                  <a:cubicBezTo>
                    <a:pt x="0" y="15186"/>
                    <a:pt x="2177" y="9929"/>
                    <a:pt x="6053" y="6053"/>
                  </a:cubicBezTo>
                  <a:cubicBezTo>
                    <a:pt x="9929" y="2177"/>
                    <a:pt x="15186" y="0"/>
                    <a:pt x="20667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66578" cy="609984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398349" y="7162033"/>
            <a:ext cx="9523548" cy="1369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630"/>
              </a:lnSpc>
              <a:spcBef>
                <a:spcPct val="0"/>
              </a:spcBef>
            </a:pP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Xây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dựng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hệ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thống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đa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vai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trò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bằng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Flutter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và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Spring Boot REST API;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bảo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đảm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tách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lớp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,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toàn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vẹn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dữ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liệu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và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khả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năng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tích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593" spc="12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hợp</a:t>
            </a:r>
            <a:r>
              <a:rPr lang="en-US" sz="2593" spc="12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AI/RAG.</a:t>
            </a:r>
            <a:endParaRPr lang="en-US" sz="2593" u="none" strike="noStrike" spc="12" dirty="0">
              <a:solidFill>
                <a:srgbClr val="181D2B"/>
              </a:solidFill>
              <a:latin typeface="Arial" panose="020B0604020202020204" pitchFamily="34" charset="0"/>
              <a:ea typeface="Open Sauce"/>
              <a:cs typeface="Arial" panose="020B0604020202020204" pitchFamily="34" charset="0"/>
              <a:sym typeface="Open Sauce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4998624" y="6044859"/>
            <a:ext cx="586747" cy="223355"/>
          </a:xfrm>
          <a:custGeom>
            <a:avLst/>
            <a:gdLst/>
            <a:ahLst/>
            <a:cxnLst/>
            <a:rect l="l" t="t" r="r" b="b"/>
            <a:pathLst>
              <a:path w="586747" h="223355">
                <a:moveTo>
                  <a:pt x="0" y="0"/>
                </a:moveTo>
                <a:lnTo>
                  <a:pt x="586747" y="0"/>
                </a:lnTo>
                <a:lnTo>
                  <a:pt x="586747" y="223355"/>
                </a:lnTo>
                <a:lnTo>
                  <a:pt x="0" y="2233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/ 19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22669" y="357227"/>
            <a:ext cx="6550147" cy="1013747"/>
          </a:xfrm>
          <a:prstGeom prst="round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53320" y="497774"/>
            <a:ext cx="776047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1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BỐI CẢNH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70615" y="3124077"/>
            <a:ext cx="7651050" cy="12268447"/>
          </a:xfrm>
          <a:custGeom>
            <a:avLst/>
            <a:gdLst/>
            <a:ahLst/>
            <a:cxnLst/>
            <a:rect l="l" t="t" r="r" b="b"/>
            <a:pathLst>
              <a:path w="7651050" h="12268447">
                <a:moveTo>
                  <a:pt x="0" y="0"/>
                </a:moveTo>
                <a:lnTo>
                  <a:pt x="7651049" y="0"/>
                </a:lnTo>
                <a:lnTo>
                  <a:pt x="7651049" y="12268446"/>
                </a:lnTo>
                <a:lnTo>
                  <a:pt x="0" y="122684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4218294"/>
            <a:ext cx="4802016" cy="4479196"/>
            <a:chOff x="0" y="0"/>
            <a:chExt cx="1267130" cy="11819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457284" y="2085444"/>
            <a:ext cx="4802016" cy="4479196"/>
            <a:chOff x="0" y="0"/>
            <a:chExt cx="1267130" cy="11819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42992" y="3151869"/>
            <a:ext cx="4802016" cy="4479196"/>
            <a:chOff x="0" y="0"/>
            <a:chExt cx="1267130" cy="11819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7130" cy="1181946"/>
            </a:xfrm>
            <a:custGeom>
              <a:avLst/>
              <a:gdLst/>
              <a:ahLst/>
              <a:cxnLst/>
              <a:rect l="l" t="t" r="r" b="b"/>
              <a:pathLst>
                <a:path w="1267130" h="1181946">
                  <a:moveTo>
                    <a:pt x="46754" y="0"/>
                  </a:moveTo>
                  <a:lnTo>
                    <a:pt x="1220375" y="0"/>
                  </a:lnTo>
                  <a:cubicBezTo>
                    <a:pt x="1232775" y="0"/>
                    <a:pt x="1244667" y="4926"/>
                    <a:pt x="1253436" y="13694"/>
                  </a:cubicBezTo>
                  <a:cubicBezTo>
                    <a:pt x="1262204" y="22462"/>
                    <a:pt x="1267130" y="34354"/>
                    <a:pt x="1267130" y="46754"/>
                  </a:cubicBezTo>
                  <a:lnTo>
                    <a:pt x="1267130" y="1135191"/>
                  </a:lnTo>
                  <a:cubicBezTo>
                    <a:pt x="1267130" y="1147591"/>
                    <a:pt x="1262204" y="1159483"/>
                    <a:pt x="1253436" y="1168252"/>
                  </a:cubicBezTo>
                  <a:cubicBezTo>
                    <a:pt x="1244667" y="1177020"/>
                    <a:pt x="1232775" y="1181946"/>
                    <a:pt x="1220375" y="1181946"/>
                  </a:cubicBezTo>
                  <a:lnTo>
                    <a:pt x="46754" y="1181946"/>
                  </a:lnTo>
                  <a:cubicBezTo>
                    <a:pt x="34354" y="1181946"/>
                    <a:pt x="22462" y="1177020"/>
                    <a:pt x="13694" y="1168252"/>
                  </a:cubicBezTo>
                  <a:cubicBezTo>
                    <a:pt x="4926" y="1159483"/>
                    <a:pt x="0" y="1147591"/>
                    <a:pt x="0" y="1135191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FFFFFE"/>
            </a:solidFill>
            <a:ln w="19050" cap="rnd">
              <a:solidFill>
                <a:srgbClr val="181D2B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67130" cy="1220046"/>
            </a:xfrm>
            <a:prstGeom prst="rect">
              <a:avLst/>
            </a:prstGeom>
          </p:spPr>
          <p:txBody>
            <a:bodyPr lIns="50704" tIns="50704" rIns="50704" bIns="50704" rtlCol="0" anchor="ctr"/>
            <a:lstStyle/>
            <a:p>
              <a:pPr marL="0" lvl="0" indent="0" algn="ctr">
                <a:lnSpc>
                  <a:spcPts val="3135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56121" y="3479517"/>
            <a:ext cx="4188065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2000" b="1" spc="8" dirty="0" err="1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Mô</a:t>
            </a:r>
            <a:r>
              <a:rPr lang="en-US" sz="2000" b="1" spc="8" dirty="0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 </a:t>
            </a:r>
            <a:r>
              <a:rPr lang="en-US" sz="2000" b="1" spc="8" dirty="0" err="1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hình</a:t>
            </a:r>
            <a:r>
              <a:rPr lang="en-US" sz="2000" b="1" spc="8" dirty="0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 CBT - Judith Beck (2020)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56122" y="4048051"/>
            <a:ext cx="4011851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Tái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cấu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trúc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nhận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thức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qua Thought </a:t>
            </a:r>
            <a:r>
              <a:rPr lang="en-US" sz="2200" u="none" strike="noStrike" spc="7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Record </a:t>
            </a:r>
            <a:r>
              <a:rPr lang="en-US" sz="2200" u="none" strike="noStrike" spc="7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nhật</a:t>
            </a:r>
            <a:r>
              <a:rPr lang="en-US" sz="2200" u="none" strike="noStrike" spc="7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ký</a:t>
            </a:r>
            <a:r>
              <a:rPr lang="en-US" sz="2200" u="none" strike="noStrike" spc="7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suy</a:t>
            </a:r>
            <a:r>
              <a:rPr lang="en-US" sz="2200" u="none" strike="noStrike" spc="7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nghĩ</a:t>
            </a:r>
            <a:r>
              <a:rPr lang="en-US" sz="2200" u="none" strike="noStrike" spc="7" dirty="0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6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bước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: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Tình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huống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→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Suy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nghĩ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tự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động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→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Cảm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xúc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→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Méo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mó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nhận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thức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→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Phản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hồi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thích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nghi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→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Kết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quả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và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đánh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giá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lại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562179" y="8474217"/>
            <a:ext cx="697121" cy="784083"/>
          </a:xfrm>
          <a:custGeom>
            <a:avLst/>
            <a:gdLst/>
            <a:ahLst/>
            <a:cxnLst/>
            <a:rect l="l" t="t" r="r" b="b"/>
            <a:pathLst>
              <a:path w="697121" h="784083">
                <a:moveTo>
                  <a:pt x="0" y="0"/>
                </a:moveTo>
                <a:lnTo>
                  <a:pt x="697121" y="0"/>
                </a:lnTo>
                <a:lnTo>
                  <a:pt x="697121" y="784083"/>
                </a:lnTo>
                <a:lnTo>
                  <a:pt x="0" y="7840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7"/>
          <p:cNvSpPr/>
          <p:nvPr/>
        </p:nvSpPr>
        <p:spPr>
          <a:xfrm rot="1433494">
            <a:off x="4930128" y="2970811"/>
            <a:ext cx="1413072" cy="1379521"/>
          </a:xfrm>
          <a:custGeom>
            <a:avLst/>
            <a:gdLst/>
            <a:ahLst/>
            <a:cxnLst/>
            <a:rect l="l" t="t" r="r" b="b"/>
            <a:pathLst>
              <a:path w="1413072" h="1379521">
                <a:moveTo>
                  <a:pt x="0" y="0"/>
                </a:moveTo>
                <a:lnTo>
                  <a:pt x="1413072" y="0"/>
                </a:lnTo>
                <a:lnTo>
                  <a:pt x="1413072" y="1379521"/>
                </a:lnTo>
                <a:lnTo>
                  <a:pt x="0" y="1379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67972" y="1624568"/>
            <a:ext cx="10516308" cy="842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16"/>
              </a:lnSpc>
              <a:spcBef>
                <a:spcPct val="0"/>
              </a:spcBef>
            </a:pPr>
            <a:r>
              <a:rPr lang="en-US" sz="5154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Cơ</a:t>
            </a:r>
            <a:r>
              <a:rPr lang="en-US" sz="5154" b="1" u="none" strike="noStrike" dirty="0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 </a:t>
            </a:r>
            <a:r>
              <a:rPr lang="en-US" sz="5154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Sở</a:t>
            </a:r>
            <a:r>
              <a:rPr lang="en-US" sz="5154" b="1" u="none" strike="noStrike" dirty="0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 </a:t>
            </a:r>
            <a:r>
              <a:rPr lang="en-US" sz="5154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Lý</a:t>
            </a:r>
            <a:r>
              <a:rPr lang="en-US" sz="5154" b="1" u="none" strike="noStrike" dirty="0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 </a:t>
            </a:r>
            <a:r>
              <a:rPr lang="en-US" sz="5154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Thuyết</a:t>
            </a:r>
            <a:r>
              <a:rPr lang="en-US" sz="5154" b="1" u="none" strike="noStrike" dirty="0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 </a:t>
            </a:r>
            <a:r>
              <a:rPr lang="en-US" sz="5154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Lâm</a:t>
            </a:r>
            <a:r>
              <a:rPr lang="en-US" sz="5154" b="1" u="none" strike="noStrike" dirty="0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 </a:t>
            </a:r>
            <a:r>
              <a:rPr lang="en-US" sz="5154" b="1" u="none" strike="noStrike" dirty="0" err="1">
                <a:solidFill>
                  <a:srgbClr val="2B598F"/>
                </a:solidFill>
                <a:latin typeface="Arial" panose="020B0604020202020204" pitchFamily="34" charset="0"/>
                <a:ea typeface="Agrandir Bold"/>
                <a:cs typeface="Arial" panose="020B0604020202020204" pitchFamily="34" charset="0"/>
                <a:sym typeface="Agrandir Bold"/>
              </a:rPr>
              <a:t>Sàng</a:t>
            </a:r>
            <a:endParaRPr lang="en-US" sz="5154" b="1" u="none" strike="noStrike" dirty="0">
              <a:solidFill>
                <a:srgbClr val="2B598F"/>
              </a:solidFill>
              <a:latin typeface="Arial" panose="020B0604020202020204" pitchFamily="34" charset="0"/>
              <a:ea typeface="Agrandir Bold"/>
              <a:cs typeface="Arial" panose="020B0604020202020204" pitchFamily="34" charset="0"/>
              <a:sym typeface="Agrandir Bold"/>
            </a:endParaRPr>
          </a:p>
        </p:txBody>
      </p:sp>
      <p:sp>
        <p:nvSpPr>
          <p:cNvPr id="19" name="Freeform 19"/>
          <p:cNvSpPr/>
          <p:nvPr/>
        </p:nvSpPr>
        <p:spPr>
          <a:xfrm rot="1433494">
            <a:off x="10649180" y="1938069"/>
            <a:ext cx="1413072" cy="1379521"/>
          </a:xfrm>
          <a:custGeom>
            <a:avLst/>
            <a:gdLst/>
            <a:ahLst/>
            <a:cxnLst/>
            <a:rect l="l" t="t" r="r" b="b"/>
            <a:pathLst>
              <a:path w="1413072" h="1379521">
                <a:moveTo>
                  <a:pt x="0" y="0"/>
                </a:moveTo>
                <a:lnTo>
                  <a:pt x="1413072" y="0"/>
                </a:lnTo>
                <a:lnTo>
                  <a:pt x="1413072" y="1379521"/>
                </a:lnTo>
                <a:lnTo>
                  <a:pt x="0" y="1379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41830" y="4545942"/>
            <a:ext cx="3784832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2000" b="1" spc="8" dirty="0" err="1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Mô</a:t>
            </a:r>
            <a:r>
              <a:rPr lang="en-US" sz="2000" b="1" spc="8" dirty="0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 </a:t>
            </a:r>
            <a:r>
              <a:rPr lang="en-US" sz="2000" b="1" spc="8" dirty="0" err="1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hình</a:t>
            </a:r>
            <a:r>
              <a:rPr lang="en-US" sz="2000" b="1" spc="8" dirty="0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 Clark &amp; Wells (1995)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1830" y="5114477"/>
            <a:ext cx="4011851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Phá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vỡ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vòng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lặp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duy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trì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lo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âu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xã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hội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.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Cơ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chế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: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chú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ý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tự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hướng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nội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và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hành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vi an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toàn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củng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cố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nỗi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sợ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. Can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thiệp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: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Thử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nghiệm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hành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vi (Behavioral Experiments)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để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kiểm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chứng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niềm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tin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sai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lệch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70413" y="2413092"/>
            <a:ext cx="4188065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296"/>
              </a:lnSpc>
              <a:spcBef>
                <a:spcPct val="0"/>
              </a:spcBef>
            </a:pPr>
            <a:r>
              <a:rPr lang="en-US" sz="2000" b="1" spc="8" dirty="0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Thang </a:t>
            </a:r>
            <a:r>
              <a:rPr lang="en-US" sz="2000" b="1" spc="8" dirty="0" err="1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đo</a:t>
            </a:r>
            <a:r>
              <a:rPr lang="en-US" sz="2000" b="1" spc="8" dirty="0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 LSAS-SR (</a:t>
            </a:r>
            <a:r>
              <a:rPr lang="en-US" sz="2000" b="1" spc="8" dirty="0" err="1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Liebowitz</a:t>
            </a:r>
            <a:r>
              <a:rPr lang="en-US" sz="2000" b="1" spc="8" dirty="0">
                <a:solidFill>
                  <a:srgbClr val="181D2B"/>
                </a:solidFill>
                <a:latin typeface="Arial" panose="020B0604020202020204" pitchFamily="34" charset="0"/>
                <a:ea typeface="Open Sauce Bold"/>
                <a:cs typeface="Arial" panose="020B0604020202020204" pitchFamily="34" charset="0"/>
                <a:sym typeface="Open Sauce Bold"/>
              </a:rPr>
              <a:t>, 1987)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70413" y="3167991"/>
            <a:ext cx="4011851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32"/>
              </a:lnSpc>
              <a:spcBef>
                <a:spcPct val="0"/>
              </a:spcBef>
            </a:pP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24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tình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huống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xã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hội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đo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lường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hai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miền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: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Sợ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hãi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(Fear)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và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Né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tránh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(Avoidance).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Công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cụ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chuẩn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hóa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đánh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giá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mức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độ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lo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âu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xã</a:t>
            </a:r>
            <a:r>
              <a:rPr lang="en-US" sz="2200" u="none" strike="noStrike" spc="7" dirty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 </a:t>
            </a:r>
            <a:r>
              <a:rPr lang="en-US" sz="2200" u="none" strike="noStrike" spc="7" dirty="0" err="1" smtClean="0">
                <a:solidFill>
                  <a:srgbClr val="181D2B"/>
                </a:solidFill>
                <a:latin typeface="Arial" panose="020B0604020202020204" pitchFamily="34" charset="0"/>
                <a:ea typeface="Open Sauce"/>
                <a:cs typeface="Arial" panose="020B0604020202020204" pitchFamily="34" charset="0"/>
                <a:sym typeface="Open Sauce"/>
              </a:rPr>
              <a:t>hội</a:t>
            </a:r>
            <a:endParaRPr lang="en-US" sz="2200" u="none" strike="noStrike" spc="7" dirty="0">
              <a:solidFill>
                <a:srgbClr val="181D2B"/>
              </a:solidFill>
              <a:latin typeface="Arial" panose="020B0604020202020204" pitchFamily="34" charset="0"/>
              <a:ea typeface="Open Sauce"/>
              <a:cs typeface="Arial" panose="020B0604020202020204" pitchFamily="34" charset="0"/>
              <a:sym typeface="Open Sauce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/ 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53681" y="418602"/>
            <a:ext cx="6550147" cy="1013747"/>
          </a:xfrm>
          <a:prstGeom prst="round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53320" y="497774"/>
            <a:ext cx="776047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1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BỐI CẢNH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896912" y="1918631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PHẠM VI ĐỀ TÀI VÀ GIỚI HẠN</a:t>
            </a:r>
            <a:endParaRPr lang="en-US" sz="31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9143" y="2635902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Xác định rõ phần hệ thống đã hiện thực và các nội dung chưa thuộc phạm vi đồ án.</a:t>
            </a:r>
            <a:endParaRPr lang="en-US" sz="1600" dirty="0">
              <a:solidFill>
                <a:srgbClr val="4E5B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25643" y="3647096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25643" y="3693311"/>
            <a:ext cx="127000" cy="4953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0169" y="3258504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PHẠM VI ĐÃ HIỆN THỰC</a:t>
            </a:r>
            <a:endParaRPr lang="en-US" sz="19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21130" y="4813986"/>
            <a:ext cx="6248400" cy="307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Hồ sơ ẩn danh và tài khoản bệnh nhân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lâm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LSAS, 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Setting và lộ trình CBT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Viết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Thought Record, Daily Check-in và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Gate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Đặt lịch, Web CMS và điều phối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âu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Cờ đỏ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vi-VN" sz="20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 kết hợp vector RAG trên Qdrant với kho tri thức CBT nội bộ chọn lọc; AI chỉ hỗ trợ giải thích và gợi ý, chưa được xác nhận lâm sàng.</a:t>
            </a:r>
            <a:endParaRPr lang="en-US" sz="20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495259" y="3682425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462082" y="3647096"/>
            <a:ext cx="127000" cy="4953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06097" y="3319378"/>
            <a:ext cx="624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E297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HẠN VÀ LOẠI TRỪ</a:t>
            </a:r>
            <a:endParaRPr lang="en-US" sz="1900" b="1" dirty="0">
              <a:solidFill>
                <a:srgbClr val="E297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01100" y="4738601"/>
            <a:ext cx="6248400" cy="27699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Chưa tích hợp video call trực tiếp; sử dụng liên kết họp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AI là mô hình tổng quát, không thay thế bác sĩ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Chưa thực hiện thử nghiệm lâm sàng trên người bệnh thật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Chưa công bố độ chính xác khi thiếu tập nhãn chuyên gia</a:t>
            </a:r>
          </a:p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Dữ liệu nhạy cảm cần tiếp tục tăng cường quản trị khi triển khai thật</a:t>
            </a:r>
            <a:endParaRPr lang="en-US" sz="20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53681" y="418602"/>
            <a:ext cx="6550147" cy="1013747"/>
          </a:xfrm>
          <a:prstGeom prst="round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53320" y="497774"/>
            <a:ext cx="776047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1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BỐI CẢNH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8000" y="3543300"/>
            <a:ext cx="12486777" cy="2359541"/>
          </a:xfrm>
          <a:custGeom>
            <a:avLst/>
            <a:gdLst/>
            <a:ahLst/>
            <a:cxnLst/>
            <a:rect l="l" t="t" r="r" b="b"/>
            <a:pathLst>
              <a:path w="12486777" h="2359541">
                <a:moveTo>
                  <a:pt x="0" y="0"/>
                </a:moveTo>
                <a:lnTo>
                  <a:pt x="12486777" y="0"/>
                </a:lnTo>
                <a:lnTo>
                  <a:pt x="12486777" y="2359541"/>
                </a:lnTo>
                <a:lnTo>
                  <a:pt x="0" y="2359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433771" y="6420478"/>
            <a:ext cx="19155541" cy="0"/>
          </a:xfrm>
          <a:prstGeom prst="line">
            <a:avLst/>
          </a:prstGeom>
          <a:ln w="95250" cap="flat">
            <a:solidFill>
              <a:srgbClr val="DBE0E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4099003" y="6379091"/>
            <a:ext cx="267956" cy="26795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E11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43992" y="6379091"/>
            <a:ext cx="267956" cy="26795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26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88981" y="6379091"/>
            <a:ext cx="267956" cy="26795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533970" y="6379091"/>
            <a:ext cx="267956" cy="26795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D6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40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Freeform 20"/>
          <p:cNvSpPr/>
          <p:nvPr/>
        </p:nvSpPr>
        <p:spPr>
          <a:xfrm>
            <a:off x="3935834" y="4265039"/>
            <a:ext cx="617717" cy="591583"/>
          </a:xfrm>
          <a:custGeom>
            <a:avLst/>
            <a:gdLst/>
            <a:ahLst/>
            <a:cxnLst/>
            <a:rect l="l" t="t" r="r" b="b"/>
            <a:pathLst>
              <a:path w="617717" h="591583">
                <a:moveTo>
                  <a:pt x="0" y="0"/>
                </a:moveTo>
                <a:lnTo>
                  <a:pt x="617718" y="0"/>
                </a:lnTo>
                <a:lnTo>
                  <a:pt x="617718" y="591583"/>
                </a:lnTo>
                <a:lnTo>
                  <a:pt x="0" y="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7046146" y="4213395"/>
            <a:ext cx="658282" cy="624323"/>
          </a:xfrm>
          <a:custGeom>
            <a:avLst/>
            <a:gdLst/>
            <a:ahLst/>
            <a:cxnLst/>
            <a:rect l="l" t="t" r="r" b="b"/>
            <a:pathLst>
              <a:path w="658282" h="624323">
                <a:moveTo>
                  <a:pt x="0" y="0"/>
                </a:moveTo>
                <a:lnTo>
                  <a:pt x="658282" y="0"/>
                </a:lnTo>
                <a:lnTo>
                  <a:pt x="658282" y="624324"/>
                </a:lnTo>
                <a:lnTo>
                  <a:pt x="0" y="624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9969814" y="4213273"/>
            <a:ext cx="1081451" cy="630470"/>
          </a:xfrm>
          <a:custGeom>
            <a:avLst/>
            <a:gdLst/>
            <a:ahLst/>
            <a:cxnLst/>
            <a:rect l="l" t="t" r="r" b="b"/>
            <a:pathLst>
              <a:path w="1081451" h="630470">
                <a:moveTo>
                  <a:pt x="0" y="0"/>
                </a:moveTo>
                <a:lnTo>
                  <a:pt x="1081452" y="0"/>
                </a:lnTo>
                <a:lnTo>
                  <a:pt x="1081452" y="630469"/>
                </a:lnTo>
                <a:lnTo>
                  <a:pt x="0" y="63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3373117" y="4111612"/>
            <a:ext cx="525258" cy="725615"/>
          </a:xfrm>
          <a:custGeom>
            <a:avLst/>
            <a:gdLst/>
            <a:ahLst/>
            <a:cxnLst/>
            <a:rect l="l" t="t" r="r" b="b"/>
            <a:pathLst>
              <a:path w="525258" h="725615">
                <a:moveTo>
                  <a:pt x="0" y="0"/>
                </a:moveTo>
                <a:lnTo>
                  <a:pt x="525259" y="0"/>
                </a:lnTo>
                <a:lnTo>
                  <a:pt x="525259" y="725615"/>
                </a:lnTo>
                <a:lnTo>
                  <a:pt x="0" y="7256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577149" y="1823345"/>
            <a:ext cx="11639114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54"/>
              </a:lnSpc>
            </a:pPr>
            <a:r>
              <a:rPr lang="en-US" sz="2824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Phương</a:t>
            </a:r>
            <a:r>
              <a:rPr lang="en-US" sz="2824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824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Pháp</a:t>
            </a:r>
            <a:r>
              <a:rPr lang="en-US" sz="2824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824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Nghiên</a:t>
            </a:r>
            <a:r>
              <a:rPr lang="en-US" sz="2824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824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Cứu</a:t>
            </a:r>
            <a:endParaRPr lang="en-US" sz="2824" b="1" dirty="0">
              <a:solidFill>
                <a:srgbClr val="000000"/>
              </a:solidFill>
              <a:latin typeface="Arial" panose="020B0604020202020204" pitchFamily="34" charset="0"/>
              <a:ea typeface="TT Hoves Bold"/>
              <a:cs typeface="Arial" panose="020B0604020202020204" pitchFamily="34" charset="0"/>
              <a:sym typeface="TT Hoves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405696" y="2606929"/>
            <a:ext cx="11639114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87"/>
              </a:lnSpc>
            </a:pP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Bốn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giai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đoạn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tuần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tự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trong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quy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trình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nghiên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cứu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và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phát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triển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phần</a:t>
            </a:r>
            <a:r>
              <a:rPr lang="en-US" sz="149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149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mềm</a:t>
            </a:r>
            <a:endParaRPr lang="en-US" sz="1490" dirty="0">
              <a:solidFill>
                <a:srgbClr val="000000"/>
              </a:solidFill>
              <a:latin typeface="Arial" panose="020B0604020202020204" pitchFamily="34" charset="0"/>
              <a:ea typeface="TT Hoves"/>
              <a:cs typeface="Arial" panose="020B0604020202020204" pitchFamily="34" charset="0"/>
              <a:sym typeface="TT Hove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081363" y="6781025"/>
            <a:ext cx="236996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Nghiên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Cứu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Lý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Thuyết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TT Hoves Bold"/>
              <a:cs typeface="Arial" panose="020B0604020202020204" pitchFamily="34" charset="0"/>
              <a:sym typeface="TT Hove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048000" y="5267169"/>
            <a:ext cx="236996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Giai đoạn 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75882" y="6722475"/>
            <a:ext cx="236996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Phân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Tích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&amp;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Thiết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Kế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TT Hoves Bold"/>
              <a:cs typeface="Arial" panose="020B0604020202020204" pitchFamily="34" charset="0"/>
              <a:sym typeface="TT Hove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192989" y="5267169"/>
            <a:ext cx="236996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Giai đoạn 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23304" y="6737399"/>
            <a:ext cx="236996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Thực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Nghiệm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Phần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Mềm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TT Hoves Bold"/>
              <a:cs typeface="Arial" panose="020B0604020202020204" pitchFamily="34" charset="0"/>
              <a:sym typeface="TT Hoves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337977" y="5267169"/>
            <a:ext cx="236996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Giai đoạn 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24115" y="6725281"/>
            <a:ext cx="2369964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7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Kiểm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Thử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&amp;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Đánh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Giá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TT Hoves Bold"/>
              <a:cs typeface="Arial" panose="020B0604020202020204" pitchFamily="34" charset="0"/>
              <a:sym typeface="TT Hoves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482966" y="5267169"/>
            <a:ext cx="236996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1255" b="1">
                <a:solidFill>
                  <a:srgbClr val="FFFFFF"/>
                </a:solidFill>
                <a:latin typeface="Arial" panose="020B0604020202020204" pitchFamily="34" charset="0"/>
                <a:ea typeface="TT Hoves Bold"/>
                <a:cs typeface="Arial" panose="020B0604020202020204" pitchFamily="34" charset="0"/>
                <a:sym typeface="TT Hoves Bold"/>
              </a:rPr>
              <a:t>Giai đoạn 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48000" y="7420709"/>
            <a:ext cx="2369964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Nghiên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cứu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phác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đồ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CBT,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mô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hình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Clark &amp; Wells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thang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đo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LSAS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để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số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hóa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nghiệp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vụ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y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văn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vào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logic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phần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mềm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TT Hoves"/>
              <a:cs typeface="Arial" panose="020B0604020202020204" pitchFamily="34" charset="0"/>
              <a:sym typeface="TT Hove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192989" y="7420709"/>
            <a:ext cx="2369964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Khảo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sát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yêu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cầu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mô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hình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hóa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bằng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biểu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đồ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UML (Use Case, Activity, Sequence, Class Diagram)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và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thiết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kế</a:t>
            </a:r>
            <a:r>
              <a:rPr lang="en-US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ERD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TT Hoves"/>
              <a:cs typeface="Arial" panose="020B0604020202020204" pitchFamily="34" charset="0"/>
              <a:sym typeface="TT Hove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337977" y="7420709"/>
            <a:ext cx="2369964" cy="139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Lập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trình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Backend (Spring Boot), CSDL (MySQL), Mobile App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và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Web CMS (Flutter),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tích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hợp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 Gemini API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88925" y="7420709"/>
            <a:ext cx="2558045" cy="115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57"/>
              </a:lnSpc>
              <a:spcBef>
                <a:spcPct val="0"/>
              </a:spcBef>
            </a:pPr>
            <a:r>
              <a:rPr lang="vi-VN" sz="2000" dirty="0" smtClean="0">
                <a:solidFill>
                  <a:srgbClr val="000000"/>
                </a:solidFill>
                <a:latin typeface="Arial" panose="020B0604020202020204" pitchFamily="34" charset="0"/>
                <a:ea typeface="TT Hoves"/>
                <a:cs typeface="Arial" panose="020B0604020202020204" pitchFamily="34" charset="0"/>
                <a:sym typeface="TT Hoves"/>
              </a:rPr>
              <a:t>Kiểm thử các luồng nghiệp vụ, đánh giá định tính phản hồi AI và xác minh cơ chế chống đặt lịch trùng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TT Hoves"/>
              <a:cs typeface="Arial" panose="020B0604020202020204" pitchFamily="34" charset="0"/>
              <a:sym typeface="TT Hove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2746271" y="6621964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 / 19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53681" y="418602"/>
            <a:ext cx="6550147" cy="1013747"/>
          </a:xfrm>
          <a:prstGeom prst="round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53320" y="497774"/>
            <a:ext cx="776047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1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BỐI CẢNH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1016000" y="1631349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 NĂNG CHÍNH CỦA HỆ THỐNG</a:t>
            </a:r>
            <a:endParaRPr lang="en-US" sz="31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0600" y="2393067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 nhóm người dùng phối hợp trên cùng một nền tảng dữ liệu.</a:t>
            </a:r>
            <a:endParaRPr lang="en-US" sz="1600" dirty="0">
              <a:solidFill>
                <a:srgbClr val="4E5B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3590" y="377190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98500" y="3749623"/>
            <a:ext cx="127000" cy="5207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8096" y="4179340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 NHÂN – FLUTTER APP</a:t>
            </a:r>
            <a:endParaRPr lang="en-US" sz="1900" b="1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8390" y="4826000"/>
            <a:ext cx="4089400" cy="37240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Hồ sơ ẩn danh và hồ sơ chính thức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lâm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LSAS và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mục tiêu trị liệu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Fear Ladder và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Thửu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 - </a:t>
            </a:r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 Experiment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Daily Check-in,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Thought Record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Đặt lịch tư vấn từ xa</a:t>
            </a:r>
            <a:endParaRPr lang="en-US" sz="22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835046" y="393446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94073" y="3749623"/>
            <a:ext cx="127000" cy="52070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32556" y="4164062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328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BÁC SĨ – WEB CMS</a:t>
            </a:r>
            <a:endParaRPr lang="en-US" sz="1900" b="1" dirty="0">
              <a:solidFill>
                <a:srgbClr val="3285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62373" y="4686300"/>
            <a:ext cx="4089400" cy="236988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Danh sách bệnh nhân phụ trách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Xem trước phiên tư vấn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Theo dõi LSAS và tiến trình trị liệu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Quản lý lịch làm việc, lịch hẹn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Ghi chú lâm sàng</a:t>
            </a:r>
            <a:endParaRPr lang="en-US" sz="22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0858500" y="4025900"/>
            <a:ext cx="4699000" cy="520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0858500" y="3771900"/>
            <a:ext cx="127000" cy="5207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226800" y="4246280"/>
            <a:ext cx="4089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E297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 TRỊ VIÊN</a:t>
            </a:r>
            <a:endParaRPr lang="en-US" sz="1900" b="1" dirty="0">
              <a:solidFill>
                <a:srgbClr val="E297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77600" y="4686300"/>
            <a:ext cx="408940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Quản lý tài khoản và bác sĩ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Duyệt hồ sơ chuyên môn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Theo dõi dashboard ưu tiên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Điều phối và gán bác sĩ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Xử lý hàng chờ Cờ đỏ</a:t>
            </a:r>
            <a:endParaRPr lang="en-US" sz="22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495800" y="458325"/>
            <a:ext cx="9058119" cy="1050876"/>
          </a:xfrm>
          <a:prstGeom prst="roundRect">
            <a:avLst/>
          </a:prstGeom>
          <a:solidFill>
            <a:srgbClr val="29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2:Giải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endParaRPr lang="en-US"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709330"/>
            <a:ext cx="108813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 PHÁP CÔNG NGHỆ VÀ KIẾN TRÚC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3151" y="2462075"/>
            <a:ext cx="104241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Tách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rõ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12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AI/RAG.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3168197"/>
            <a:ext cx="2423160" cy="261495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944368" y="3561189"/>
            <a:ext cx="73152" cy="2103120"/>
          </a:xfrm>
          <a:prstGeom prst="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77891" y="3219765"/>
            <a:ext cx="201168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 dirty="0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1752" y="3750682"/>
            <a:ext cx="201168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Web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sz="2000" b="0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hevron 7"/>
          <p:cNvSpPr/>
          <p:nvPr/>
        </p:nvSpPr>
        <p:spPr>
          <a:xfrm>
            <a:off x="5385816" y="4091515"/>
            <a:ext cx="438912" cy="640080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824728" y="3181912"/>
            <a:ext cx="2423160" cy="260124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92724" y="3680035"/>
            <a:ext cx="73152" cy="2103120"/>
          </a:xfrm>
          <a:prstGeom prst="rect">
            <a:avLst/>
          </a:prstGeom>
          <a:solidFill>
            <a:srgbClr val="29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95924" y="3358264"/>
            <a:ext cx="2011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299A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SPRING 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0176" y="3750682"/>
            <a:ext cx="201168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 API • JWT
Controller • Service • JPA</a:t>
            </a:r>
          </a:p>
        </p:txBody>
      </p:sp>
      <p:sp>
        <p:nvSpPr>
          <p:cNvPr id="13" name="Chevron 12"/>
          <p:cNvSpPr/>
          <p:nvPr/>
        </p:nvSpPr>
        <p:spPr>
          <a:xfrm>
            <a:off x="8267870" y="4091515"/>
            <a:ext cx="438912" cy="640080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59952" y="3181912"/>
            <a:ext cx="2423160" cy="263767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77656" y="3680035"/>
            <a:ext cx="73152" cy="2103120"/>
          </a:xfrm>
          <a:prstGeom prst="rect">
            <a:avLst/>
          </a:prstGeom>
          <a:solidFill>
            <a:srgbClr val="EB9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82719" y="3358264"/>
            <a:ext cx="2011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EB99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 LIỆU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6293" y="3780732"/>
            <a:ext cx="201168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Redis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cache</a:t>
            </a:r>
          </a:p>
        </p:txBody>
      </p:sp>
      <p:sp>
        <p:nvSpPr>
          <p:cNvPr id="18" name="Chevron 17"/>
          <p:cNvSpPr/>
          <p:nvPr/>
        </p:nvSpPr>
        <p:spPr>
          <a:xfrm>
            <a:off x="11183112" y="4139471"/>
            <a:ext cx="438912" cy="640080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704320" y="3181912"/>
            <a:ext cx="2423160" cy="264201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607631" y="3727991"/>
            <a:ext cx="73152" cy="2103120"/>
          </a:xfrm>
          <a:prstGeom prst="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750040" y="3427459"/>
            <a:ext cx="2011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724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/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73577" y="3819538"/>
            <a:ext cx="201168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 + Embedding
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Qdrant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Vector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343" y="641094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Luồng</a:t>
            </a:r>
            <a:r>
              <a:rPr sz="2000" b="1" dirty="0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sz="2000" b="1" dirty="0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Screen → Provider → Repository → REST API → Controller → Service → Repository/JPA → 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7471" y="8292268"/>
            <a:ext cx="100584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MySQL lưu dữ liệu nghiệp vụ • Redis chỉ là cache fail-open • Qdrant chỉ lưu vector tri thức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0" y="5468470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/ 19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458325"/>
            <a:ext cx="9058119" cy="1050876"/>
          </a:xfrm>
          <a:prstGeom prst="roundRect">
            <a:avLst/>
          </a:prstGeom>
          <a:solidFill>
            <a:srgbClr val="29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2:Giải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endParaRPr lang="en-US"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264630" y="5178474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46669" y="-27941"/>
            <a:ext cx="10324927" cy="10398762"/>
            <a:chOff x="0" y="0"/>
            <a:chExt cx="13766570" cy="1386501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569" b="2569"/>
            <a:stretch>
              <a:fillRect/>
            </a:stretch>
          </p:blipFill>
          <p:spPr>
            <a:xfrm>
              <a:off x="0" y="0"/>
              <a:ext cx="13766570" cy="13865017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2793688" y="428576"/>
            <a:ext cx="1253578" cy="19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Profile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44568" y="428576"/>
            <a:ext cx="814732" cy="19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Contact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75866" y="428576"/>
            <a:ext cx="856813" cy="19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Gallery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61279" y="428576"/>
            <a:ext cx="856813" cy="198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  <a:sym typeface="Inter"/>
              </a:rPr>
              <a:t>Portfolio</a:t>
            </a:r>
          </a:p>
        </p:txBody>
      </p:sp>
    </p:spTree>
    <p:extLst>
      <p:ext uri="{BB962C8B-B14F-4D97-AF65-F5344CB8AC3E}">
        <p14:creationId xmlns:p14="http://schemas.microsoft.com/office/powerpoint/2010/main" val="88481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546205"/>
            <a:ext cx="108813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 KẾ USE CASE TỔNG QUÁT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5612" y="2043975"/>
            <a:ext cx="10424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miền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bốn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939325"/>
            <a:ext cx="274320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9036" y="2939325"/>
            <a:ext cx="73152" cy="4297680"/>
          </a:xfrm>
          <a:prstGeom prst="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8972" y="2939325"/>
            <a:ext cx="2331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 err="1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sz="2000" b="1" dirty="0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sz="2000" b="1" dirty="0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endParaRPr sz="2000" b="1" dirty="0">
              <a:solidFill>
                <a:srgbClr val="2D67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5217" y="3520700"/>
            <a:ext cx="2618232" cy="34778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trải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ẩn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LSAS
•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lộ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•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•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phối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Cờ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đỏ</a:t>
            </a:r>
            <a:endParaRPr sz="2000" b="0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/ 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5900" y="474860"/>
            <a:ext cx="8490919" cy="1013747"/>
          </a:xfrm>
          <a:prstGeom prst="round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3: THIẾT KẾ HỆ THỐNG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2000698"/>
            <a:ext cx="11745964" cy="67446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1760318"/>
            <a:ext cx="1088136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LUỒNG NGHIỆP VỤ CHÍNH CỦA BỆNH NHÂN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2412552"/>
            <a:ext cx="104241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nhất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ẩn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Oval 3"/>
          <p:cNvSpPr/>
          <p:nvPr/>
        </p:nvSpPr>
        <p:spPr>
          <a:xfrm>
            <a:off x="388366" y="4374896"/>
            <a:ext cx="566928" cy="566928"/>
          </a:xfrm>
          <a:prstGeom prst="ellipse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904" y="4477324"/>
            <a:ext cx="56692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55245" y="5043557"/>
            <a:ext cx="145415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sz="2000" b="1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sz="2000" b="1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</a:t>
            </a:r>
            <a:r>
              <a:rPr sz="2000" b="1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ẩn</a:t>
            </a:r>
            <a:r>
              <a:rPr sz="2000" b="1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endParaRPr sz="2000" b="1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1403603" y="4480560"/>
            <a:ext cx="868680" cy="347472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2734056" y="4360556"/>
            <a:ext cx="566928" cy="566928"/>
          </a:xfrm>
          <a:prstGeom prst="ellipse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5740" y="4458393"/>
            <a:ext cx="56692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5090177"/>
            <a:ext cx="1947672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LSAS &amp;
</a:t>
            </a:r>
            <a:r>
              <a:rPr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luồng</a:t>
            </a:r>
            <a:endParaRPr sz="2000" b="1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3774441" y="4507992"/>
            <a:ext cx="868680" cy="347472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022436" y="4398264"/>
            <a:ext cx="566928" cy="566928"/>
          </a:xfrm>
          <a:prstGeom prst="ellipse">
            <a:avLst/>
          </a:prstGeom>
          <a:solidFill>
            <a:srgbClr val="29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08974" y="4492260"/>
            <a:ext cx="56692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3504" y="5090409"/>
            <a:ext cx="182743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endParaRPr sz="2000" b="1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971032" y="4480560"/>
            <a:ext cx="868680" cy="347472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229348" y="4398976"/>
            <a:ext cx="566928" cy="566928"/>
          </a:xfrm>
          <a:prstGeom prst="ellipse">
            <a:avLst/>
          </a:prstGeom>
          <a:solidFill>
            <a:srgbClr val="29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1380" y="4469080"/>
            <a:ext cx="56692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1084" y="5075765"/>
            <a:ext cx="175345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Fear</a:t>
            </a:r>
            <a:r>
              <a:rPr sz="2000" b="1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
Ladder</a:t>
            </a:r>
          </a:p>
        </p:txBody>
      </p:sp>
      <p:sp>
        <p:nvSpPr>
          <p:cNvPr id="19" name="Chevron 18"/>
          <p:cNvSpPr/>
          <p:nvPr/>
        </p:nvSpPr>
        <p:spPr>
          <a:xfrm>
            <a:off x="8458200" y="4507992"/>
            <a:ext cx="868680" cy="347472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10113264" y="4398976"/>
            <a:ext cx="566928" cy="566928"/>
          </a:xfrm>
          <a:prstGeom prst="ellipse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05296" y="4502862"/>
            <a:ext cx="56692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4990725"/>
            <a:ext cx="2313432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Trải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</a:t>
            </a:r>
            <a:endParaRPr sz="2000" b="1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11521440" y="4559013"/>
            <a:ext cx="868680" cy="347472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3385005" y="4437010"/>
            <a:ext cx="566928" cy="566928"/>
          </a:xfrm>
          <a:prstGeom prst="ellipse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392973" y="4514585"/>
            <a:ext cx="56692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56519" y="5043557"/>
            <a:ext cx="320040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
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suy</a:t>
            </a:r>
            <a:r>
              <a:rPr lang="en-US" sz="2000" b="1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nghĩ</a:t>
            </a:r>
            <a:endParaRPr sz="2000" b="1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15102901" y="4572885"/>
            <a:ext cx="868680" cy="347472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6632014" y="4476629"/>
            <a:ext cx="566928" cy="566928"/>
          </a:xfrm>
          <a:prstGeom prst="ellipse">
            <a:avLst/>
          </a:prstGeom>
          <a:solidFill>
            <a:srgbClr val="EB9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639982" y="4543502"/>
            <a:ext cx="566928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54538" y="5153418"/>
            <a:ext cx="2337816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sz="2000" b="1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sz="2000" b="1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
Safety Gate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8670" y="6442588"/>
            <a:ext cx="10241280" cy="2358511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39158" y="6557337"/>
            <a:ext cx="115222" cy="2066330"/>
          </a:xfrm>
          <a:prstGeom prst="rect">
            <a:avLst/>
          </a:prstGeom>
          <a:solidFill>
            <a:srgbClr val="299A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77486" y="6559257"/>
            <a:ext cx="98298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99AA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tắc điều hướng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822" y="6992451"/>
            <a:ext cx="982980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2000" b="0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LSAS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b="0" dirty="0" smtClean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b="0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2000" b="0" dirty="0" err="1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GoalType</a:t>
            </a:r>
            <a:r>
              <a:rPr sz="2000" b="0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b="0" dirty="0" smtClean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b="0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 Check-in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gợi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phù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b="0" dirty="0" smtClean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b="0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chẩn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endParaRPr lang="en-US" sz="2000" b="0" dirty="0" smtClean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2000" b="0" dirty="0" smtClean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lâm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sàng</a:t>
            </a:r>
            <a:endParaRPr sz="2000" b="0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/ 19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5900" y="474860"/>
            <a:ext cx="8490919" cy="1013747"/>
          </a:xfrm>
          <a:prstGeom prst="round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3: THIẾT KẾ HỆ THỐNG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889000" y="1565161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 NHÂN HÓA LỘ TRÌNH TRỊ LIỆU</a:t>
            </a:r>
            <a:endParaRPr lang="en-US" sz="31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08000" y="7623870"/>
            <a:ext cx="1422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LSAS baseline quyết định mức độ; goalType là tín hiệu ưu tiên, không thay thế đánh giá lâm sàng.</a:t>
            </a:r>
            <a:endParaRPr lang="en-US" sz="2000" dirty="0">
              <a:solidFill>
                <a:srgbClr val="4E5B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2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25500" y="2413000"/>
            <a:ext cx="127000" cy="3175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181100" y="2641600"/>
            <a:ext cx="383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DỮ LIỆU NỀN LSAS</a:t>
            </a:r>
            <a:endParaRPr lang="en-US" sz="20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181100" y="3200400"/>
            <a:ext cx="38354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 tình huống được chấm theo hai chiều: Sợ hãi và Né tránh. Hệ thống chỉ lấy các tình huống có điểm lớn hơn 0 để tạo Fear Ladder.</a:t>
            </a:r>
            <a:endParaRPr lang="en-US" sz="20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590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5905500" y="2413000"/>
            <a:ext cx="127000" cy="31750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261100" y="2641600"/>
            <a:ext cx="383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b="1" dirty="0" smtClean="0">
                <a:solidFill>
                  <a:srgbClr val="6E4F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ƯU TIÊN THEO MỤC TIÊU</a:t>
            </a:r>
            <a:endParaRPr lang="en-US" sz="2000" b="1" dirty="0">
              <a:solidFill>
                <a:srgbClr val="6E4F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261100" y="3200400"/>
            <a:ext cx="38354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ưu tiên nhóm tương tác xã hội. BEHAVIORAL ưu tiên nhóm hiệu suất/biểu diễn. EMOTIONAL giữ thứ tự trung tính và bổ sung hướng dẫn điều hòa cảm xúc.</a:t>
            </a:r>
            <a:endParaRPr lang="en-US" sz="20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10985500" y="2413000"/>
            <a:ext cx="4445000" cy="3175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10985500" y="2413000"/>
            <a:ext cx="127000" cy="3175000"/>
          </a:xfrm>
          <a:prstGeom prst="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1341100" y="2641600"/>
            <a:ext cx="3835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 dirty="0" smtClean="0">
                <a:solidFill>
                  <a:srgbClr val="228B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SẮP XẾP VÀ MỞ KHÓA</a:t>
            </a:r>
            <a:endParaRPr lang="en-US" sz="2000" b="1" dirty="0">
              <a:solidFill>
                <a:srgbClr val="228B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1341100" y="3200400"/>
            <a:ext cx="38354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0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 tự: goalMatch giảm dần → tổng điểm tăng dần → số tình huống. Các nấc được mở dần theo trạng thái hoàn thành.</a:t>
            </a:r>
            <a:endParaRPr lang="en-US" sz="20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14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LSAS baseline</a:t>
            </a:r>
            <a:endParaRPr lang="en-US" b="1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406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en-US" sz="2600" b="1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495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 priority</a:t>
            </a:r>
            <a:endParaRPr lang="en-US" b="1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87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en-US" sz="2600" b="1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763000" y="63500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Fear Ladder</a:t>
            </a:r>
            <a:endParaRPr lang="en-US" b="1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1684000" y="6273800"/>
            <a:ext cx="698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600" b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endParaRPr lang="en-US" sz="2600" b="1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12446000" y="6350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Behavioral Experiment</a:t>
            </a:r>
            <a:endParaRPr lang="en-US" b="1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/ 19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5900" y="474860"/>
            <a:ext cx="8490919" cy="1013747"/>
          </a:xfrm>
          <a:prstGeom prst="round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3: THIẾT KẾ HỆ THỐNG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/>
          <p:cNvSpPr txBox="1"/>
          <p:nvPr/>
        </p:nvSpPr>
        <p:spPr>
          <a:xfrm>
            <a:off x="762000" y="1683108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err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màn</a:t>
            </a:r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100" b="1" dirty="0" err="1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31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9" y="2476500"/>
            <a:ext cx="4953000" cy="6324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628900"/>
            <a:ext cx="4953000" cy="6324600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5305900" y="474860"/>
            <a:ext cx="8465519" cy="1006007"/>
          </a:xfrm>
          <a:prstGeom prst="round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KẾT QUẢ &amp; DEMO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236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914400" y="154937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NGHIÊN CỨU VÀ KỸ THUẬT</a:t>
            </a:r>
            <a:endParaRPr lang="en-US" sz="31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32473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code, API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rgbClr val="4E5B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294234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9000" y="2743488"/>
            <a:ext cx="127000" cy="23495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57300" y="3133839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i-FI" sz="19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 PHẨM ĐA VAI TRÒ</a:t>
            </a:r>
            <a:endParaRPr lang="en-US" sz="19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4600" y="3643063"/>
            <a:ext cx="61214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Flutter App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Web CMS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bác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sĩ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Spring Boot API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xuyên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suốt</a:t>
            </a:r>
            <a:r>
              <a:rPr lang="en-US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2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42300" y="2956885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42300" y="2858031"/>
            <a:ext cx="127000" cy="23495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43620" y="3118437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3285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 HÓA NGHIỆP VỤ CBT</a:t>
            </a:r>
            <a:endParaRPr lang="en-US" sz="1900" b="1" dirty="0">
              <a:solidFill>
                <a:srgbClr val="3285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26780" y="3719036"/>
            <a:ext cx="61214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Ánh xạ LSAS, Thought Record, Fear Ladder và Behavioral Experiment từ cơ sở lý thuyết thành luồng phần mềm.</a:t>
            </a:r>
            <a:endParaRPr lang="en-US" sz="22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9000" y="5979863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89000" y="5854988"/>
            <a:ext cx="127000" cy="23495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57300" y="6087146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E297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TOÀN VÀ TOÀN VẸN</a:t>
            </a:r>
            <a:endParaRPr lang="en-US" sz="1900" b="1" dirty="0">
              <a:solidFill>
                <a:srgbClr val="E297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44600" y="6690955"/>
            <a:ext cx="6121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JWT, AES-128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transaction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unique constraint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trùng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5000" y="5892800"/>
            <a:ext cx="6731000" cy="2349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55000" y="5908933"/>
            <a:ext cx="127000" cy="23495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97900" y="6088390"/>
            <a:ext cx="6121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900" b="1" smtClean="0">
                <a:solidFill>
                  <a:srgbClr val="6E4F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AI, RAG VÀ KIỂM THỬ</a:t>
            </a:r>
            <a:endParaRPr lang="en-US" sz="1900" b="1">
              <a:solidFill>
                <a:srgbClr val="6E4F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10600" y="6704813"/>
            <a:ext cx="61214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 Embedding +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Qdrant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fallback, API contract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200" dirty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4249399" y="1695882"/>
            <a:ext cx="3708400" cy="1041400"/>
          </a:xfrm>
          <a:prstGeom prst="roundRect">
            <a:avLst/>
          </a:prstGeom>
          <a:solidFill>
            <a:srgbClr val="F1F8FD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14516099" y="1915690"/>
            <a:ext cx="3175000" cy="533400"/>
          </a:xfrm>
          <a:prstGeom prst="round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3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↗  MỞ BÁO CÁO CƠ SỞ KHOA HỌC</a:t>
            </a:r>
            <a:endParaRPr lang="en-US" sz="13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/ 19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5900" y="474860"/>
            <a:ext cx="8465519" cy="1006007"/>
          </a:xfrm>
          <a:prstGeom prst="round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KẾT QUẢ &amp; DEMO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914400" y="1549370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NGHIÊN CỨU VÀ KỸ THUẬT</a:t>
            </a:r>
            <a:endParaRPr lang="en-US" sz="31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32473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minh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code, API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sz="1600" dirty="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rgbClr val="4E5B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3794510" y="8282548"/>
            <a:ext cx="3708400" cy="1041400"/>
          </a:xfrm>
          <a:prstGeom prst="roundRect">
            <a:avLst/>
          </a:prstGeom>
          <a:solidFill>
            <a:srgbClr val="F1F8FD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630400" y="7978577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Minh </a:t>
            </a:r>
            <a:r>
              <a:rPr lang="en-US" sz="12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chứng</a:t>
            </a:r>
            <a:r>
              <a:rPr lang="en-US" sz="12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1200" b="1" dirty="0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endParaRPr lang="en-US" sz="1200" b="1" dirty="0">
              <a:solidFill>
                <a:srgbClr val="0E30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14025419" y="8536548"/>
            <a:ext cx="3175000" cy="533400"/>
          </a:xfrm>
          <a:prstGeom prst="round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3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↗  MỞ BÁO CÁO CƠ SỞ KHOA HỌC</a:t>
            </a:r>
            <a:endParaRPr lang="en-US" sz="13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/ 19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5900" y="474860"/>
            <a:ext cx="8465519" cy="1006007"/>
          </a:xfrm>
          <a:prstGeom prst="round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KẾT QUẢ &amp; DEMO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881" y="3147568"/>
            <a:ext cx="8335538" cy="51346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186" y="2545551"/>
            <a:ext cx="7668695" cy="56776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836864" y="495883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Arial</a:t>
            </a:r>
          </a:p>
        </p:txBody>
      </p:sp>
    </p:spTree>
    <p:extLst>
      <p:ext uri="{BB962C8B-B14F-4D97-AF65-F5344CB8AC3E}">
        <p14:creationId xmlns:p14="http://schemas.microsoft.com/office/powerpoint/2010/main" val="356190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52500" y="1575667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100" b="1" dirty="0" smtClean="0">
                <a:solidFill>
                  <a:srgbClr val="2B5B91"/>
                </a:solidFill>
              </a:rPr>
              <a:t>KIỂM SOÁT </a:t>
            </a:r>
            <a:r>
              <a:rPr lang="en-US" sz="3100" b="1" dirty="0" smtClean="0">
                <a:solidFill>
                  <a:srgbClr val="2B5B91"/>
                </a:solidFill>
              </a:rPr>
              <a:t>THÀNH CÔNG </a:t>
            </a:r>
            <a:r>
              <a:rPr lang="vi-VN" sz="3100" b="1" dirty="0" smtClean="0">
                <a:solidFill>
                  <a:srgbClr val="2B5B91"/>
                </a:solidFill>
              </a:rPr>
              <a:t>TƯƠNG TRANH KHI ĐẶT LỊCH</a:t>
            </a:r>
            <a:endParaRPr lang="en-US" sz="3100" b="1" dirty="0">
              <a:solidFill>
                <a:srgbClr val="2B5B9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7100" y="2677400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 smtClean="0">
                <a:solidFill>
                  <a:srgbClr val="4E5B69"/>
                </a:solidFill>
              </a:rPr>
              <a:t>Hai request </a:t>
            </a:r>
            <a:r>
              <a:rPr lang="en-US" sz="1600" dirty="0" err="1" smtClean="0">
                <a:solidFill>
                  <a:srgbClr val="4E5B69"/>
                </a:solidFill>
              </a:rPr>
              <a:t>cùng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chọn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một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khung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giờ</a:t>
            </a:r>
            <a:r>
              <a:rPr lang="en-US" sz="1600" dirty="0" smtClean="0">
                <a:solidFill>
                  <a:srgbClr val="4E5B69"/>
                </a:solidFill>
              </a:rPr>
              <a:t> – </a:t>
            </a:r>
            <a:r>
              <a:rPr lang="en-US" sz="1600" dirty="0" err="1" smtClean="0">
                <a:solidFill>
                  <a:srgbClr val="4E5B69"/>
                </a:solidFill>
              </a:rPr>
              <a:t>hệ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thống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bảo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vệ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dữ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liệu</a:t>
            </a:r>
            <a:r>
              <a:rPr lang="en-US" sz="1600" dirty="0" smtClean="0">
                <a:solidFill>
                  <a:srgbClr val="4E5B69"/>
                </a:solidFill>
              </a:rPr>
              <a:t> qua </a:t>
            </a:r>
            <a:r>
              <a:rPr lang="en-US" sz="1600" dirty="0" err="1" smtClean="0">
                <a:solidFill>
                  <a:srgbClr val="4E5B69"/>
                </a:solidFill>
              </a:rPr>
              <a:t>hai</a:t>
            </a:r>
            <a:r>
              <a:rPr lang="en-US" sz="1600" dirty="0" smtClean="0">
                <a:solidFill>
                  <a:srgbClr val="4E5B69"/>
                </a:solidFill>
              </a:rPr>
              <a:t> </a:t>
            </a:r>
            <a:r>
              <a:rPr lang="en-US" sz="1600" dirty="0" err="1" smtClean="0">
                <a:solidFill>
                  <a:srgbClr val="4E5B69"/>
                </a:solidFill>
              </a:rPr>
              <a:t>lớp</a:t>
            </a:r>
            <a:r>
              <a:rPr lang="en-US" sz="1600" dirty="0" smtClean="0">
                <a:solidFill>
                  <a:srgbClr val="4E5B69"/>
                </a:solidFill>
              </a:rPr>
              <a:t>.</a:t>
            </a:r>
            <a:endParaRPr lang="en-US" sz="1600" dirty="0">
              <a:solidFill>
                <a:srgbClr val="4E5B69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8200" y="3733944"/>
            <a:ext cx="38100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5500" y="3632200"/>
            <a:ext cx="127000" cy="2603500"/>
          </a:xfrm>
          <a:prstGeom prst="rect">
            <a:avLst/>
          </a:prstGeom>
          <a:solidFill>
            <a:srgbClr val="4E5B69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68400" y="3871471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4E5B69"/>
                </a:solidFill>
              </a:rPr>
              <a:t>REQUEST ĐỒNG THỜI</a:t>
            </a:r>
            <a:endParaRPr lang="en-US" sz="1900" b="1" dirty="0">
              <a:solidFill>
                <a:srgbClr val="4E5B6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7600" y="4521032"/>
            <a:ext cx="32004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 smtClean="0">
                <a:solidFill>
                  <a:srgbClr val="152D4B"/>
                </a:solidFill>
              </a:rPr>
              <a:t>Request A </a:t>
            </a:r>
            <a:r>
              <a:rPr lang="en-US" sz="2000" dirty="0" err="1" smtClean="0">
                <a:solidFill>
                  <a:srgbClr val="152D4B"/>
                </a:solidFill>
              </a:rPr>
              <a:t>và</a:t>
            </a:r>
            <a:r>
              <a:rPr lang="en-US" sz="2000" dirty="0" smtClean="0">
                <a:solidFill>
                  <a:srgbClr val="152D4B"/>
                </a:solidFill>
              </a:rPr>
              <a:t> Request B </a:t>
            </a:r>
            <a:r>
              <a:rPr lang="en-US" sz="2000" dirty="0" err="1" smtClean="0">
                <a:solidFill>
                  <a:srgbClr val="152D4B"/>
                </a:solidFill>
              </a:rPr>
              <a:t>cùng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gửi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yêu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cầu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đặt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một</a:t>
            </a:r>
            <a:r>
              <a:rPr lang="en-US" sz="2000" dirty="0" smtClean="0">
                <a:solidFill>
                  <a:srgbClr val="152D4B"/>
                </a:solidFill>
              </a:rPr>
              <a:t> slot </a:t>
            </a:r>
            <a:r>
              <a:rPr lang="en-US" sz="2000" dirty="0" err="1" smtClean="0">
                <a:solidFill>
                  <a:srgbClr val="152D4B"/>
                </a:solidFill>
              </a:rPr>
              <a:t>của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bác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sĩ</a:t>
            </a:r>
            <a:r>
              <a:rPr lang="en-US" sz="2000" dirty="0" smtClean="0">
                <a:solidFill>
                  <a:srgbClr val="152D4B"/>
                </a:solidFill>
              </a:rPr>
              <a:t>.</a:t>
            </a:r>
            <a:endParaRPr lang="en-US" sz="2000" dirty="0">
              <a:solidFill>
                <a:srgbClr val="152D4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75200" y="4466247"/>
            <a:ext cx="69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 dirty="0" smtClean="0">
                <a:solidFill>
                  <a:srgbClr val="2B5B91"/>
                </a:solidFill>
              </a:rPr>
              <a:t>→</a:t>
            </a:r>
            <a:endParaRPr lang="en-US" sz="3000" b="1" dirty="0">
              <a:solidFill>
                <a:srgbClr val="2B5B9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02300" y="3670300"/>
            <a:ext cx="46736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600700" y="3632200"/>
            <a:ext cx="127000" cy="26035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62009" y="3794083"/>
            <a:ext cx="370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2B5B91"/>
                </a:solidFill>
              </a:rPr>
              <a:t>SPRING BOOT -TRANSACTION</a:t>
            </a:r>
            <a:endParaRPr lang="en-US" sz="1900" b="1" dirty="0">
              <a:solidFill>
                <a:srgbClr val="2B5B9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78500" y="4213255"/>
            <a:ext cx="4597400" cy="15388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 err="1" smtClean="0">
                <a:solidFill>
                  <a:srgbClr val="152D4B"/>
                </a:solidFill>
              </a:rPr>
              <a:t>Kiểm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tra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bác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sĩ</a:t>
            </a:r>
            <a:r>
              <a:rPr lang="en-US" sz="2000" dirty="0" smtClean="0">
                <a:solidFill>
                  <a:srgbClr val="152D4B"/>
                </a:solidFill>
              </a:rPr>
              <a:t>, </a:t>
            </a:r>
            <a:r>
              <a:rPr lang="en-US" sz="2000" dirty="0" err="1" smtClean="0">
                <a:solidFill>
                  <a:srgbClr val="152D4B"/>
                </a:solidFill>
              </a:rPr>
              <a:t>bệnh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nhân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và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khung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giờ</a:t>
            </a:r>
            <a:endParaRPr lang="en-US" sz="2000" dirty="0" smtClean="0">
              <a:solidFill>
                <a:srgbClr val="152D4B"/>
              </a:solidFill>
            </a:endParaRPr>
          </a:p>
          <a:p>
            <a:r>
              <a:rPr lang="en-US" sz="2000" dirty="0" err="1" smtClean="0">
                <a:solidFill>
                  <a:srgbClr val="152D4B"/>
                </a:solidFill>
              </a:rPr>
              <a:t>Toàn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bộ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thao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tác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đặt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lịch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chạy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trong</a:t>
            </a:r>
            <a:r>
              <a:rPr lang="en-US" sz="2000" dirty="0" smtClean="0">
                <a:solidFill>
                  <a:srgbClr val="152D4B"/>
                </a:solidFill>
              </a:rPr>
              <a:t> @Transactional</a:t>
            </a:r>
          </a:p>
          <a:p>
            <a:r>
              <a:rPr lang="en-US" sz="2000" dirty="0" err="1" smtClean="0">
                <a:solidFill>
                  <a:srgbClr val="152D4B"/>
                </a:solidFill>
              </a:rPr>
              <a:t>Có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lỗi</a:t>
            </a:r>
            <a:r>
              <a:rPr lang="en-US" sz="2000" dirty="0" smtClean="0">
                <a:solidFill>
                  <a:srgbClr val="152D4B"/>
                </a:solidFill>
              </a:rPr>
              <a:t> -&gt; </a:t>
            </a:r>
            <a:r>
              <a:rPr lang="en-US" sz="2000" dirty="0" err="1" smtClean="0">
                <a:solidFill>
                  <a:srgbClr val="152D4B"/>
                </a:solidFill>
              </a:rPr>
              <a:t>rollback,không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lưu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lịch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đang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dở</a:t>
            </a:r>
            <a:endParaRPr lang="en-US" sz="2000" dirty="0" smtClean="0">
              <a:solidFill>
                <a:srgbClr val="152D4B"/>
              </a:solidFill>
            </a:endParaRPr>
          </a:p>
          <a:p>
            <a:r>
              <a:rPr lang="en-US" sz="2000" dirty="0" err="1" smtClean="0">
                <a:solidFill>
                  <a:srgbClr val="152D4B"/>
                </a:solidFill>
              </a:rPr>
              <a:t>Thành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công</a:t>
            </a:r>
            <a:r>
              <a:rPr lang="en-US" sz="2000" dirty="0" smtClean="0">
                <a:solidFill>
                  <a:srgbClr val="152D4B"/>
                </a:solidFill>
              </a:rPr>
              <a:t> -&gt; commit </a:t>
            </a:r>
            <a:r>
              <a:rPr lang="en-US" sz="2000" dirty="0" err="1" smtClean="0">
                <a:solidFill>
                  <a:srgbClr val="152D4B"/>
                </a:solidFill>
              </a:rPr>
              <a:t>toàn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bộ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giao</a:t>
            </a:r>
            <a:r>
              <a:rPr lang="en-US" sz="2000" dirty="0" smtClean="0">
                <a:solidFill>
                  <a:srgbClr val="152D4B"/>
                </a:solidFill>
              </a:rPr>
              <a:t> </a:t>
            </a:r>
            <a:r>
              <a:rPr lang="en-US" sz="2000" dirty="0" err="1" smtClean="0">
                <a:solidFill>
                  <a:srgbClr val="152D4B"/>
                </a:solidFill>
              </a:rPr>
              <a:t>dịch</a:t>
            </a:r>
            <a:endParaRPr lang="en-US" sz="2000" dirty="0">
              <a:solidFill>
                <a:srgbClr val="152D4B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74300" y="4510385"/>
            <a:ext cx="69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000" b="1" dirty="0" smtClean="0">
                <a:solidFill>
                  <a:srgbClr val="2B5B91"/>
                </a:solidFill>
              </a:rPr>
              <a:t>→</a:t>
            </a:r>
            <a:endParaRPr lang="en-US" sz="3000" b="1" dirty="0">
              <a:solidFill>
                <a:srgbClr val="2B5B9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049000" y="3703709"/>
            <a:ext cx="4445000" cy="26035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998200" y="3709746"/>
            <a:ext cx="127000" cy="2603500"/>
          </a:xfrm>
          <a:prstGeom prst="rect">
            <a:avLst/>
          </a:prstGeom>
          <a:solidFill>
            <a:srgbClr val="6E4F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1341100" y="3848268"/>
            <a:ext cx="3835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6E4FAA"/>
                </a:solidFill>
              </a:rPr>
              <a:t>MYSQL – LỚP BẢO VỆ CUỐI</a:t>
            </a:r>
            <a:endParaRPr lang="en-US" sz="1900" b="1" dirty="0">
              <a:solidFill>
                <a:srgbClr val="6E4FAA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04600" y="4412595"/>
            <a:ext cx="38354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dirty="0" smtClean="0">
                <a:solidFill>
                  <a:srgbClr val="152D4B"/>
                </a:solidFill>
              </a:rPr>
              <a:t>UNIQUE (</a:t>
            </a:r>
            <a:r>
              <a:rPr lang="en-US" sz="2000" dirty="0" err="1" smtClean="0">
                <a:solidFill>
                  <a:srgbClr val="152D4B"/>
                </a:solidFill>
              </a:rPr>
              <a:t>therapist_id</a:t>
            </a:r>
            <a:r>
              <a:rPr lang="en-US" sz="2000" dirty="0" smtClean="0">
                <a:solidFill>
                  <a:srgbClr val="152D4B"/>
                </a:solidFill>
              </a:rPr>
              <a:t>, </a:t>
            </a:r>
            <a:r>
              <a:rPr lang="en-US" sz="2000" dirty="0" err="1" smtClean="0">
                <a:solidFill>
                  <a:srgbClr val="152D4B"/>
                </a:solidFill>
              </a:rPr>
              <a:t>start_at</a:t>
            </a:r>
            <a:r>
              <a:rPr lang="en-US" sz="2000" dirty="0" smtClean="0">
                <a:solidFill>
                  <a:srgbClr val="152D4B"/>
                </a:solidFill>
              </a:rPr>
              <a:t>)</a:t>
            </a:r>
          </a:p>
          <a:p>
            <a:r>
              <a:rPr lang="en-US" sz="2000" dirty="0" smtClean="0">
                <a:solidFill>
                  <a:srgbClr val="152D4B"/>
                </a:solidFill>
              </a:rPr>
              <a:t>UNIQUE (</a:t>
            </a:r>
            <a:r>
              <a:rPr lang="en-US" sz="2000" dirty="0" err="1" smtClean="0">
                <a:solidFill>
                  <a:srgbClr val="152D4B"/>
                </a:solidFill>
              </a:rPr>
              <a:t>patient_id</a:t>
            </a:r>
            <a:r>
              <a:rPr lang="en-US" sz="2000" dirty="0" smtClean="0">
                <a:solidFill>
                  <a:srgbClr val="152D4B"/>
                </a:solidFill>
              </a:rPr>
              <a:t>, </a:t>
            </a:r>
            <a:r>
              <a:rPr lang="en-US" sz="2000" dirty="0" err="1" smtClean="0">
                <a:solidFill>
                  <a:srgbClr val="152D4B"/>
                </a:solidFill>
              </a:rPr>
              <a:t>start_at</a:t>
            </a:r>
            <a:r>
              <a:rPr lang="en-US" sz="2000" dirty="0" smtClean="0">
                <a:solidFill>
                  <a:srgbClr val="152D4B"/>
                </a:solidFill>
              </a:rPr>
              <a:t>)</a:t>
            </a:r>
            <a:endParaRPr lang="en-US" sz="2000" dirty="0">
              <a:solidFill>
                <a:srgbClr val="152D4B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210400" y="6883400"/>
            <a:ext cx="4191000" cy="533400"/>
          </a:xfrm>
          <a:prstGeom prst="round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500" b="1" dirty="0" smtClean="0">
                <a:solidFill>
                  <a:srgbClr val="FFFFFF"/>
                </a:solidFill>
              </a:rPr>
              <a:t>200 OK – Lịch được tạo</a:t>
            </a:r>
            <a:endParaRPr lang="en-US" sz="1500" b="1" dirty="0">
              <a:solidFill>
                <a:srgbClr val="FFFFFF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928100" y="6883400"/>
            <a:ext cx="4826000" cy="533400"/>
          </a:xfrm>
          <a:prstGeom prst="roundRect">
            <a:avLst/>
          </a:prstGeom>
          <a:solidFill>
            <a:srgbClr val="CD474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smtClean="0">
                <a:solidFill>
                  <a:srgbClr val="FFFFFF"/>
                </a:solidFill>
              </a:rPr>
              <a:t>409 Conflict – Từ chối lịch trùng</a:t>
            </a:r>
            <a:endParaRPr lang="en-US" sz="1500" b="1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</a:rPr>
              <a:t>15 / 19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5900" y="474860"/>
            <a:ext cx="8465519" cy="1006007"/>
          </a:xfrm>
          <a:prstGeom prst="round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KẾT QUẢ &amp; DEMO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927100" y="1426309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100" b="1" dirty="0" smtClean="0">
                <a:solidFill>
                  <a:srgbClr val="2B5B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ĐÁNH GIÁ AI</a:t>
            </a:r>
            <a:endParaRPr lang="en-US" sz="3100" b="1" dirty="0">
              <a:solidFill>
                <a:srgbClr val="2B5B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2500" y="1988979"/>
            <a:ext cx="142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600" smtClean="0">
                <a:solidFill>
                  <a:srgbClr val="4E5B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Đánh giá ở mức chức năng phần mềm; chưa phải thử nghiệm lâm sàng.</a:t>
            </a:r>
            <a:endParaRPr lang="en-US" sz="1600">
              <a:solidFill>
                <a:srgbClr val="4E5B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90600" y="3257153"/>
            <a:ext cx="660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9000" y="3136900"/>
            <a:ext cx="127000" cy="3810000"/>
          </a:xfrm>
          <a:prstGeom prst="rect">
            <a:avLst/>
          </a:prstGeom>
          <a:solidFill>
            <a:srgbClr val="228B5E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08100" y="3530530"/>
            <a:ext cx="599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228B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ĐẠT</a:t>
            </a:r>
            <a:endParaRPr lang="en-US" sz="1900" b="1" dirty="0">
              <a:solidFill>
                <a:srgbClr val="228B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7600" y="4229318"/>
            <a:ext cx="59944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 API và JSON contract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 Qdrant RAG – reindex thành công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 Fallback khi Gemini/Qdrant lỗi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✓ Thought Record lưu AI metadata</a:t>
            </a:r>
            <a:endParaRPr lang="en-US" sz="22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255000" y="3394095"/>
            <a:ext cx="6604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29600" y="3247648"/>
            <a:ext cx="127000" cy="3810000"/>
          </a:xfrm>
          <a:prstGeom prst="rect">
            <a:avLst/>
          </a:prstGeom>
          <a:solidFill>
            <a:srgbClr val="E2972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47100" y="3648605"/>
            <a:ext cx="599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 smtClean="0">
                <a:solidFill>
                  <a:srgbClr val="E297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CẦN HIỆU CHỈNH</a:t>
            </a:r>
            <a:endParaRPr lang="en-US" sz="1900" b="1" dirty="0">
              <a:solidFill>
                <a:srgbClr val="E2972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47100" y="4238823"/>
            <a:ext cx="59944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△ Nhận diện distortion: đạt một phần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△ Corpus tri thức còn nhỏ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Chưa có tập nhãn chuyên gia đủ lớn</a:t>
            </a:r>
          </a:p>
          <a:p>
            <a:r>
              <a:rPr lang="vi-VN" sz="2200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Chưa đánh giá lâm sàng</a:t>
            </a:r>
            <a:endParaRPr lang="en-US" sz="2200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24000" y="7261423"/>
            <a:ext cx="13081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2000" b="1" dirty="0" smtClean="0">
                <a:solidFill>
                  <a:srgbClr val="152D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hỗ trợ nhận thức và điều hướng an toàn; không chẩn đoán hoặc thay thế quyết định của bác sĩ.</a:t>
            </a:r>
            <a:endParaRPr lang="en-US" sz="2000" b="1" dirty="0">
              <a:solidFill>
                <a:srgbClr val="152D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1607800" y="7493000"/>
            <a:ext cx="3708400" cy="1041400"/>
          </a:xfrm>
          <a:prstGeom prst="roundRect">
            <a:avLst/>
          </a:prstGeom>
          <a:solidFill>
            <a:srgbClr val="F1F8FD"/>
          </a:solidFill>
          <a:ln>
            <a:solidFill>
              <a:srgbClr val="BCD1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61800" y="7645400"/>
            <a:ext cx="317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 smtClean="0">
                <a:solidFill>
                  <a:srgbClr val="0E30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Minh chứng đánh giá</a:t>
            </a:r>
            <a:endParaRPr lang="en-US" sz="1200" b="1">
              <a:solidFill>
                <a:srgbClr val="0E30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11861800" y="7975600"/>
            <a:ext cx="3175000" cy="533400"/>
          </a:xfrm>
          <a:prstGeom prst="roundRect">
            <a:avLst/>
          </a:prstGeom>
          <a:solidFill>
            <a:srgbClr val="1C4EA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↗  MỞ BÁO CÁO ĐÁNH GIÁ AI</a:t>
            </a:r>
            <a:endParaRPr lang="en-US" sz="1300" b="1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/ 19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5900" y="474860"/>
            <a:ext cx="8465519" cy="1006007"/>
          </a:xfrm>
          <a:prstGeom prst="round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KẾT QUẢ &amp; DEMO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4944" y="1610064"/>
            <a:ext cx="1088136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 smtClean="0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HIỂU ĐƯỢC CƠ BẢN VÀ ÁP DỤNG THÀNH CÔNG </a:t>
            </a:r>
            <a:r>
              <a:rPr sz="2800" b="1" dirty="0" smtClean="0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solidFill>
                  <a:srgbClr val="183E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RAG TRONG RECONNECT MINDHEALTH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895721"/>
            <a:ext cx="1112824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hồi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tri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CBT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Gemini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lời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đây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phải</a:t>
            </a:r>
            <a:r>
              <a:rPr sz="2000" b="0" dirty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fine-tuning.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" y="3609945"/>
            <a:ext cx="34533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INGEST – NẠP TRI THỨC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8973" y="5844540"/>
            <a:ext cx="2834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724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– TRẢ LỜI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" y="4024884"/>
            <a:ext cx="242316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3816" y="4024884"/>
            <a:ext cx="73152" cy="1325880"/>
          </a:xfrm>
          <a:prstGeom prst="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2" y="4201629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Markdown /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4591812"/>
            <a:ext cx="20116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 tri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CBT</a:t>
            </a:r>
          </a:p>
        </p:txBody>
      </p:sp>
      <p:sp>
        <p:nvSpPr>
          <p:cNvPr id="10" name="Chevron 9"/>
          <p:cNvSpPr/>
          <p:nvPr/>
        </p:nvSpPr>
        <p:spPr>
          <a:xfrm>
            <a:off x="3282695" y="4472940"/>
            <a:ext cx="347472" cy="420624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75887" y="4024884"/>
            <a:ext cx="3022599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675888" y="4024884"/>
            <a:ext cx="73152" cy="1325880"/>
          </a:xfrm>
          <a:prstGeom prst="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9860" y="4185808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4591812"/>
            <a:ext cx="276148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 + paragraph
900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overlap 120</a:t>
            </a:r>
          </a:p>
        </p:txBody>
      </p:sp>
      <p:sp>
        <p:nvSpPr>
          <p:cNvPr id="15" name="Chevron 14"/>
          <p:cNvSpPr/>
          <p:nvPr/>
        </p:nvSpPr>
        <p:spPr>
          <a:xfrm>
            <a:off x="6743194" y="4464304"/>
            <a:ext cx="347472" cy="420624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098282" y="4054976"/>
            <a:ext cx="242316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866889" y="4107046"/>
            <a:ext cx="73152" cy="1325880"/>
          </a:xfrm>
          <a:prstGeom prst="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44586" y="4185808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 Embedding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9541764" y="4472940"/>
            <a:ext cx="347472" cy="420624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938508" y="4088758"/>
            <a:ext cx="242316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90666" y="4047745"/>
            <a:ext cx="73152" cy="1325880"/>
          </a:xfrm>
          <a:prstGeom prst="rect">
            <a:avLst/>
          </a:prstGeom>
          <a:solidFill>
            <a:srgbClr val="2D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45269" y="4139278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 err="1">
                <a:solidFill>
                  <a:srgbClr val="2D67A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Qdrant</a:t>
            </a:r>
            <a:endParaRPr sz="1500" b="1" dirty="0">
              <a:solidFill>
                <a:srgbClr val="2D67A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71174" y="4512964"/>
            <a:ext cx="20116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Cosine similarity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3" y="6210300"/>
            <a:ext cx="196596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8973" y="6210300"/>
            <a:ext cx="73152" cy="1325880"/>
          </a:xfrm>
          <a:prstGeom prst="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38429" y="6387045"/>
            <a:ext cx="15544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724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 hỏi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8429" y="6777228"/>
            <a:ext cx="2039112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Kèm</a:t>
            </a:r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screen context</a:t>
            </a:r>
          </a:p>
        </p:txBody>
      </p:sp>
      <p:sp>
        <p:nvSpPr>
          <p:cNvPr id="29" name="Chevron 28"/>
          <p:cNvSpPr/>
          <p:nvPr/>
        </p:nvSpPr>
        <p:spPr>
          <a:xfrm>
            <a:off x="2930652" y="6658356"/>
            <a:ext cx="347472" cy="420624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323845" y="6210300"/>
            <a:ext cx="196596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323845" y="6210300"/>
            <a:ext cx="73152" cy="1325880"/>
          </a:xfrm>
          <a:prstGeom prst="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43301" y="6271629"/>
            <a:ext cx="1554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724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Embedding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3301" y="6777228"/>
            <a:ext cx="19431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vector</a:t>
            </a:r>
          </a:p>
        </p:txBody>
      </p:sp>
      <p:sp>
        <p:nvSpPr>
          <p:cNvPr id="34" name="Chevron 33"/>
          <p:cNvSpPr/>
          <p:nvPr/>
        </p:nvSpPr>
        <p:spPr>
          <a:xfrm>
            <a:off x="5335525" y="6658356"/>
            <a:ext cx="347472" cy="420624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728717" y="6210300"/>
            <a:ext cx="196596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728717" y="6210300"/>
            <a:ext cx="73152" cy="1325880"/>
          </a:xfrm>
          <a:prstGeom prst="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8173" y="6271629"/>
            <a:ext cx="1554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724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Top-K 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8173" y="6777228"/>
            <a:ext cx="15544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sz="22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endParaRPr sz="2200" b="0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Chevron 38"/>
          <p:cNvSpPr/>
          <p:nvPr/>
        </p:nvSpPr>
        <p:spPr>
          <a:xfrm>
            <a:off x="7740397" y="6658356"/>
            <a:ext cx="347472" cy="420624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33589" y="6210300"/>
            <a:ext cx="196596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133589" y="6210300"/>
            <a:ext cx="73152" cy="1325880"/>
          </a:xfrm>
          <a:prstGeom prst="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53045" y="6271629"/>
            <a:ext cx="1554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724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+ Context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045" y="6777228"/>
            <a:ext cx="15544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Grounded response</a:t>
            </a:r>
          </a:p>
        </p:txBody>
      </p:sp>
      <p:sp>
        <p:nvSpPr>
          <p:cNvPr id="44" name="Chevron 43"/>
          <p:cNvSpPr/>
          <p:nvPr/>
        </p:nvSpPr>
        <p:spPr>
          <a:xfrm>
            <a:off x="10145269" y="6658356"/>
            <a:ext cx="347472" cy="420624"/>
          </a:xfrm>
          <a:prstGeom prst="chevron">
            <a:avLst/>
          </a:prstGeom>
          <a:solidFill>
            <a:srgbClr val="E0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0538460" y="6210300"/>
            <a:ext cx="2720340" cy="13258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8D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538460" y="6210300"/>
            <a:ext cx="73152" cy="1325880"/>
          </a:xfrm>
          <a:prstGeom prst="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757916" y="6271629"/>
            <a:ext cx="15544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724E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Gemini / Fallback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57916" y="6777228"/>
            <a:ext cx="25008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dirty="0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contract an </a:t>
            </a:r>
            <a:r>
              <a:rPr sz="2200" b="0" dirty="0" err="1">
                <a:solidFill>
                  <a:srgbClr val="1E31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endParaRPr sz="2200" b="0" dirty="0">
              <a:solidFill>
                <a:srgbClr val="1E31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 / 19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5900" y="474860"/>
            <a:ext cx="8465519" cy="1006007"/>
          </a:xfrm>
          <a:prstGeom prst="round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853319" y="592308"/>
            <a:ext cx="939608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KẾT QUẢ &amp; DEMO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889000" y="1508752"/>
            <a:ext cx="14478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100" b="1" dirty="0" smtClean="0">
                <a:solidFill>
                  <a:srgbClr val="2B5B91"/>
                </a:solidFill>
              </a:rPr>
              <a:t>KẾT LUẬN VÀ HƯỚNG PHÁT TRIỂN</a:t>
            </a:r>
            <a:endParaRPr lang="en-US" sz="3100" b="1" dirty="0">
              <a:solidFill>
                <a:srgbClr val="2B5B9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9000" y="21590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89000" y="2159000"/>
            <a:ext cx="127000" cy="4953000"/>
          </a:xfrm>
          <a:prstGeom prst="rect">
            <a:avLst/>
          </a:prstGeom>
          <a:solidFill>
            <a:srgbClr val="2B5B91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244600" y="2387600"/>
            <a:ext cx="624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b="1" dirty="0" smtClean="0">
                <a:solidFill>
                  <a:srgbClr val="2B5B91"/>
                </a:solidFill>
              </a:rPr>
              <a:t>KẾT LUẬN</a:t>
            </a:r>
            <a:endParaRPr lang="en-US" sz="2100" b="1" dirty="0">
              <a:solidFill>
                <a:srgbClr val="2B5B9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44600" y="2946400"/>
            <a:ext cx="6248400" cy="307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500" dirty="0" smtClean="0">
                <a:solidFill>
                  <a:srgbClr val="152D4B"/>
                </a:solidFill>
              </a:rPr>
              <a:t>• Hoàn thiện hệ thống đa vai trò App – CMS – Backend</a:t>
            </a:r>
          </a:p>
          <a:p>
            <a:r>
              <a:rPr lang="vi-VN" sz="2500" dirty="0" smtClean="0">
                <a:solidFill>
                  <a:srgbClr val="152D4B"/>
                </a:solidFill>
              </a:rPr>
              <a:t>• Số hóa các luồng CBT cốt lõi cho lo âu xã hội</a:t>
            </a:r>
          </a:p>
          <a:p>
            <a:r>
              <a:rPr lang="vi-VN" sz="2500" dirty="0" smtClean="0">
                <a:solidFill>
                  <a:srgbClr val="152D4B"/>
                </a:solidFill>
              </a:rPr>
              <a:t>• Tích hợp vector RAG và cơ chế fallback an toàn</a:t>
            </a:r>
          </a:p>
          <a:p>
            <a:r>
              <a:rPr lang="vi-VN" sz="2500" dirty="0" smtClean="0">
                <a:solidFill>
                  <a:srgbClr val="152D4B"/>
                </a:solidFill>
              </a:rPr>
              <a:t>• Bảo vệ toàn vẹn lịch hẹn bằng transaction và constraint</a:t>
            </a:r>
            <a:endParaRPr lang="en-US" sz="2500" dirty="0">
              <a:solidFill>
                <a:srgbClr val="152D4B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382000" y="2159000"/>
            <a:ext cx="6858000" cy="495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D1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382000" y="2159000"/>
            <a:ext cx="127000" cy="4953000"/>
          </a:xfrm>
          <a:prstGeom prst="rect">
            <a:avLst/>
          </a:prstGeom>
          <a:solidFill>
            <a:srgbClr val="32858C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737600" y="2387600"/>
            <a:ext cx="624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100" b="1" dirty="0" smtClean="0">
                <a:solidFill>
                  <a:srgbClr val="32858C"/>
                </a:solidFill>
              </a:rPr>
              <a:t>HƯỚNG PHÁT TRIỂN</a:t>
            </a:r>
            <a:endParaRPr lang="en-US" sz="2100" b="1" dirty="0">
              <a:solidFill>
                <a:srgbClr val="32858C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7600" y="2946400"/>
            <a:ext cx="6248400" cy="30777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2500" dirty="0" smtClean="0">
                <a:solidFill>
                  <a:srgbClr val="152D4B"/>
                </a:solidFill>
              </a:rPr>
              <a:t>• Mở rộng và thẩm định corpus tri thức với chuyên gia</a:t>
            </a:r>
          </a:p>
          <a:p>
            <a:r>
              <a:rPr lang="vi-VN" sz="2500" dirty="0" smtClean="0">
                <a:solidFill>
                  <a:srgbClr val="152D4B"/>
                </a:solidFill>
              </a:rPr>
              <a:t>• Đánh giá AI trên tập dữ liệu được gán nhãn</a:t>
            </a:r>
          </a:p>
          <a:p>
            <a:r>
              <a:rPr lang="vi-VN" sz="2500" dirty="0" smtClean="0">
                <a:solidFill>
                  <a:srgbClr val="152D4B"/>
                </a:solidFill>
              </a:rPr>
              <a:t>• Bổ sung video call và thông báo thời gian thực</a:t>
            </a:r>
          </a:p>
          <a:p>
            <a:r>
              <a:rPr lang="vi-VN" sz="2500" dirty="0" smtClean="0">
                <a:solidFill>
                  <a:srgbClr val="152D4B"/>
                </a:solidFill>
              </a:rPr>
              <a:t>• Tăng cường audit, bảo mật khóa và triển khai production</a:t>
            </a:r>
            <a:endParaRPr lang="en-US" sz="2500" dirty="0">
              <a:solidFill>
                <a:srgbClr val="152D4B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064240" y="6529373"/>
            <a:ext cx="64008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</a:rPr>
              <a:t>18 / 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33290" y="304004"/>
            <a:ext cx="9019700" cy="1178933"/>
          </a:xfrm>
          <a:prstGeom prst="roundRect">
            <a:avLst/>
          </a:prstGeom>
          <a:solidFill>
            <a:srgbClr val="724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32000" y="231750"/>
            <a:ext cx="860829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</a:t>
            </a:r>
            <a:r>
              <a:rPr lang="en-US" sz="4000" b="1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5: KẾT LUẬN VÀ HƯỚNG PHÁT TRIỂN</a:t>
            </a:r>
            <a:endParaRPr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31947" y="-383853"/>
            <a:ext cx="11054707" cy="1105470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2541448" y="0"/>
            <a:ext cx="4056204" cy="4123136"/>
            <a:chOff x="0" y="0"/>
            <a:chExt cx="799606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99606" cy="812800"/>
            </a:xfrm>
            <a:custGeom>
              <a:avLst/>
              <a:gdLst/>
              <a:ahLst/>
              <a:cxnLst/>
              <a:rect l="l" t="t" r="r" b="b"/>
              <a:pathLst>
                <a:path w="799606" h="812800">
                  <a:moveTo>
                    <a:pt x="399803" y="0"/>
                  </a:moveTo>
                  <a:cubicBezTo>
                    <a:pt x="178998" y="0"/>
                    <a:pt x="0" y="181951"/>
                    <a:pt x="0" y="406400"/>
                  </a:cubicBezTo>
                  <a:cubicBezTo>
                    <a:pt x="0" y="630849"/>
                    <a:pt x="178998" y="812800"/>
                    <a:pt x="399803" y="812800"/>
                  </a:cubicBezTo>
                  <a:cubicBezTo>
                    <a:pt x="620608" y="812800"/>
                    <a:pt x="799606" y="630849"/>
                    <a:pt x="799606" y="406400"/>
                  </a:cubicBezTo>
                  <a:cubicBezTo>
                    <a:pt x="799606" y="181951"/>
                    <a:pt x="620608" y="0"/>
                    <a:pt x="399803" y="0"/>
                  </a:cubicBezTo>
                  <a:close/>
                </a:path>
              </a:pathLst>
            </a:custGeom>
            <a:ln w="628650" cap="sq">
              <a:solidFill>
                <a:srgbClr val="3E8CB7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63" y="38100"/>
              <a:ext cx="64968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10788" y="9421802"/>
            <a:ext cx="2498104" cy="249810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8CB7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245890" y="2061568"/>
            <a:ext cx="486056" cy="448083"/>
          </a:xfrm>
          <a:custGeom>
            <a:avLst/>
            <a:gdLst/>
            <a:ahLst/>
            <a:cxnLst/>
            <a:rect l="l" t="t" r="r" b="b"/>
            <a:pathLst>
              <a:path w="486056" h="448083">
                <a:moveTo>
                  <a:pt x="0" y="0"/>
                </a:moveTo>
                <a:lnTo>
                  <a:pt x="486057" y="0"/>
                </a:lnTo>
                <a:lnTo>
                  <a:pt x="486057" y="448083"/>
                </a:lnTo>
                <a:lnTo>
                  <a:pt x="0" y="448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609799" y="7186245"/>
            <a:ext cx="486056" cy="448083"/>
          </a:xfrm>
          <a:custGeom>
            <a:avLst/>
            <a:gdLst/>
            <a:ahLst/>
            <a:cxnLst/>
            <a:rect l="l" t="t" r="r" b="b"/>
            <a:pathLst>
              <a:path w="486056" h="448083">
                <a:moveTo>
                  <a:pt x="0" y="0"/>
                </a:moveTo>
                <a:lnTo>
                  <a:pt x="486056" y="0"/>
                </a:lnTo>
                <a:lnTo>
                  <a:pt x="486056" y="448083"/>
                </a:lnTo>
                <a:lnTo>
                  <a:pt x="0" y="4480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28700" y="3097926"/>
            <a:ext cx="10125514" cy="4138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236"/>
              </a:lnSpc>
            </a:pPr>
            <a:r>
              <a:rPr lang="en-US" sz="13997" b="1" dirty="0">
                <a:solidFill>
                  <a:srgbClr val="2A4263"/>
                </a:solidFill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CẢM ƠN</a:t>
            </a:r>
          </a:p>
          <a:p>
            <a:pPr marL="0" lvl="0" indent="0" algn="ctr">
              <a:lnSpc>
                <a:spcPts val="16236"/>
              </a:lnSpc>
            </a:pPr>
            <a:r>
              <a:rPr lang="en-US" sz="13997" b="1" dirty="0">
                <a:solidFill>
                  <a:srgbClr val="2A4263"/>
                </a:solidFill>
                <a:latin typeface="Arial" panose="020B0604020202020204" pitchFamily="34" charset="0"/>
                <a:ea typeface="League Spartan"/>
                <a:cs typeface="Arial" panose="020B0604020202020204" pitchFamily="34" charset="0"/>
                <a:sym typeface="League Spartan"/>
              </a:rPr>
              <a:t>QUÝ VỊ!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8802049"/>
            <a:ext cx="6285149" cy="45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4"/>
              </a:lnSpc>
            </a:pPr>
            <a:r>
              <a:rPr lang="en-US" sz="2660">
                <a:solidFill>
                  <a:srgbClr val="2A426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Sinh viên thực hiện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00164" y="8753067"/>
            <a:ext cx="4463565" cy="456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24"/>
              </a:lnSpc>
            </a:pPr>
            <a:r>
              <a:rPr lang="en-US" sz="2660" b="1">
                <a:solidFill>
                  <a:srgbClr val="2A426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Nguyễn Khắc Nam Phương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00164" y="-1550961"/>
            <a:ext cx="2498104" cy="249810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8CB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rot="2599173">
            <a:off x="2531375" y="1367104"/>
            <a:ext cx="609542" cy="561922"/>
          </a:xfrm>
          <a:custGeom>
            <a:avLst/>
            <a:gdLst/>
            <a:ahLst/>
            <a:cxnLst/>
            <a:rect l="l" t="t" r="r" b="b"/>
            <a:pathLst>
              <a:path w="609542" h="561922">
                <a:moveTo>
                  <a:pt x="0" y="0"/>
                </a:moveTo>
                <a:lnTo>
                  <a:pt x="609542" y="0"/>
                </a:lnTo>
                <a:lnTo>
                  <a:pt x="609542" y="561922"/>
                </a:lnTo>
                <a:lnTo>
                  <a:pt x="0" y="5619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31484" t="-39236" r="-39297" b="-46019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64240" y="653796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00" b="0">
                <a:solidFill>
                  <a:srgbClr val="5B6F80"/>
                </a:solidFill>
                <a:latin typeface="Aptos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2232</Words>
  <Application>Microsoft Office PowerPoint</Application>
  <PresentationFormat>Custom</PresentationFormat>
  <Paragraphs>262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8" baseType="lpstr">
      <vt:lpstr>Open Sauce Bold</vt:lpstr>
      <vt:lpstr>Nunito</vt:lpstr>
      <vt:lpstr>Aptos</vt:lpstr>
      <vt:lpstr>Poppins</vt:lpstr>
      <vt:lpstr>TT Hoves</vt:lpstr>
      <vt:lpstr>Open Sauce</vt:lpstr>
      <vt:lpstr>Calibri</vt:lpstr>
      <vt:lpstr>Glacial Indifference</vt:lpstr>
      <vt:lpstr>Agrandir Bold</vt:lpstr>
      <vt:lpstr>Poppins Bold</vt:lpstr>
      <vt:lpstr>Arial</vt:lpstr>
      <vt:lpstr>Glacial Indifference Bold</vt:lpstr>
      <vt:lpstr>TT Hoves Bold</vt:lpstr>
      <vt:lpstr>Nunito Bold</vt:lpstr>
      <vt:lpstr>League Spartan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Sinh viên: Nguyễn Khắc Nam Phương (2251172459) | Lớp: 64KTPM5 - Ngành: Kỹ thuật phần mềm</dc:title>
  <cp:lastModifiedBy>T14</cp:lastModifiedBy>
  <cp:revision>34</cp:revision>
  <dcterms:created xsi:type="dcterms:W3CDTF">2006-08-16T00:00:00Z</dcterms:created>
  <dcterms:modified xsi:type="dcterms:W3CDTF">2026-07-06T06:26:06Z</dcterms:modified>
  <dc:identifier>DAHOWN8GcjQ</dc:identifier>
</cp:coreProperties>
</file>