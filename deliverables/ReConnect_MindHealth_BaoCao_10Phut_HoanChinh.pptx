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fntdata" ContentType="application/x-fontdata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75" r:id="rId11"/>
    <p:sldId id="267" r:id="rId12"/>
    <p:sldId id="268" r:id="rId13"/>
    <p:sldId id="271" r:id="rId14"/>
    <p:sldId id="273" r:id="rId15"/>
    <p:sldId id="274" r:id="rId16"/>
  </p:sldIdLst>
  <p:sldSz cx="18288000" cy="10287000"/>
  <p:notesSz cx="6858000" cy="9144000"/>
  <p:embeddedFontLst>
    <p:embeddedFont>
      <p:font typeface="Glacial Indifference Bold" panose="020B0604020202020204" charset="0"/>
      <p:regular r:id="rId17"/>
    </p:embeddedFont>
    <p:embeddedFont>
      <p:font typeface="TT Hoves Bold" panose="020B0604020202020204" charset="0"/>
      <p:regular r:id="rId18"/>
    </p:embeddedFont>
    <p:embeddedFont>
      <p:font typeface="Open Sauce" panose="020B0604020202020204" charset="0"/>
      <p:regular r:id="rId19"/>
    </p:embeddedFont>
    <p:embeddedFont>
      <p:font typeface="Inter" panose="020B0604020202020204" charset="0"/>
      <p:regular r:id="rId20"/>
    </p:embeddedFont>
    <p:embeddedFont>
      <p:font typeface="Open Sauce Bold" panose="020B0604020202020204" charset="0"/>
      <p:regular r:id="rId21"/>
    </p:embeddedFont>
    <p:embeddedFont>
      <p:font typeface="Calibri" panose="020F0502020204030204" pitchFamily="34" charset="0"/>
      <p:regular r:id="rId22"/>
      <p:bold r:id="rId23"/>
      <p:italic r:id="rId24"/>
      <p:boldItalic r:id="rId25"/>
    </p:embeddedFont>
    <p:embeddedFont>
      <p:font typeface="League Spartan" panose="020B0604020202020204" charset="0"/>
      <p:regular r:id="rId26"/>
    </p:embeddedFont>
    <p:embeddedFont>
      <p:font typeface="Nunito Bold" panose="020B0604020202020204" charset="0"/>
      <p:regular r:id="rId27"/>
    </p:embeddedFont>
    <p:embeddedFont>
      <p:font typeface="Poppins Bold" panose="020B0604020202020204" charset="0"/>
      <p:regular r:id="rId28"/>
    </p:embeddedFont>
    <p:embeddedFont>
      <p:font typeface="Glacial Indifference" panose="020B0604020202020204" charset="0"/>
      <p:regular r:id="rId29"/>
    </p:embeddedFont>
    <p:embeddedFont>
      <p:font typeface="Agrandir Bold" panose="020B0604020202020204" charset="0"/>
      <p:regular r:id="rId30"/>
    </p:embeddedFont>
    <p:embeddedFont>
      <p:font typeface="Poppins" panose="020B0604020202020204" charset="0"/>
      <p:regular r:id="rId31"/>
    </p:embeddedFont>
    <p:embeddedFont>
      <p:font typeface="TT Hoves" panose="020B0604020202020204" charset="0"/>
      <p:regular r:id="rId32"/>
    </p:embeddedFont>
    <p:embeddedFont>
      <p:font typeface="Nunito" panose="020B0604020202020204" charset="0"/>
      <p:regular r:id="rId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3" d="100"/>
          <a:sy n="43" d="100"/>
        </p:scale>
        <p:origin x="740" y="6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21" Type="http://schemas.openxmlformats.org/officeDocument/2006/relationships/font" Target="fonts/font5.fntdata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font" Target="fonts/font17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4.fntdata"/><Relationship Id="rId29" Type="http://schemas.openxmlformats.org/officeDocument/2006/relationships/font" Target="fonts/font13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font" Target="fonts/font16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font" Target="fonts/font14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sv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svg"/><Relationship Id="rId7" Type="http://schemas.openxmlformats.org/officeDocument/2006/relationships/image" Target="../media/image12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10.svg"/><Relationship Id="rId4" Type="http://schemas.openxmlformats.org/officeDocument/2006/relationships/image" Target="../media/image4.png"/><Relationship Id="rId9" Type="http://schemas.openxmlformats.org/officeDocument/2006/relationships/image" Target="../media/image14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svg"/><Relationship Id="rId7" Type="http://schemas.openxmlformats.org/officeDocument/2006/relationships/image" Target="../media/image1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10.svg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20.svg"/><Relationship Id="rId7" Type="http://schemas.openxmlformats.org/officeDocument/2006/relationships/image" Target="../media/image12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22.svg"/><Relationship Id="rId4" Type="http://schemas.openxmlformats.org/officeDocument/2006/relationships/image" Target="../media/image10.png"/><Relationship Id="rId9" Type="http://schemas.openxmlformats.org/officeDocument/2006/relationships/image" Target="../media/image14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huongtech24/do_an/blob/develop/docs/submission/05_co_so_khoa_hoc_va_anh_xa_nghiep_vu.md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huongtech24/do_an/blob/develop/docs/submission/04_bao_cao_danh_gia_thu_nghiem_ai.md" TargetMode="Externa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7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/>
          <p:cNvSpPr/>
          <p:nvPr/>
        </p:nvSpPr>
        <p:spPr>
          <a:xfrm>
            <a:off x="0" y="0"/>
            <a:ext cx="16256000" cy="9144000"/>
          </a:xfrm>
          <a:prstGeom prst="rect">
            <a:avLst/>
          </a:prstGeom>
          <a:solidFill>
            <a:srgbClr val="F1F8F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/>
          <p:cNvSpPr/>
          <p:nvPr/>
        </p:nvSpPr>
        <p:spPr>
          <a:xfrm>
            <a:off x="0" y="0"/>
            <a:ext cx="16256000" cy="965200"/>
          </a:xfrm>
          <a:prstGeom prst="rect">
            <a:avLst/>
          </a:prstGeom>
          <a:solidFill>
            <a:srgbClr val="FFFFFF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TextBox 37"/>
          <p:cNvSpPr txBox="1"/>
          <p:nvPr/>
        </p:nvSpPr>
        <p:spPr>
          <a:xfrm>
            <a:off x="787400" y="254000"/>
            <a:ext cx="660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600" b="1" smtClean="0">
                <a:solidFill>
                  <a:srgbClr val="0E3068"/>
                </a:solidFill>
                <a:latin typeface="Aptos"/>
              </a:rPr>
              <a:t>TRƯỜNG ĐẠI HỌC THỦY LỢI</a:t>
            </a:r>
            <a:endParaRPr lang="en-US" sz="16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787400" y="558800"/>
            <a:ext cx="6604000" cy="1538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000" smtClean="0">
                <a:solidFill>
                  <a:srgbClr val="495869"/>
                </a:solidFill>
                <a:latin typeface="Aptos"/>
              </a:rPr>
              <a:t>KHOA CÔNG NGHỆ THÔNG TIN</a:t>
            </a:r>
            <a:endParaRPr lang="en-US" sz="1000">
              <a:solidFill>
                <a:srgbClr val="495869"/>
              </a:solidFill>
              <a:latin typeface="Aptos"/>
            </a:endParaRPr>
          </a:p>
        </p:txBody>
      </p:sp>
      <p:sp>
        <p:nvSpPr>
          <p:cNvPr id="40" name="Rectangle 39"/>
          <p:cNvSpPr/>
          <p:nvPr/>
        </p:nvSpPr>
        <p:spPr>
          <a:xfrm>
            <a:off x="10033000" y="965200"/>
            <a:ext cx="6223000" cy="7239000"/>
          </a:xfrm>
          <a:prstGeom prst="rect">
            <a:avLst/>
          </a:prstGeom>
          <a:solidFill>
            <a:srgbClr val="1C4E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/>
          <p:cNvSpPr/>
          <p:nvPr/>
        </p:nvSpPr>
        <p:spPr>
          <a:xfrm>
            <a:off x="13081000" y="965200"/>
            <a:ext cx="3175000" cy="7239000"/>
          </a:xfrm>
          <a:prstGeom prst="rect">
            <a:avLst/>
          </a:prstGeom>
          <a:solidFill>
            <a:srgbClr val="0E3068">
              <a:alpha val="92000"/>
            </a:srgbClr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/>
          <p:cNvSpPr/>
          <p:nvPr/>
        </p:nvSpPr>
        <p:spPr>
          <a:xfrm>
            <a:off x="10795000" y="2032000"/>
            <a:ext cx="3111500" cy="3111500"/>
          </a:xfrm>
          <a:prstGeom prst="ellipse">
            <a:avLst/>
          </a:prstGeom>
          <a:solidFill>
            <a:srgbClr val="FFFFFF">
              <a:alpha val="12000"/>
            </a:srgbClr>
          </a:solidFill>
          <a:ln w="25400" cap="flat" cmpd="sng" algn="ctr">
            <a:solidFill>
              <a:srgbClr val="FFFFFF">
                <a:alpha val="35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/>
          <p:cNvSpPr/>
          <p:nvPr/>
        </p:nvSpPr>
        <p:spPr>
          <a:xfrm>
            <a:off x="12446000" y="4191000"/>
            <a:ext cx="2286000" cy="2286000"/>
          </a:xfrm>
          <a:prstGeom prst="ellipse">
            <a:avLst/>
          </a:prstGeom>
          <a:solidFill>
            <a:srgbClr val="FFFFFF">
              <a:alpha val="10000"/>
            </a:srgbClr>
          </a:solidFill>
          <a:ln w="25400" cap="flat" cmpd="sng" algn="ctr">
            <a:solidFill>
              <a:srgbClr val="FFFFFF">
                <a:alpha val="30000"/>
              </a:srgbClr>
            </a:solidFill>
            <a:prstDash val="solid"/>
            <a:round/>
            <a:headEnd type="none" w="med" len="med"/>
            <a:tailEnd type="non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TextBox 43"/>
          <p:cNvSpPr txBox="1"/>
          <p:nvPr/>
        </p:nvSpPr>
        <p:spPr>
          <a:xfrm>
            <a:off x="10947400" y="3175000"/>
            <a:ext cx="4445000" cy="52322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3400" b="1" smtClean="0">
                <a:solidFill>
                  <a:srgbClr val="FFFFFF"/>
                </a:solidFill>
                <a:latin typeface="Aptos"/>
              </a:rPr>
              <a:t>AI + CBT</a:t>
            </a:r>
            <a:endParaRPr lang="en-US" sz="34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10795000" y="4000500"/>
            <a:ext cx="4699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00" smtClean="0">
                <a:solidFill>
                  <a:srgbClr val="FFFFFF"/>
                </a:solidFill>
                <a:latin typeface="Aptos"/>
              </a:rPr>
              <a:t>Hỗ trợ • Theo dõi • An toàn</a:t>
            </a:r>
            <a:endParaRPr lang="en-US" sz="1500">
              <a:solidFill>
                <a:srgbClr val="FFFFFF"/>
              </a:solidFill>
              <a:latin typeface="Aptos"/>
            </a:endParaRPr>
          </a:p>
        </p:txBody>
      </p:sp>
      <p:sp>
        <p:nvSpPr>
          <p:cNvPr id="46" name="Rounded Rectangle 45"/>
          <p:cNvSpPr/>
          <p:nvPr/>
        </p:nvSpPr>
        <p:spPr>
          <a:xfrm>
            <a:off x="787400" y="1524000"/>
            <a:ext cx="9906000" cy="546100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BCD1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Rounded Rectangle 46"/>
          <p:cNvSpPr/>
          <p:nvPr/>
        </p:nvSpPr>
        <p:spPr>
          <a:xfrm>
            <a:off x="1219200" y="1905000"/>
            <a:ext cx="2667000" cy="457200"/>
          </a:xfrm>
          <a:prstGeom prst="roundRect">
            <a:avLst/>
          </a:prstGeom>
          <a:solidFill>
            <a:srgbClr val="0E306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mtClean="0">
                <a:solidFill>
                  <a:srgbClr val="FFFFFF"/>
                </a:solidFill>
                <a:latin typeface="Aptos"/>
              </a:rPr>
              <a:t>ĐỒ ÁN TỐT NGHIỆP</a:t>
            </a:r>
            <a:endParaRPr lang="en-US" sz="13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1219200" y="2730500"/>
            <a:ext cx="7874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b="1" smtClean="0">
                <a:solidFill>
                  <a:srgbClr val="1C4EAA"/>
                </a:solidFill>
                <a:latin typeface="Aptos"/>
              </a:rPr>
              <a:t>ĐỀ TÀI</a:t>
            </a:r>
            <a:endParaRPr lang="en-US" sz="1500" b="1">
              <a:solidFill>
                <a:srgbClr val="1C4EAA"/>
              </a:solidFill>
              <a:latin typeface="Aptos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1219200" y="3200400"/>
            <a:ext cx="8255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0E3068"/>
                </a:solidFill>
                <a:latin typeface="Aptos"/>
              </a:rPr>
              <a:t>RECONNECT MINDHEALTH</a:t>
            </a:r>
            <a:endParaRPr lang="en-US" sz="31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1219200" y="4000500"/>
            <a:ext cx="8255000" cy="4154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2700" b="1" smtClean="0">
                <a:solidFill>
                  <a:srgbClr val="0E3068"/>
                </a:solidFill>
                <a:latin typeface="Aptos"/>
              </a:rPr>
              <a:t>Hệ thống hỗ trợ trị liệu lo âu xã hội tích hợp AI</a:t>
            </a:r>
            <a:endParaRPr lang="en-US" sz="27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51" name="TextBox 50"/>
          <p:cNvSpPr txBox="1"/>
          <p:nvPr/>
        </p:nvSpPr>
        <p:spPr>
          <a:xfrm>
            <a:off x="1219200" y="5334000"/>
            <a:ext cx="8255000" cy="2308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495869"/>
                </a:solidFill>
                <a:latin typeface="Aptos"/>
              </a:rPr>
              <a:t>Ứng dụng CBT số hóa, RAG và điều phối lâm sàng an toàn</a:t>
            </a:r>
            <a:endParaRPr lang="en-US" sz="1500">
              <a:solidFill>
                <a:srgbClr val="495869"/>
              </a:solidFill>
              <a:latin typeface="Aptos"/>
            </a:endParaRPr>
          </a:p>
        </p:txBody>
      </p:sp>
      <p:sp>
        <p:nvSpPr>
          <p:cNvPr id="52" name="Rounded Rectangle 51"/>
          <p:cNvSpPr/>
          <p:nvPr/>
        </p:nvSpPr>
        <p:spPr>
          <a:xfrm>
            <a:off x="787400" y="7302500"/>
            <a:ext cx="9906000" cy="1092200"/>
          </a:xfrm>
          <a:prstGeom prst="roundRect">
            <a:avLst/>
          </a:prstGeom>
          <a:solidFill>
            <a:srgbClr val="FFFFFF"/>
          </a:solidFill>
          <a:ln>
            <a:solidFill>
              <a:srgbClr val="BCD1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TextBox 52"/>
          <p:cNvSpPr txBox="1"/>
          <p:nvPr/>
        </p:nvSpPr>
        <p:spPr>
          <a:xfrm>
            <a:off x="1066800" y="7531100"/>
            <a:ext cx="9271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300" b="1" smtClean="0">
                <a:solidFill>
                  <a:srgbClr val="0E3068"/>
                </a:solidFill>
                <a:latin typeface="Aptos"/>
              </a:rPr>
              <a:t>Sinh viên: Nguyễn Khắc Nam Phương  •  MSSV: 2251172459  •  Lớp: 64KTPM5</a:t>
            </a:r>
            <a:endParaRPr lang="en-US" sz="13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1066800" y="7924800"/>
            <a:ext cx="9271000" cy="20005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300" smtClean="0">
                <a:solidFill>
                  <a:srgbClr val="495869"/>
                </a:solidFill>
                <a:latin typeface="Aptos"/>
              </a:rPr>
              <a:t>Giảng viên hướng dẫn: Lê Thị Tú Kiên</a:t>
            </a:r>
            <a:endParaRPr lang="en-US" sz="1300">
              <a:solidFill>
                <a:srgbClr val="495869"/>
              </a:solidFill>
              <a:latin typeface="Aptos"/>
            </a:endParaRPr>
          </a:p>
        </p:txBody>
      </p:sp>
      <p:sp>
        <p:nvSpPr>
          <p:cNvPr id="55" name="Rectangle 54"/>
          <p:cNvSpPr/>
          <p:nvPr/>
        </p:nvSpPr>
        <p:spPr>
          <a:xfrm>
            <a:off x="0" y="8636000"/>
            <a:ext cx="16256000" cy="508000"/>
          </a:xfrm>
          <a:prstGeom prst="rect">
            <a:avLst/>
          </a:prstGeom>
          <a:solidFill>
            <a:srgbClr val="0E306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/>
          <p:cNvSpPr txBox="1"/>
          <p:nvPr/>
        </p:nvSpPr>
        <p:spPr>
          <a:xfrm>
            <a:off x="787400" y="8775700"/>
            <a:ext cx="3810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 smtClean="0">
                <a:solidFill>
                  <a:srgbClr val="FFFFFF"/>
                </a:solidFill>
                <a:latin typeface="Aptos"/>
              </a:rPr>
              <a:t>HÀ NỘI, 2026</a:t>
            </a:r>
            <a:endParaRPr lang="en-US" sz="12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 txBox="1"/>
          <p:nvPr/>
        </p:nvSpPr>
        <p:spPr>
          <a:xfrm>
            <a:off x="675740" y="2195108"/>
            <a:ext cx="3810961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9593"/>
              </a:lnSpc>
              <a:spcBef>
                <a:spcPct val="0"/>
              </a:spcBef>
            </a:pPr>
            <a:r>
              <a:rPr lang="en-US" sz="7994" u="none" strike="noStrike">
                <a:solidFill>
                  <a:srgbClr val="1C75BC"/>
                </a:solidFill>
                <a:latin typeface="Poppins"/>
                <a:ea typeface="Poppins"/>
                <a:cs typeface="Poppins"/>
                <a:sym typeface="Poppins"/>
              </a:rPr>
              <a:t>Lý Do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157219" y="4385045"/>
            <a:ext cx="371475" cy="371475"/>
            <a:chOff x="0" y="0"/>
            <a:chExt cx="812800" cy="812800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C75BC"/>
            </a:solidFill>
          </p:spPr>
        </p:sp>
        <p:sp>
          <p:nvSpPr>
            <p:cNvPr id="5" name="TextBox 5"/>
            <p:cNvSpPr txBox="1"/>
            <p:nvPr/>
          </p:nvSpPr>
          <p:spPr>
            <a:xfrm>
              <a:off x="76200" y="123825"/>
              <a:ext cx="660400" cy="612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157219" y="5900201"/>
            <a:ext cx="371475" cy="371475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C75BC"/>
            </a:solidFill>
          </p:spPr>
        </p:sp>
        <p:sp>
          <p:nvSpPr>
            <p:cNvPr id="8" name="TextBox 8"/>
            <p:cNvSpPr txBox="1"/>
            <p:nvPr/>
          </p:nvSpPr>
          <p:spPr>
            <a:xfrm>
              <a:off x="76200" y="123825"/>
              <a:ext cx="660400" cy="612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157219" y="7415358"/>
            <a:ext cx="371475" cy="371475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1C75BC"/>
            </a:solidFill>
          </p:spPr>
        </p:sp>
        <p:sp>
          <p:nvSpPr>
            <p:cNvPr id="11" name="TextBox 11"/>
            <p:cNvSpPr txBox="1"/>
            <p:nvPr/>
          </p:nvSpPr>
          <p:spPr>
            <a:xfrm>
              <a:off x="76200" y="123825"/>
              <a:ext cx="660400" cy="61277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9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1890481" y="4346945"/>
            <a:ext cx="5004474" cy="3796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2"/>
              </a:lnSpc>
              <a:spcBef>
                <a:spcPct val="0"/>
              </a:spcBef>
            </a:pPr>
            <a:r>
              <a:rPr lang="en-US" sz="2301" b="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Thực trạng xã hội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890481" y="5862101"/>
            <a:ext cx="5417103" cy="3796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2"/>
              </a:lnSpc>
              <a:spcBef>
                <a:spcPct val="0"/>
              </a:spcBef>
            </a:pPr>
            <a:r>
              <a:rPr lang="en-US" sz="2301" b="1" u="none" strike="noStrike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3 Hạn Chế Của Trị Liệu Truyền Thống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890481" y="7377258"/>
            <a:ext cx="6435943" cy="3796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222"/>
              </a:lnSpc>
              <a:spcBef>
                <a:spcPct val="0"/>
              </a:spcBef>
            </a:pPr>
            <a:r>
              <a:rPr lang="en-US" sz="2301" b="1">
                <a:solidFill>
                  <a:srgbClr val="000000"/>
                </a:solidFill>
                <a:latin typeface="Nunito Bold"/>
                <a:ea typeface="Nunito Bold"/>
                <a:cs typeface="Nunito Bold"/>
                <a:sym typeface="Nunito Bold"/>
              </a:rPr>
              <a:t>② Rào cản phán xét &amp; ③ Thiếu dữ liệu dọc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890481" y="4925715"/>
            <a:ext cx="6224474" cy="6668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78"/>
              </a:lnSpc>
              <a:spcBef>
                <a:spcPct val="0"/>
              </a:spcBef>
            </a:pPr>
            <a:r>
              <a:rPr lang="en-US" sz="1841" smtClean="0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Lo âu xã hội gây né tránh, tự cô lập và làm suy giảm khả năng học tập, làm việc và kết nối xã hội.</a:t>
            </a:r>
            <a:endParaRPr lang="en-US" sz="1841">
              <a:solidFill>
                <a:srgbClr val="000000"/>
              </a:solidFill>
              <a:latin typeface="Nunito"/>
              <a:ea typeface="Nunito"/>
              <a:cs typeface="Nunito"/>
              <a:sym typeface="Nunito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890481" y="6440871"/>
            <a:ext cx="6435943" cy="63902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78"/>
              </a:lnSpc>
              <a:spcBef>
                <a:spcPct val="0"/>
              </a:spcBef>
            </a:pPr>
            <a:r>
              <a:rPr lang="en-US" sz="1841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① Điểm mù hành vi: Bác sĩ không thể giám sát việc loại bỏ "hành vi an toàn" (Safety Behaviors) ngoài thực tế hằng ngày.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890481" y="7956028"/>
            <a:ext cx="6224474" cy="9628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578"/>
              </a:lnSpc>
              <a:spcBef>
                <a:spcPct val="0"/>
              </a:spcBef>
            </a:pPr>
            <a:r>
              <a:rPr lang="en-US" sz="1841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Bệnh nhân SAD e ngại khai báo danh tính thật khi đến phòng khám. Hồ sơ giấy truyền thống không thu thập được dữ liệu chuỗi thời gian liên tục phục vụ nghiên cứu.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0361382" y="4499345"/>
            <a:ext cx="8716741" cy="3998020"/>
            <a:chOff x="0" y="0"/>
            <a:chExt cx="2295767" cy="1052977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295767" cy="1052977"/>
            </a:xfrm>
            <a:custGeom>
              <a:avLst/>
              <a:gdLst/>
              <a:ahLst/>
              <a:cxnLst/>
              <a:rect l="l" t="t" r="r" b="b"/>
              <a:pathLst>
                <a:path w="2295767" h="1052977">
                  <a:moveTo>
                    <a:pt x="28421" y="0"/>
                  </a:moveTo>
                  <a:lnTo>
                    <a:pt x="2267346" y="0"/>
                  </a:lnTo>
                  <a:cubicBezTo>
                    <a:pt x="2274884" y="0"/>
                    <a:pt x="2282113" y="2994"/>
                    <a:pt x="2287443" y="8324"/>
                  </a:cubicBezTo>
                  <a:cubicBezTo>
                    <a:pt x="2292773" y="13654"/>
                    <a:pt x="2295767" y="20884"/>
                    <a:pt x="2295767" y="28421"/>
                  </a:cubicBezTo>
                  <a:lnTo>
                    <a:pt x="2295767" y="1024555"/>
                  </a:lnTo>
                  <a:cubicBezTo>
                    <a:pt x="2295767" y="1040252"/>
                    <a:pt x="2283043" y="1052977"/>
                    <a:pt x="2267346" y="1052977"/>
                  </a:cubicBezTo>
                  <a:lnTo>
                    <a:pt x="28421" y="1052977"/>
                  </a:lnTo>
                  <a:cubicBezTo>
                    <a:pt x="20884" y="1052977"/>
                    <a:pt x="13654" y="1049982"/>
                    <a:pt x="8324" y="1044652"/>
                  </a:cubicBezTo>
                  <a:cubicBezTo>
                    <a:pt x="2994" y="1039322"/>
                    <a:pt x="0" y="1032093"/>
                    <a:pt x="0" y="1024555"/>
                  </a:cubicBezTo>
                  <a:lnTo>
                    <a:pt x="0" y="28421"/>
                  </a:lnTo>
                  <a:cubicBezTo>
                    <a:pt x="0" y="12725"/>
                    <a:pt x="12725" y="0"/>
                    <a:pt x="28421" y="0"/>
                  </a:cubicBezTo>
                  <a:close/>
                </a:path>
              </a:pathLst>
            </a:custGeom>
            <a:solidFill>
              <a:srgbClr val="E8E8F1"/>
            </a:solidFill>
          </p:spPr>
        </p:sp>
        <p:sp>
          <p:nvSpPr>
            <p:cNvPr id="20" name="TextBox 20"/>
            <p:cNvSpPr txBox="1"/>
            <p:nvPr/>
          </p:nvSpPr>
          <p:spPr>
            <a:xfrm>
              <a:off x="0" y="-38100"/>
              <a:ext cx="2295767" cy="109107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800"/>
                </a:lnSpc>
              </a:pPr>
              <a:endParaRPr/>
            </a:p>
          </p:txBody>
        </p:sp>
      </p:grpSp>
      <p:grpSp>
        <p:nvGrpSpPr>
          <p:cNvPr id="21" name="Group 21"/>
          <p:cNvGrpSpPr/>
          <p:nvPr/>
        </p:nvGrpSpPr>
        <p:grpSpPr>
          <a:xfrm>
            <a:off x="11991144" y="4091290"/>
            <a:ext cx="5268156" cy="5167010"/>
            <a:chOff x="0" y="0"/>
            <a:chExt cx="764096" cy="74942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764096" cy="749425"/>
            </a:xfrm>
            <a:custGeom>
              <a:avLst/>
              <a:gdLst/>
              <a:ahLst/>
              <a:cxnLst/>
              <a:rect l="l" t="t" r="r" b="b"/>
              <a:pathLst>
                <a:path w="764096" h="749425">
                  <a:moveTo>
                    <a:pt x="33800" y="0"/>
                  </a:moveTo>
                  <a:lnTo>
                    <a:pt x="730296" y="0"/>
                  </a:lnTo>
                  <a:cubicBezTo>
                    <a:pt x="748963" y="0"/>
                    <a:pt x="764096" y="15133"/>
                    <a:pt x="764096" y="33800"/>
                  </a:cubicBezTo>
                  <a:lnTo>
                    <a:pt x="764096" y="715625"/>
                  </a:lnTo>
                  <a:cubicBezTo>
                    <a:pt x="764096" y="734293"/>
                    <a:pt x="748963" y="749425"/>
                    <a:pt x="730296" y="749425"/>
                  </a:cubicBezTo>
                  <a:lnTo>
                    <a:pt x="33800" y="749425"/>
                  </a:lnTo>
                  <a:cubicBezTo>
                    <a:pt x="15133" y="749425"/>
                    <a:pt x="0" y="734293"/>
                    <a:pt x="0" y="715625"/>
                  </a:cubicBezTo>
                  <a:lnTo>
                    <a:pt x="0" y="33800"/>
                  </a:lnTo>
                  <a:cubicBezTo>
                    <a:pt x="0" y="15133"/>
                    <a:pt x="15133" y="0"/>
                    <a:pt x="33800" y="0"/>
                  </a:cubicBezTo>
                  <a:close/>
                </a:path>
              </a:pathLst>
            </a:custGeom>
            <a:blipFill>
              <a:blip r:embed="rId2"/>
              <a:stretch>
                <a:fillRect l="-40" r="-40"/>
              </a:stretch>
            </a:blipFill>
          </p:spPr>
        </p:sp>
      </p:grpSp>
      <p:sp>
        <p:nvSpPr>
          <p:cNvPr id="23" name="TextBox 23"/>
          <p:cNvSpPr txBox="1"/>
          <p:nvPr/>
        </p:nvSpPr>
        <p:spPr>
          <a:xfrm>
            <a:off x="4641272" y="2232395"/>
            <a:ext cx="6947368" cy="12858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9593"/>
              </a:lnSpc>
              <a:spcBef>
                <a:spcPct val="0"/>
              </a:spcBef>
            </a:pPr>
            <a:r>
              <a:rPr lang="en-US" sz="7994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Chọn Đề Tài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096743" y="1160051"/>
            <a:ext cx="310893" cy="47625"/>
            <a:chOff x="0" y="0"/>
            <a:chExt cx="81881" cy="12543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81881" cy="12543"/>
            </a:xfrm>
            <a:custGeom>
              <a:avLst/>
              <a:gdLst/>
              <a:ahLst/>
              <a:cxnLst/>
              <a:rect l="l" t="t" r="r" b="b"/>
              <a:pathLst>
                <a:path w="81881" h="12543">
                  <a:moveTo>
                    <a:pt x="0" y="0"/>
                  </a:moveTo>
                  <a:lnTo>
                    <a:pt x="81881" y="0"/>
                  </a:lnTo>
                  <a:lnTo>
                    <a:pt x="81881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62262"/>
            </a:solidFill>
          </p:spPr>
        </p:sp>
        <p:sp>
          <p:nvSpPr>
            <p:cNvPr id="26" name="TextBox 26"/>
            <p:cNvSpPr txBox="1"/>
            <p:nvPr/>
          </p:nvSpPr>
          <p:spPr>
            <a:xfrm>
              <a:off x="0" y="-38100"/>
              <a:ext cx="81881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27" name="Group 27"/>
          <p:cNvGrpSpPr/>
          <p:nvPr/>
        </p:nvGrpSpPr>
        <p:grpSpPr>
          <a:xfrm>
            <a:off x="1096743" y="1244241"/>
            <a:ext cx="310893" cy="47625"/>
            <a:chOff x="0" y="0"/>
            <a:chExt cx="81881" cy="12543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81881" cy="12543"/>
            </a:xfrm>
            <a:custGeom>
              <a:avLst/>
              <a:gdLst/>
              <a:ahLst/>
              <a:cxnLst/>
              <a:rect l="l" t="t" r="r" b="b"/>
              <a:pathLst>
                <a:path w="81881" h="12543">
                  <a:moveTo>
                    <a:pt x="0" y="0"/>
                  </a:moveTo>
                  <a:lnTo>
                    <a:pt x="81881" y="0"/>
                  </a:lnTo>
                  <a:lnTo>
                    <a:pt x="81881" y="12543"/>
                  </a:lnTo>
                  <a:lnTo>
                    <a:pt x="0" y="12543"/>
                  </a:lnTo>
                  <a:close/>
                </a:path>
              </a:pathLst>
            </a:custGeom>
            <a:solidFill>
              <a:srgbClr val="262262"/>
            </a:solidFill>
          </p:spPr>
        </p:sp>
        <p:sp>
          <p:nvSpPr>
            <p:cNvPr id="29" name="TextBox 29"/>
            <p:cNvSpPr txBox="1"/>
            <p:nvPr/>
          </p:nvSpPr>
          <p:spPr>
            <a:xfrm>
              <a:off x="0" y="-38100"/>
              <a:ext cx="81881" cy="5064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0" name="Freeform 30"/>
          <p:cNvSpPr/>
          <p:nvPr/>
        </p:nvSpPr>
        <p:spPr>
          <a:xfrm rot="-5400000">
            <a:off x="16917977" y="973938"/>
            <a:ext cx="263611" cy="419035"/>
          </a:xfrm>
          <a:custGeom>
            <a:avLst/>
            <a:gdLst/>
            <a:ahLst/>
            <a:cxnLst/>
            <a:rect l="l" t="t" r="r" b="b"/>
            <a:pathLst>
              <a:path w="263611" h="419035">
                <a:moveTo>
                  <a:pt x="0" y="0"/>
                </a:moveTo>
                <a:lnTo>
                  <a:pt x="263611" y="0"/>
                </a:lnTo>
                <a:lnTo>
                  <a:pt x="263611" y="419035"/>
                </a:lnTo>
                <a:lnTo>
                  <a:pt x="0" y="419035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/>
            </a:stretch>
          </a:blipFill>
        </p:spPr>
      </p:sp>
      <p:sp>
        <p:nvSpPr>
          <p:cNvPr id="31" name="TextBox 31"/>
          <p:cNvSpPr txBox="1"/>
          <p:nvPr/>
        </p:nvSpPr>
        <p:spPr>
          <a:xfrm>
            <a:off x="1547249" y="1037046"/>
            <a:ext cx="1033971" cy="315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78"/>
              </a:lnSpc>
            </a:pPr>
            <a:r>
              <a:rPr lang="en-US" sz="1841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Giới thiệu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2818431" y="1037046"/>
            <a:ext cx="1033971" cy="315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78"/>
              </a:lnSpc>
            </a:pPr>
            <a:r>
              <a:rPr lang="en-US" sz="1841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Vấn đề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4089613" y="1037046"/>
            <a:ext cx="1018840" cy="3151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578"/>
              </a:lnSpc>
            </a:pPr>
            <a:r>
              <a:rPr lang="en-US" sz="1841">
                <a:solidFill>
                  <a:srgbClr val="000000"/>
                </a:solidFill>
                <a:latin typeface="Nunito"/>
                <a:ea typeface="Nunito"/>
                <a:cs typeface="Nunito"/>
                <a:sym typeface="Nunito"/>
              </a:rPr>
              <a:t>Giải pháp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510279" y="2121870"/>
            <a:ext cx="6095650" cy="6095650"/>
          </a:xfrm>
          <a:custGeom>
            <a:avLst/>
            <a:gdLst/>
            <a:ahLst/>
            <a:cxnLst/>
            <a:rect l="l" t="t" r="r" b="b"/>
            <a:pathLst>
              <a:path w="6095650" h="6095650">
                <a:moveTo>
                  <a:pt x="0" y="0"/>
                </a:moveTo>
                <a:lnTo>
                  <a:pt x="6095650" y="0"/>
                </a:lnTo>
                <a:lnTo>
                  <a:pt x="6095650" y="6095650"/>
                </a:lnTo>
                <a:lnTo>
                  <a:pt x="0" y="6095650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 l="-31923" t="-30783" r="-30783" b="-31923"/>
            </a:stretch>
          </a:blipFill>
          <a:ln cap="rnd">
            <a:noFill/>
            <a:prstDash val="solid"/>
            <a:round/>
          </a:ln>
        </p:spPr>
      </p:sp>
      <p:sp>
        <p:nvSpPr>
          <p:cNvPr id="3" name="TextBox 3"/>
          <p:cNvSpPr txBox="1"/>
          <p:nvPr/>
        </p:nvSpPr>
        <p:spPr>
          <a:xfrm>
            <a:off x="2879338" y="600075"/>
            <a:ext cx="12529324" cy="17673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2311"/>
              </a:lnSpc>
              <a:spcBef>
                <a:spcPct val="0"/>
              </a:spcBef>
            </a:pPr>
            <a:r>
              <a:rPr lang="en-US" sz="8793" b="1" u="none" strike="noStrike">
                <a:solidFill>
                  <a:srgbClr val="2B598F"/>
                </a:solidFill>
                <a:latin typeface="Agrandir Bold"/>
                <a:ea typeface="Agrandir Bold"/>
                <a:cs typeface="Agrandir Bold"/>
                <a:sym typeface="Agrandir Bold"/>
              </a:rPr>
              <a:t>Mục Tiêu Nghiên Cứu</a:t>
            </a:r>
          </a:p>
        </p:txBody>
      </p:sp>
      <p:sp>
        <p:nvSpPr>
          <p:cNvPr id="4" name="Freeform 4"/>
          <p:cNvSpPr/>
          <p:nvPr/>
        </p:nvSpPr>
        <p:spPr>
          <a:xfrm>
            <a:off x="16562179" y="8474217"/>
            <a:ext cx="697121" cy="784083"/>
          </a:xfrm>
          <a:custGeom>
            <a:avLst/>
            <a:gdLst/>
            <a:ahLst/>
            <a:cxnLst/>
            <a:rect l="l" t="t" r="r" b="b"/>
            <a:pathLst>
              <a:path w="697121" h="784083">
                <a:moveTo>
                  <a:pt x="0" y="0"/>
                </a:moveTo>
                <a:lnTo>
                  <a:pt x="697121" y="0"/>
                </a:lnTo>
                <a:lnTo>
                  <a:pt x="697121" y="784083"/>
                </a:lnTo>
                <a:lnTo>
                  <a:pt x="0" y="7840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7" name="Group 7"/>
          <p:cNvGrpSpPr/>
          <p:nvPr/>
        </p:nvGrpSpPr>
        <p:grpSpPr>
          <a:xfrm>
            <a:off x="5900989" y="2643550"/>
            <a:ext cx="10863414" cy="2167257"/>
            <a:chOff x="0" y="0"/>
            <a:chExt cx="2866578" cy="571884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866578" cy="571884"/>
            </a:xfrm>
            <a:custGeom>
              <a:avLst/>
              <a:gdLst/>
              <a:ahLst/>
              <a:cxnLst/>
              <a:rect l="l" t="t" r="r" b="b"/>
              <a:pathLst>
                <a:path w="2866578" h="571884">
                  <a:moveTo>
                    <a:pt x="20667" y="0"/>
                  </a:moveTo>
                  <a:lnTo>
                    <a:pt x="2845911" y="0"/>
                  </a:lnTo>
                  <a:cubicBezTo>
                    <a:pt x="2857325" y="0"/>
                    <a:pt x="2866578" y="9253"/>
                    <a:pt x="2866578" y="20667"/>
                  </a:cubicBezTo>
                  <a:lnTo>
                    <a:pt x="2866578" y="551217"/>
                  </a:lnTo>
                  <a:cubicBezTo>
                    <a:pt x="2866578" y="556698"/>
                    <a:pt x="2864401" y="561955"/>
                    <a:pt x="2860525" y="565831"/>
                  </a:cubicBezTo>
                  <a:cubicBezTo>
                    <a:pt x="2856649" y="569706"/>
                    <a:pt x="2851392" y="571884"/>
                    <a:pt x="2845911" y="571884"/>
                  </a:cubicBezTo>
                  <a:lnTo>
                    <a:pt x="20667" y="571884"/>
                  </a:lnTo>
                  <a:cubicBezTo>
                    <a:pt x="15186" y="571884"/>
                    <a:pt x="9929" y="569706"/>
                    <a:pt x="6053" y="565831"/>
                  </a:cubicBezTo>
                  <a:cubicBezTo>
                    <a:pt x="2177" y="561955"/>
                    <a:pt x="0" y="556698"/>
                    <a:pt x="0" y="551217"/>
                  </a:cubicBezTo>
                  <a:lnTo>
                    <a:pt x="0" y="20667"/>
                  </a:lnTo>
                  <a:cubicBezTo>
                    <a:pt x="0" y="15186"/>
                    <a:pt x="2177" y="9929"/>
                    <a:pt x="6053" y="6053"/>
                  </a:cubicBezTo>
                  <a:cubicBezTo>
                    <a:pt x="9929" y="2177"/>
                    <a:pt x="15186" y="0"/>
                    <a:pt x="20667" y="0"/>
                  </a:cubicBezTo>
                  <a:close/>
                </a:path>
              </a:pathLst>
            </a:custGeom>
            <a:solidFill>
              <a:srgbClr val="FFFFFE"/>
            </a:solidFill>
            <a:ln w="19050" cap="rnd">
              <a:solidFill>
                <a:srgbClr val="181D2B"/>
              </a:solidFill>
              <a:prstDash val="solid"/>
              <a:round/>
            </a:ln>
          </p:spPr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866578" cy="609984"/>
            </a:xfrm>
            <a:prstGeom prst="rect">
              <a:avLst/>
            </a:prstGeom>
          </p:spPr>
          <p:txBody>
            <a:bodyPr lIns="50704" tIns="50704" rIns="50704" bIns="50704" rtlCol="0" anchor="ctr"/>
            <a:lstStyle/>
            <a:p>
              <a:pPr marL="0" lvl="0" indent="0" algn="ctr">
                <a:lnSpc>
                  <a:spcPts val="3135"/>
                </a:lnSpc>
              </a:pPr>
              <a:endParaRPr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6425537" y="3028011"/>
            <a:ext cx="9523548" cy="1350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0"/>
              </a:lnSpc>
              <a:spcBef>
                <a:spcPct val="0"/>
              </a:spcBef>
            </a:pPr>
            <a:r>
              <a:rPr lang="en-US" sz="2593" u="none" strike="noStrike" spc="12">
                <a:solidFill>
                  <a:srgbClr val="181D2B"/>
                </a:solidFill>
                <a:latin typeface="Open Sauce"/>
                <a:ea typeface="Open Sauce"/>
                <a:cs typeface="Open Sauce"/>
                <a:sym typeface="Open Sauce"/>
              </a:rPr>
              <a:t>Số hóa phác đồ CBT thành nền tảng kỹ thuật số tương tác, tích hợp AI đồng hành hỗ trợ nhận thức cho người dùng trong quá trình trị liệu.</a:t>
            </a:r>
          </a:p>
        </p:txBody>
      </p:sp>
      <p:sp>
        <p:nvSpPr>
          <p:cNvPr id="11" name="Freeform 11"/>
          <p:cNvSpPr/>
          <p:nvPr/>
        </p:nvSpPr>
        <p:spPr>
          <a:xfrm>
            <a:off x="4998624" y="3615501"/>
            <a:ext cx="586747" cy="223355"/>
          </a:xfrm>
          <a:custGeom>
            <a:avLst/>
            <a:gdLst/>
            <a:ahLst/>
            <a:cxnLst/>
            <a:rect l="l" t="t" r="r" b="b"/>
            <a:pathLst>
              <a:path w="586747" h="223355">
                <a:moveTo>
                  <a:pt x="0" y="0"/>
                </a:moveTo>
                <a:lnTo>
                  <a:pt x="586747" y="0"/>
                </a:lnTo>
                <a:lnTo>
                  <a:pt x="586747" y="223355"/>
                </a:lnTo>
                <a:lnTo>
                  <a:pt x="0" y="2233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rot="-9340067" flipV="1">
            <a:off x="670974" y="3948991"/>
            <a:ext cx="5637614" cy="4715095"/>
          </a:xfrm>
          <a:custGeom>
            <a:avLst/>
            <a:gdLst/>
            <a:ahLst/>
            <a:cxnLst/>
            <a:rect l="l" t="t" r="r" b="b"/>
            <a:pathLst>
              <a:path w="5637614" h="4715095">
                <a:moveTo>
                  <a:pt x="0" y="4715095"/>
                </a:moveTo>
                <a:lnTo>
                  <a:pt x="5637614" y="4715095"/>
                </a:lnTo>
                <a:lnTo>
                  <a:pt x="5637614" y="0"/>
                </a:lnTo>
                <a:lnTo>
                  <a:pt x="0" y="0"/>
                </a:lnTo>
                <a:lnTo>
                  <a:pt x="0" y="4715095"/>
                </a:lnTo>
                <a:close/>
              </a:path>
            </a:pathLst>
          </a:custGeom>
          <a:blipFill>
            <a:blip r:embed="rId8">
              <a:extLst>
                <a:ext uri="{96DAC541-7B7A-43D3-8B79-37D633B846F1}">
                  <asvg:svgBlip xmlns:asvg="http://schemas.microsoft.com/office/drawing/2016/SVG/main" xmlns="" r:embed="rId9"/>
                </a:ext>
              </a:extLst>
            </a:blip>
            <a:stretch>
              <a:fillRect/>
            </a:stretch>
          </a:blipFill>
        </p:spPr>
      </p:sp>
      <p:grpSp>
        <p:nvGrpSpPr>
          <p:cNvPr id="13" name="Group 13"/>
          <p:cNvGrpSpPr/>
          <p:nvPr/>
        </p:nvGrpSpPr>
        <p:grpSpPr>
          <a:xfrm>
            <a:off x="5900989" y="5072908"/>
            <a:ext cx="10863414" cy="2167257"/>
            <a:chOff x="0" y="0"/>
            <a:chExt cx="2866578" cy="571884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866578" cy="571884"/>
            </a:xfrm>
            <a:custGeom>
              <a:avLst/>
              <a:gdLst/>
              <a:ahLst/>
              <a:cxnLst/>
              <a:rect l="l" t="t" r="r" b="b"/>
              <a:pathLst>
                <a:path w="2866578" h="571884">
                  <a:moveTo>
                    <a:pt x="20667" y="0"/>
                  </a:moveTo>
                  <a:lnTo>
                    <a:pt x="2845911" y="0"/>
                  </a:lnTo>
                  <a:cubicBezTo>
                    <a:pt x="2857325" y="0"/>
                    <a:pt x="2866578" y="9253"/>
                    <a:pt x="2866578" y="20667"/>
                  </a:cubicBezTo>
                  <a:lnTo>
                    <a:pt x="2866578" y="551217"/>
                  </a:lnTo>
                  <a:cubicBezTo>
                    <a:pt x="2866578" y="556698"/>
                    <a:pt x="2864401" y="561955"/>
                    <a:pt x="2860525" y="565831"/>
                  </a:cubicBezTo>
                  <a:cubicBezTo>
                    <a:pt x="2856649" y="569706"/>
                    <a:pt x="2851392" y="571884"/>
                    <a:pt x="2845911" y="571884"/>
                  </a:cubicBezTo>
                  <a:lnTo>
                    <a:pt x="20667" y="571884"/>
                  </a:lnTo>
                  <a:cubicBezTo>
                    <a:pt x="15186" y="571884"/>
                    <a:pt x="9929" y="569706"/>
                    <a:pt x="6053" y="565831"/>
                  </a:cubicBezTo>
                  <a:cubicBezTo>
                    <a:pt x="2177" y="561955"/>
                    <a:pt x="0" y="556698"/>
                    <a:pt x="0" y="551217"/>
                  </a:cubicBezTo>
                  <a:lnTo>
                    <a:pt x="0" y="20667"/>
                  </a:lnTo>
                  <a:cubicBezTo>
                    <a:pt x="0" y="15186"/>
                    <a:pt x="2177" y="9929"/>
                    <a:pt x="6053" y="6053"/>
                  </a:cubicBezTo>
                  <a:cubicBezTo>
                    <a:pt x="9929" y="2177"/>
                    <a:pt x="15186" y="0"/>
                    <a:pt x="20667" y="0"/>
                  </a:cubicBezTo>
                  <a:close/>
                </a:path>
              </a:pathLst>
            </a:custGeom>
            <a:solidFill>
              <a:srgbClr val="FFFFFE"/>
            </a:solidFill>
            <a:ln w="19050" cap="rnd">
              <a:solidFill>
                <a:srgbClr val="181D2B"/>
              </a:solidFill>
              <a:prstDash val="solid"/>
              <a:round/>
            </a:ln>
          </p:spPr>
        </p:sp>
        <p:sp>
          <p:nvSpPr>
            <p:cNvPr id="15" name="TextBox 15"/>
            <p:cNvSpPr txBox="1"/>
            <p:nvPr/>
          </p:nvSpPr>
          <p:spPr>
            <a:xfrm>
              <a:off x="0" y="-38100"/>
              <a:ext cx="2866578" cy="609984"/>
            </a:xfrm>
            <a:prstGeom prst="rect">
              <a:avLst/>
            </a:prstGeom>
          </p:spPr>
          <p:txBody>
            <a:bodyPr lIns="50704" tIns="50704" rIns="50704" bIns="50704" rtlCol="0" anchor="ctr"/>
            <a:lstStyle/>
            <a:p>
              <a:pPr marL="0" lvl="0" indent="0" algn="ctr">
                <a:lnSpc>
                  <a:spcPts val="3135"/>
                </a:lnSpc>
              </a:pPr>
              <a:endParaRPr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6425537" y="5457369"/>
            <a:ext cx="9523548" cy="13507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630"/>
              </a:lnSpc>
              <a:spcBef>
                <a:spcPct val="0"/>
              </a:spcBef>
            </a:pPr>
            <a:r>
              <a:rPr lang="en-US" sz="2593" u="none" strike="noStrike" spc="12">
                <a:solidFill>
                  <a:srgbClr val="181D2B"/>
                </a:solidFill>
                <a:latin typeface="Open Sauce"/>
                <a:ea typeface="Open Sauce"/>
                <a:cs typeface="Open Sauce"/>
                <a:sym typeface="Open Sauce"/>
              </a:rPr>
              <a:t>Phát triển kiến trúc hệ thống đa người dùng với RESTful API, đảm bảo khả năng mở rộng và kết nối giữa nhà trị liệu và thân chủ.</a:t>
            </a:r>
          </a:p>
        </p:txBody>
      </p:sp>
      <p:sp>
        <p:nvSpPr>
          <p:cNvPr id="17" name="Freeform 17"/>
          <p:cNvSpPr/>
          <p:nvPr/>
        </p:nvSpPr>
        <p:spPr>
          <a:xfrm>
            <a:off x="4998624" y="6044859"/>
            <a:ext cx="586747" cy="223355"/>
          </a:xfrm>
          <a:custGeom>
            <a:avLst/>
            <a:gdLst/>
            <a:ahLst/>
            <a:cxnLst/>
            <a:rect l="l" t="t" r="r" b="b"/>
            <a:pathLst>
              <a:path w="586747" h="223355">
                <a:moveTo>
                  <a:pt x="0" y="0"/>
                </a:moveTo>
                <a:lnTo>
                  <a:pt x="586747" y="0"/>
                </a:lnTo>
                <a:lnTo>
                  <a:pt x="586747" y="223355"/>
                </a:lnTo>
                <a:lnTo>
                  <a:pt x="0" y="223355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5400000">
            <a:off x="470615" y="3124077"/>
            <a:ext cx="7651050" cy="12268447"/>
          </a:xfrm>
          <a:custGeom>
            <a:avLst/>
            <a:gdLst/>
            <a:ahLst/>
            <a:cxnLst/>
            <a:rect l="l" t="t" r="r" b="b"/>
            <a:pathLst>
              <a:path w="7651050" h="12268447">
                <a:moveTo>
                  <a:pt x="0" y="0"/>
                </a:moveTo>
                <a:lnTo>
                  <a:pt x="7651049" y="0"/>
                </a:lnTo>
                <a:lnTo>
                  <a:pt x="7651049" y="12268446"/>
                </a:lnTo>
                <a:lnTo>
                  <a:pt x="0" y="12268446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grpSp>
        <p:nvGrpSpPr>
          <p:cNvPr id="3" name="Group 3"/>
          <p:cNvGrpSpPr/>
          <p:nvPr/>
        </p:nvGrpSpPr>
        <p:grpSpPr>
          <a:xfrm>
            <a:off x="1028700" y="4218294"/>
            <a:ext cx="4802016" cy="4479196"/>
            <a:chOff x="0" y="0"/>
            <a:chExt cx="1267130" cy="1181946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267130" cy="1181946"/>
            </a:xfrm>
            <a:custGeom>
              <a:avLst/>
              <a:gdLst/>
              <a:ahLst/>
              <a:cxnLst/>
              <a:rect l="l" t="t" r="r" b="b"/>
              <a:pathLst>
                <a:path w="1267130" h="1181946">
                  <a:moveTo>
                    <a:pt x="46754" y="0"/>
                  </a:moveTo>
                  <a:lnTo>
                    <a:pt x="1220375" y="0"/>
                  </a:lnTo>
                  <a:cubicBezTo>
                    <a:pt x="1232775" y="0"/>
                    <a:pt x="1244667" y="4926"/>
                    <a:pt x="1253436" y="13694"/>
                  </a:cubicBezTo>
                  <a:cubicBezTo>
                    <a:pt x="1262204" y="22462"/>
                    <a:pt x="1267130" y="34354"/>
                    <a:pt x="1267130" y="46754"/>
                  </a:cubicBezTo>
                  <a:lnTo>
                    <a:pt x="1267130" y="1135191"/>
                  </a:lnTo>
                  <a:cubicBezTo>
                    <a:pt x="1267130" y="1147591"/>
                    <a:pt x="1262204" y="1159483"/>
                    <a:pt x="1253436" y="1168252"/>
                  </a:cubicBezTo>
                  <a:cubicBezTo>
                    <a:pt x="1244667" y="1177020"/>
                    <a:pt x="1232775" y="1181946"/>
                    <a:pt x="1220375" y="1181946"/>
                  </a:cubicBezTo>
                  <a:lnTo>
                    <a:pt x="46754" y="1181946"/>
                  </a:lnTo>
                  <a:cubicBezTo>
                    <a:pt x="34354" y="1181946"/>
                    <a:pt x="22462" y="1177020"/>
                    <a:pt x="13694" y="1168252"/>
                  </a:cubicBezTo>
                  <a:cubicBezTo>
                    <a:pt x="4926" y="1159483"/>
                    <a:pt x="0" y="1147591"/>
                    <a:pt x="0" y="1135191"/>
                  </a:cubicBezTo>
                  <a:lnTo>
                    <a:pt x="0" y="46754"/>
                  </a:lnTo>
                  <a:cubicBezTo>
                    <a:pt x="0" y="34354"/>
                    <a:pt x="4926" y="22462"/>
                    <a:pt x="13694" y="13694"/>
                  </a:cubicBezTo>
                  <a:cubicBezTo>
                    <a:pt x="22462" y="4926"/>
                    <a:pt x="34354" y="0"/>
                    <a:pt x="46754" y="0"/>
                  </a:cubicBezTo>
                  <a:close/>
                </a:path>
              </a:pathLst>
            </a:custGeom>
            <a:solidFill>
              <a:srgbClr val="FFFFFE"/>
            </a:solidFill>
            <a:ln w="19050" cap="rnd">
              <a:solidFill>
                <a:srgbClr val="181D2B"/>
              </a:solidFill>
              <a:prstDash val="solid"/>
              <a:round/>
            </a:ln>
          </p:spPr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267130" cy="1220046"/>
            </a:xfrm>
            <a:prstGeom prst="rect">
              <a:avLst/>
            </a:prstGeom>
          </p:spPr>
          <p:txBody>
            <a:bodyPr lIns="50704" tIns="50704" rIns="50704" bIns="50704" rtlCol="0" anchor="ctr"/>
            <a:lstStyle/>
            <a:p>
              <a:pPr marL="0" lvl="0" indent="0" algn="ctr">
                <a:lnSpc>
                  <a:spcPts val="3135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2457284" y="2085444"/>
            <a:ext cx="4802016" cy="4479196"/>
            <a:chOff x="0" y="0"/>
            <a:chExt cx="1267130" cy="1181946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267130" cy="1181946"/>
            </a:xfrm>
            <a:custGeom>
              <a:avLst/>
              <a:gdLst/>
              <a:ahLst/>
              <a:cxnLst/>
              <a:rect l="l" t="t" r="r" b="b"/>
              <a:pathLst>
                <a:path w="1267130" h="1181946">
                  <a:moveTo>
                    <a:pt x="46754" y="0"/>
                  </a:moveTo>
                  <a:lnTo>
                    <a:pt x="1220375" y="0"/>
                  </a:lnTo>
                  <a:cubicBezTo>
                    <a:pt x="1232775" y="0"/>
                    <a:pt x="1244667" y="4926"/>
                    <a:pt x="1253436" y="13694"/>
                  </a:cubicBezTo>
                  <a:cubicBezTo>
                    <a:pt x="1262204" y="22462"/>
                    <a:pt x="1267130" y="34354"/>
                    <a:pt x="1267130" y="46754"/>
                  </a:cubicBezTo>
                  <a:lnTo>
                    <a:pt x="1267130" y="1135191"/>
                  </a:lnTo>
                  <a:cubicBezTo>
                    <a:pt x="1267130" y="1147591"/>
                    <a:pt x="1262204" y="1159483"/>
                    <a:pt x="1253436" y="1168252"/>
                  </a:cubicBezTo>
                  <a:cubicBezTo>
                    <a:pt x="1244667" y="1177020"/>
                    <a:pt x="1232775" y="1181946"/>
                    <a:pt x="1220375" y="1181946"/>
                  </a:cubicBezTo>
                  <a:lnTo>
                    <a:pt x="46754" y="1181946"/>
                  </a:lnTo>
                  <a:cubicBezTo>
                    <a:pt x="34354" y="1181946"/>
                    <a:pt x="22462" y="1177020"/>
                    <a:pt x="13694" y="1168252"/>
                  </a:cubicBezTo>
                  <a:cubicBezTo>
                    <a:pt x="4926" y="1159483"/>
                    <a:pt x="0" y="1147591"/>
                    <a:pt x="0" y="1135191"/>
                  </a:cubicBezTo>
                  <a:lnTo>
                    <a:pt x="0" y="46754"/>
                  </a:lnTo>
                  <a:cubicBezTo>
                    <a:pt x="0" y="34354"/>
                    <a:pt x="4926" y="22462"/>
                    <a:pt x="13694" y="13694"/>
                  </a:cubicBezTo>
                  <a:cubicBezTo>
                    <a:pt x="22462" y="4926"/>
                    <a:pt x="34354" y="0"/>
                    <a:pt x="46754" y="0"/>
                  </a:cubicBezTo>
                  <a:close/>
                </a:path>
              </a:pathLst>
            </a:custGeom>
            <a:solidFill>
              <a:srgbClr val="FFFFFE"/>
            </a:solidFill>
            <a:ln w="19050" cap="rnd">
              <a:solidFill>
                <a:srgbClr val="181D2B"/>
              </a:solidFill>
              <a:prstDash val="solid"/>
              <a:round/>
            </a:ln>
          </p:spPr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267130" cy="1220046"/>
            </a:xfrm>
            <a:prstGeom prst="rect">
              <a:avLst/>
            </a:prstGeom>
          </p:spPr>
          <p:txBody>
            <a:bodyPr lIns="50704" tIns="50704" rIns="50704" bIns="50704" rtlCol="0" anchor="ctr"/>
            <a:lstStyle/>
            <a:p>
              <a:pPr marL="0" lvl="0" indent="0" algn="ctr">
                <a:lnSpc>
                  <a:spcPts val="3135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6742992" y="3151869"/>
            <a:ext cx="4802016" cy="4479196"/>
            <a:chOff x="0" y="0"/>
            <a:chExt cx="1267130" cy="1181946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267130" cy="1181946"/>
            </a:xfrm>
            <a:custGeom>
              <a:avLst/>
              <a:gdLst/>
              <a:ahLst/>
              <a:cxnLst/>
              <a:rect l="l" t="t" r="r" b="b"/>
              <a:pathLst>
                <a:path w="1267130" h="1181946">
                  <a:moveTo>
                    <a:pt x="46754" y="0"/>
                  </a:moveTo>
                  <a:lnTo>
                    <a:pt x="1220375" y="0"/>
                  </a:lnTo>
                  <a:cubicBezTo>
                    <a:pt x="1232775" y="0"/>
                    <a:pt x="1244667" y="4926"/>
                    <a:pt x="1253436" y="13694"/>
                  </a:cubicBezTo>
                  <a:cubicBezTo>
                    <a:pt x="1262204" y="22462"/>
                    <a:pt x="1267130" y="34354"/>
                    <a:pt x="1267130" y="46754"/>
                  </a:cubicBezTo>
                  <a:lnTo>
                    <a:pt x="1267130" y="1135191"/>
                  </a:lnTo>
                  <a:cubicBezTo>
                    <a:pt x="1267130" y="1147591"/>
                    <a:pt x="1262204" y="1159483"/>
                    <a:pt x="1253436" y="1168252"/>
                  </a:cubicBezTo>
                  <a:cubicBezTo>
                    <a:pt x="1244667" y="1177020"/>
                    <a:pt x="1232775" y="1181946"/>
                    <a:pt x="1220375" y="1181946"/>
                  </a:cubicBezTo>
                  <a:lnTo>
                    <a:pt x="46754" y="1181946"/>
                  </a:lnTo>
                  <a:cubicBezTo>
                    <a:pt x="34354" y="1181946"/>
                    <a:pt x="22462" y="1177020"/>
                    <a:pt x="13694" y="1168252"/>
                  </a:cubicBezTo>
                  <a:cubicBezTo>
                    <a:pt x="4926" y="1159483"/>
                    <a:pt x="0" y="1147591"/>
                    <a:pt x="0" y="1135191"/>
                  </a:cubicBezTo>
                  <a:lnTo>
                    <a:pt x="0" y="46754"/>
                  </a:lnTo>
                  <a:cubicBezTo>
                    <a:pt x="0" y="34354"/>
                    <a:pt x="4926" y="22462"/>
                    <a:pt x="13694" y="13694"/>
                  </a:cubicBezTo>
                  <a:cubicBezTo>
                    <a:pt x="22462" y="4926"/>
                    <a:pt x="34354" y="0"/>
                    <a:pt x="46754" y="0"/>
                  </a:cubicBezTo>
                  <a:close/>
                </a:path>
              </a:pathLst>
            </a:custGeom>
            <a:solidFill>
              <a:srgbClr val="FFFFFE"/>
            </a:solidFill>
            <a:ln w="19050" cap="rnd">
              <a:solidFill>
                <a:srgbClr val="181D2B"/>
              </a:solidFill>
              <a:prstDash val="solid"/>
              <a:round/>
            </a:ln>
          </p:spPr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267130" cy="1220046"/>
            </a:xfrm>
            <a:prstGeom prst="rect">
              <a:avLst/>
            </a:prstGeom>
          </p:spPr>
          <p:txBody>
            <a:bodyPr lIns="50704" tIns="50704" rIns="50704" bIns="50704" rtlCol="0" anchor="ctr"/>
            <a:lstStyle/>
            <a:p>
              <a:pPr marL="0" lvl="0" indent="0" algn="ctr">
                <a:lnSpc>
                  <a:spcPts val="3135"/>
                </a:lnSpc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7156122" y="3479517"/>
            <a:ext cx="3784832" cy="272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96"/>
              </a:lnSpc>
              <a:spcBef>
                <a:spcPct val="0"/>
              </a:spcBef>
            </a:pPr>
            <a:r>
              <a:rPr lang="en-US" sz="1640" b="1" spc="8">
                <a:solidFill>
                  <a:srgbClr val="181D2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Mô hình CBT - Judith Beck (2020)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156122" y="4048051"/>
            <a:ext cx="4011851" cy="1323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32"/>
              </a:lnSpc>
              <a:spcBef>
                <a:spcPct val="0"/>
              </a:spcBef>
            </a:pPr>
            <a:r>
              <a:rPr lang="en-US" sz="1523" u="none" strike="noStrike" spc="7">
                <a:solidFill>
                  <a:srgbClr val="181D2B"/>
                </a:solidFill>
                <a:latin typeface="Open Sauce"/>
                <a:ea typeface="Open Sauce"/>
                <a:cs typeface="Open Sauce"/>
                <a:sym typeface="Open Sauce"/>
              </a:rPr>
              <a:t>Tái cấu trúc nhận thức qua Nhật ký suy nghĩ (Thought Record) 6 bước: Xác định tình huống → Cảm xúc → Suy nghĩ tự động → Bằng chứng → Phản hồi thích nghi → Kết quả.</a:t>
            </a:r>
          </a:p>
        </p:txBody>
      </p:sp>
      <p:sp>
        <p:nvSpPr>
          <p:cNvPr id="14" name="Freeform 14"/>
          <p:cNvSpPr/>
          <p:nvPr/>
        </p:nvSpPr>
        <p:spPr>
          <a:xfrm>
            <a:off x="16562179" y="8474217"/>
            <a:ext cx="697121" cy="784083"/>
          </a:xfrm>
          <a:custGeom>
            <a:avLst/>
            <a:gdLst/>
            <a:ahLst/>
            <a:cxnLst/>
            <a:rect l="l" t="t" r="r" b="b"/>
            <a:pathLst>
              <a:path w="697121" h="784083">
                <a:moveTo>
                  <a:pt x="0" y="0"/>
                </a:moveTo>
                <a:lnTo>
                  <a:pt x="697121" y="0"/>
                </a:lnTo>
                <a:lnTo>
                  <a:pt x="697121" y="784083"/>
                </a:lnTo>
                <a:lnTo>
                  <a:pt x="0" y="784083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/>
            </a:stretch>
          </a:blipFill>
          <a:ln cap="sq">
            <a:noFill/>
            <a:prstDash val="solid"/>
            <a:miter/>
          </a:ln>
        </p:spPr>
      </p:sp>
      <p:sp>
        <p:nvSpPr>
          <p:cNvPr id="17" name="Freeform 17"/>
          <p:cNvSpPr/>
          <p:nvPr/>
        </p:nvSpPr>
        <p:spPr>
          <a:xfrm rot="1433494">
            <a:off x="4930128" y="2970811"/>
            <a:ext cx="1413072" cy="1379521"/>
          </a:xfrm>
          <a:custGeom>
            <a:avLst/>
            <a:gdLst/>
            <a:ahLst/>
            <a:cxnLst/>
            <a:rect l="l" t="t" r="r" b="b"/>
            <a:pathLst>
              <a:path w="1413072" h="1379521">
                <a:moveTo>
                  <a:pt x="0" y="0"/>
                </a:moveTo>
                <a:lnTo>
                  <a:pt x="1413072" y="0"/>
                </a:lnTo>
                <a:lnTo>
                  <a:pt x="1413072" y="1379521"/>
                </a:lnTo>
                <a:lnTo>
                  <a:pt x="0" y="13795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18" name="TextBox 18"/>
          <p:cNvSpPr txBox="1"/>
          <p:nvPr/>
        </p:nvSpPr>
        <p:spPr>
          <a:xfrm>
            <a:off x="1028700" y="771525"/>
            <a:ext cx="10516308" cy="104064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7216"/>
              </a:lnSpc>
              <a:spcBef>
                <a:spcPct val="0"/>
              </a:spcBef>
            </a:pPr>
            <a:r>
              <a:rPr lang="en-US" sz="5154" b="1" u="none" strike="noStrike">
                <a:solidFill>
                  <a:srgbClr val="2B598F"/>
                </a:solidFill>
                <a:latin typeface="Agrandir Bold"/>
                <a:ea typeface="Agrandir Bold"/>
                <a:cs typeface="Agrandir Bold"/>
                <a:sym typeface="Agrandir Bold"/>
              </a:rPr>
              <a:t>Cơ Sở Lý Thuyết Lâm Sàng</a:t>
            </a:r>
          </a:p>
        </p:txBody>
      </p:sp>
      <p:sp>
        <p:nvSpPr>
          <p:cNvPr id="19" name="Freeform 19"/>
          <p:cNvSpPr/>
          <p:nvPr/>
        </p:nvSpPr>
        <p:spPr>
          <a:xfrm rot="1433494">
            <a:off x="10649180" y="1938069"/>
            <a:ext cx="1413072" cy="1379521"/>
          </a:xfrm>
          <a:custGeom>
            <a:avLst/>
            <a:gdLst/>
            <a:ahLst/>
            <a:cxnLst/>
            <a:rect l="l" t="t" r="r" b="b"/>
            <a:pathLst>
              <a:path w="1413072" h="1379521">
                <a:moveTo>
                  <a:pt x="0" y="0"/>
                </a:moveTo>
                <a:lnTo>
                  <a:pt x="1413072" y="0"/>
                </a:lnTo>
                <a:lnTo>
                  <a:pt x="1413072" y="1379521"/>
                </a:lnTo>
                <a:lnTo>
                  <a:pt x="0" y="1379521"/>
                </a:lnTo>
                <a:lnTo>
                  <a:pt x="0" y="0"/>
                </a:lnTo>
                <a:close/>
              </a:path>
            </a:pathLst>
          </a:custGeom>
          <a:blipFill>
            <a:blip r:embed="rId6">
              <a:extLst>
                <a:ext uri="{96DAC541-7B7A-43D3-8B79-37D633B846F1}">
                  <asvg:svgBlip xmlns:asvg="http://schemas.microsoft.com/office/drawing/2016/SVG/main" xmlns="" r:embed="rId7"/>
                </a:ext>
              </a:extLst>
            </a:blip>
            <a:stretch>
              <a:fillRect/>
            </a:stretch>
          </a:blipFill>
        </p:spPr>
      </p:sp>
      <p:sp>
        <p:nvSpPr>
          <p:cNvPr id="20" name="TextBox 20"/>
          <p:cNvSpPr txBox="1"/>
          <p:nvPr/>
        </p:nvSpPr>
        <p:spPr>
          <a:xfrm>
            <a:off x="1441830" y="4545942"/>
            <a:ext cx="3784832" cy="272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96"/>
              </a:lnSpc>
              <a:spcBef>
                <a:spcPct val="0"/>
              </a:spcBef>
            </a:pPr>
            <a:r>
              <a:rPr lang="en-US" sz="1640" b="1" spc="8">
                <a:solidFill>
                  <a:srgbClr val="181D2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Mô hình Clark &amp; Wells (1995)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441830" y="5114477"/>
            <a:ext cx="4011851" cy="13233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32"/>
              </a:lnSpc>
              <a:spcBef>
                <a:spcPct val="0"/>
              </a:spcBef>
            </a:pPr>
            <a:r>
              <a:rPr lang="en-US" sz="1523" u="none" strike="noStrike" spc="7">
                <a:solidFill>
                  <a:srgbClr val="181D2B"/>
                </a:solidFill>
                <a:latin typeface="Open Sauce"/>
                <a:ea typeface="Open Sauce"/>
                <a:cs typeface="Open Sauce"/>
                <a:sym typeface="Open Sauce"/>
              </a:rPr>
              <a:t>Phá vỡ vòng lặp duy trì lo âu xã hội. Cơ chế: chú ý tự hướng nội và hành vi an toàn củng cố nỗi sợ. Can thiệp: Thử nghiệm hành vi (Behavioral Experiments) để kiểm chứng niềm tin sai lệch.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12870414" y="2413092"/>
            <a:ext cx="3784832" cy="27266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296"/>
              </a:lnSpc>
              <a:spcBef>
                <a:spcPct val="0"/>
              </a:spcBef>
            </a:pPr>
            <a:r>
              <a:rPr lang="en-US" sz="1640" b="1" spc="8">
                <a:solidFill>
                  <a:srgbClr val="181D2B"/>
                </a:solidFill>
                <a:latin typeface="Open Sauce Bold"/>
                <a:ea typeface="Open Sauce Bold"/>
                <a:cs typeface="Open Sauce Bold"/>
                <a:sym typeface="Open Sauce Bold"/>
              </a:rPr>
              <a:t>Thang đo LSAS-SR (Liebowitz, 1987)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870414" y="2981626"/>
            <a:ext cx="4011851" cy="105669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2132"/>
              </a:lnSpc>
              <a:spcBef>
                <a:spcPct val="0"/>
              </a:spcBef>
            </a:pPr>
            <a:r>
              <a:rPr lang="en-US" sz="1523" u="none" strike="noStrike" spc="7">
                <a:solidFill>
                  <a:srgbClr val="181D2B"/>
                </a:solidFill>
                <a:latin typeface="Open Sauce"/>
                <a:ea typeface="Open Sauce"/>
                <a:cs typeface="Open Sauce"/>
                <a:sym typeface="Open Sauce"/>
              </a:rPr>
              <a:t>24 tình huống xã hội đo lường hai miền: Sợ hãi (Fear) và Né tránh (Avoidance). Công cụ chuẩn hóa đánh giá mức độ lo âu xã hội trước và sau can thiệp CBT số hóa.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2B5B91"/>
                </a:solidFill>
                <a:latin typeface="Aptos"/>
              </a:rPr>
              <a:t>PHẠM VI ĐỀ TÀI VÀ GIỚI HẠN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600" smtClean="0">
                <a:solidFill>
                  <a:srgbClr val="4E5B69"/>
                </a:solidFill>
                <a:latin typeface="Aptos"/>
              </a:rPr>
              <a:t>Xác định rõ phần hệ thống đã hiện thực và các nội dung chưa thuộc phạm vi đồ án.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20" name="Rounded Rectangle 19"/>
          <p:cNvSpPr/>
          <p:nvPr/>
        </p:nvSpPr>
        <p:spPr>
          <a:xfrm>
            <a:off x="952500" y="2222500"/>
            <a:ext cx="6858000" cy="495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952500" y="2222500"/>
            <a:ext cx="127000" cy="49530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/>
          <p:cNvSpPr txBox="1"/>
          <p:nvPr/>
        </p:nvSpPr>
        <p:spPr>
          <a:xfrm>
            <a:off x="1308100" y="2451100"/>
            <a:ext cx="624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B5B91"/>
                </a:solidFill>
                <a:latin typeface="Aptos"/>
              </a:rPr>
              <a:t>PHẠM VI ĐÃ HIỆN THỰC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308100" y="3009900"/>
            <a:ext cx="6248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Hồ sơ ẩn danh và tài khoản bệnh nhân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LSAS, Goal Setting và lộ trình CBT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Thought Record, Daily Check-in và Safety Gate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Đặt lịch, Web CMS và điều phối Cờ đỏ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Gemini AI kết hợp vector RAG trên Qdrant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4" name="Rounded Rectangle 23"/>
          <p:cNvSpPr/>
          <p:nvPr/>
        </p:nvSpPr>
        <p:spPr>
          <a:xfrm>
            <a:off x="8445500" y="2222500"/>
            <a:ext cx="6858000" cy="495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/>
          <p:cNvSpPr/>
          <p:nvPr/>
        </p:nvSpPr>
        <p:spPr>
          <a:xfrm>
            <a:off x="8445500" y="2222500"/>
            <a:ext cx="127000" cy="4953000"/>
          </a:xfrm>
          <a:prstGeom prst="rect">
            <a:avLst/>
          </a:prstGeom>
          <a:solidFill>
            <a:srgbClr val="E2972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8801100" y="2451100"/>
            <a:ext cx="624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E2972D"/>
                </a:solidFill>
                <a:latin typeface="Aptos"/>
              </a:rPr>
              <a:t>GIỚI HẠN VÀ LOẠI TRỪ</a:t>
            </a:r>
            <a:endParaRPr lang="en-US" sz="1900" b="1">
              <a:solidFill>
                <a:srgbClr val="E2972D"/>
              </a:solidFill>
              <a:latin typeface="Aptos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8801100" y="3009900"/>
            <a:ext cx="6248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Chưa tích hợp video call trực tiếp; sử dụng liên kết họp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AI là mô hình tổng quát, không thay thế bác sĩ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Chưa thực hiện thử nghiệm lâm sàng trên người bệnh thật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Chưa công bố độ chính xác khi thiếu tập nhãn chuyên gia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Dữ liệu nhạy cảm cần tiếp tục tăng cường quản trị khi triển khai thật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365969" y="3450709"/>
            <a:ext cx="12486777" cy="2359541"/>
          </a:xfrm>
          <a:custGeom>
            <a:avLst/>
            <a:gdLst/>
            <a:ahLst/>
            <a:cxnLst/>
            <a:rect l="l" t="t" r="r" b="b"/>
            <a:pathLst>
              <a:path w="12486777" h="2359541">
                <a:moveTo>
                  <a:pt x="0" y="0"/>
                </a:moveTo>
                <a:lnTo>
                  <a:pt x="12486777" y="0"/>
                </a:lnTo>
                <a:lnTo>
                  <a:pt x="12486777" y="2359541"/>
                </a:lnTo>
                <a:lnTo>
                  <a:pt x="0" y="2359541"/>
                </a:lnTo>
                <a:lnTo>
                  <a:pt x="0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xmlns="" r:embed="rId3"/>
                </a:ext>
              </a:extLst>
            </a:blip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14043246" y="3450709"/>
            <a:ext cx="3069285" cy="2359541"/>
          </a:xfrm>
          <a:custGeom>
            <a:avLst/>
            <a:gdLst/>
            <a:ahLst/>
            <a:cxnLst/>
            <a:rect l="l" t="t" r="r" b="b"/>
            <a:pathLst>
              <a:path w="3069285" h="2359541">
                <a:moveTo>
                  <a:pt x="0" y="0"/>
                </a:moveTo>
                <a:lnTo>
                  <a:pt x="3069285" y="0"/>
                </a:lnTo>
                <a:lnTo>
                  <a:pt x="3069285" y="2359541"/>
                </a:lnTo>
                <a:lnTo>
                  <a:pt x="0" y="2359541"/>
                </a:lnTo>
                <a:lnTo>
                  <a:pt x="0" y="0"/>
                </a:lnTo>
                <a:close/>
              </a:path>
            </a:pathLst>
          </a:custGeom>
          <a:blipFill>
            <a:blip r:embed="rId4">
              <a:extLst>
                <a:ext uri="{96DAC541-7B7A-43D3-8B79-37D633B846F1}">
                  <asvg:svgBlip xmlns:asvg="http://schemas.microsoft.com/office/drawing/2016/SVG/main" xmlns="" r:embed="rId5"/>
                </a:ext>
              </a:extLst>
            </a:blip>
            <a:stretch>
              <a:fillRect r="-306830"/>
            </a:stretch>
          </a:blipFill>
        </p:spPr>
      </p:sp>
      <p:sp>
        <p:nvSpPr>
          <p:cNvPr id="4" name="AutoShape 4"/>
          <p:cNvSpPr/>
          <p:nvPr/>
        </p:nvSpPr>
        <p:spPr>
          <a:xfrm>
            <a:off x="-433771" y="6420478"/>
            <a:ext cx="19155541" cy="0"/>
          </a:xfrm>
          <a:prstGeom prst="line">
            <a:avLst/>
          </a:prstGeom>
          <a:ln w="95250" cap="flat">
            <a:solidFill>
              <a:srgbClr val="DBE0E3"/>
            </a:solidFill>
            <a:prstDash val="solid"/>
            <a:headEnd type="none" w="sm" len="sm"/>
            <a:tailEnd type="none" w="sm" len="sm"/>
          </a:ln>
        </p:spPr>
      </p:sp>
      <p:grpSp>
        <p:nvGrpSpPr>
          <p:cNvPr id="5" name="Group 5"/>
          <p:cNvGrpSpPr/>
          <p:nvPr/>
        </p:nvGrpSpPr>
        <p:grpSpPr>
          <a:xfrm>
            <a:off x="2416972" y="6286500"/>
            <a:ext cx="267956" cy="267956"/>
            <a:chOff x="0" y="0"/>
            <a:chExt cx="812800" cy="812800"/>
          </a:xfrm>
        </p:grpSpPr>
        <p:sp>
          <p:nvSpPr>
            <p:cNvPr id="6" name="Freeform 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56E11B"/>
            </a:solidFill>
          </p:spPr>
        </p:sp>
        <p:sp>
          <p:nvSpPr>
            <p:cNvPr id="7" name="TextBox 7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5561961" y="6286500"/>
            <a:ext cx="267956" cy="267956"/>
            <a:chOff x="0" y="0"/>
            <a:chExt cx="812800" cy="812800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C267"/>
            </a:solidFill>
          </p:spPr>
        </p:sp>
        <p:sp>
          <p:nvSpPr>
            <p:cNvPr id="10" name="TextBox 10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1" name="Group 11"/>
          <p:cNvGrpSpPr/>
          <p:nvPr/>
        </p:nvGrpSpPr>
        <p:grpSpPr>
          <a:xfrm>
            <a:off x="8706950" y="6286500"/>
            <a:ext cx="267956" cy="267956"/>
            <a:chOff x="0" y="0"/>
            <a:chExt cx="812800" cy="812800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7B80"/>
            </a:solidFill>
          </p:spPr>
        </p:sp>
        <p:sp>
          <p:nvSpPr>
            <p:cNvPr id="13" name="TextBox 13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851939" y="6286500"/>
            <a:ext cx="267956" cy="267956"/>
            <a:chOff x="0" y="0"/>
            <a:chExt cx="812800" cy="81280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5D6F"/>
            </a:solidFill>
          </p:spPr>
        </p:sp>
        <p:sp>
          <p:nvSpPr>
            <p:cNvPr id="16" name="TextBox 16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</a:pPr>
              <a:endParaRPr/>
            </a:p>
          </p:txBody>
        </p:sp>
      </p:grpSp>
      <p:grpSp>
        <p:nvGrpSpPr>
          <p:cNvPr id="17" name="Group 17"/>
          <p:cNvGrpSpPr/>
          <p:nvPr/>
        </p:nvGrpSpPr>
        <p:grpSpPr>
          <a:xfrm>
            <a:off x="15044810" y="6286500"/>
            <a:ext cx="267956" cy="267956"/>
            <a:chOff x="0" y="0"/>
            <a:chExt cx="812800" cy="812800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38"/>
            </a:solidFill>
          </p:spPr>
        </p:sp>
        <p:sp>
          <p:nvSpPr>
            <p:cNvPr id="19" name="TextBox 19"/>
            <p:cNvSpPr txBox="1"/>
            <p:nvPr/>
          </p:nvSpPr>
          <p:spPr>
            <a:xfrm>
              <a:off x="76200" y="57150"/>
              <a:ext cx="660400" cy="67945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240"/>
                </a:lnSpc>
              </a:pPr>
              <a:endParaRPr/>
            </a:p>
          </p:txBody>
        </p:sp>
      </p:grpSp>
      <p:sp>
        <p:nvSpPr>
          <p:cNvPr id="20" name="Freeform 20"/>
          <p:cNvSpPr/>
          <p:nvPr/>
        </p:nvSpPr>
        <p:spPr>
          <a:xfrm>
            <a:off x="2253803" y="4172448"/>
            <a:ext cx="617717" cy="591583"/>
          </a:xfrm>
          <a:custGeom>
            <a:avLst/>
            <a:gdLst/>
            <a:ahLst/>
            <a:cxnLst/>
            <a:rect l="l" t="t" r="r" b="b"/>
            <a:pathLst>
              <a:path w="617717" h="591583">
                <a:moveTo>
                  <a:pt x="0" y="0"/>
                </a:moveTo>
                <a:lnTo>
                  <a:pt x="617718" y="0"/>
                </a:lnTo>
                <a:lnTo>
                  <a:pt x="617718" y="591583"/>
                </a:lnTo>
                <a:lnTo>
                  <a:pt x="0" y="5915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</p:sp>
      <p:sp>
        <p:nvSpPr>
          <p:cNvPr id="21" name="Freeform 21"/>
          <p:cNvSpPr/>
          <p:nvPr/>
        </p:nvSpPr>
        <p:spPr>
          <a:xfrm>
            <a:off x="5364115" y="4120804"/>
            <a:ext cx="658282" cy="624323"/>
          </a:xfrm>
          <a:custGeom>
            <a:avLst/>
            <a:gdLst/>
            <a:ahLst/>
            <a:cxnLst/>
            <a:rect l="l" t="t" r="r" b="b"/>
            <a:pathLst>
              <a:path w="658282" h="624323">
                <a:moveTo>
                  <a:pt x="0" y="0"/>
                </a:moveTo>
                <a:lnTo>
                  <a:pt x="658282" y="0"/>
                </a:lnTo>
                <a:lnTo>
                  <a:pt x="658282" y="624324"/>
                </a:lnTo>
                <a:lnTo>
                  <a:pt x="0" y="6243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/>
            </a:stretch>
          </a:blipFill>
        </p:spPr>
      </p:sp>
      <p:sp>
        <p:nvSpPr>
          <p:cNvPr id="22" name="Freeform 22"/>
          <p:cNvSpPr/>
          <p:nvPr/>
        </p:nvSpPr>
        <p:spPr>
          <a:xfrm>
            <a:off x="8287783" y="4120682"/>
            <a:ext cx="1081451" cy="630470"/>
          </a:xfrm>
          <a:custGeom>
            <a:avLst/>
            <a:gdLst/>
            <a:ahLst/>
            <a:cxnLst/>
            <a:rect l="l" t="t" r="r" b="b"/>
            <a:pathLst>
              <a:path w="1081451" h="630470">
                <a:moveTo>
                  <a:pt x="0" y="0"/>
                </a:moveTo>
                <a:lnTo>
                  <a:pt x="1081452" y="0"/>
                </a:lnTo>
                <a:lnTo>
                  <a:pt x="1081452" y="630469"/>
                </a:lnTo>
                <a:lnTo>
                  <a:pt x="0" y="630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</p:sp>
      <p:sp>
        <p:nvSpPr>
          <p:cNvPr id="23" name="Freeform 23"/>
          <p:cNvSpPr/>
          <p:nvPr/>
        </p:nvSpPr>
        <p:spPr>
          <a:xfrm>
            <a:off x="11691086" y="4019021"/>
            <a:ext cx="525258" cy="725615"/>
          </a:xfrm>
          <a:custGeom>
            <a:avLst/>
            <a:gdLst/>
            <a:ahLst/>
            <a:cxnLst/>
            <a:rect l="l" t="t" r="r" b="b"/>
            <a:pathLst>
              <a:path w="525258" h="725615">
                <a:moveTo>
                  <a:pt x="0" y="0"/>
                </a:moveTo>
                <a:lnTo>
                  <a:pt x="525259" y="0"/>
                </a:lnTo>
                <a:lnTo>
                  <a:pt x="525259" y="725615"/>
                </a:lnTo>
                <a:lnTo>
                  <a:pt x="0" y="72561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/>
            </a:stretch>
          </a:blipFill>
        </p:spPr>
      </p:sp>
      <p:sp>
        <p:nvSpPr>
          <p:cNvPr id="24" name="TextBox 24"/>
          <p:cNvSpPr txBox="1"/>
          <p:nvPr/>
        </p:nvSpPr>
        <p:spPr>
          <a:xfrm>
            <a:off x="3324443" y="904875"/>
            <a:ext cx="11639114" cy="47117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3954"/>
              </a:lnSpc>
            </a:pPr>
            <a:r>
              <a:rPr lang="en-US" sz="2824" b="1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Phương Pháp Nghiên Cứu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324443" y="1715943"/>
            <a:ext cx="11639114" cy="2478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087"/>
              </a:lnSpc>
            </a:pPr>
            <a:r>
              <a:rPr lang="en-US" sz="149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Bốn giai đoạn tuần tự trong quy trình nghiên cứu và phát triển phần mềm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1365969" y="6859672"/>
            <a:ext cx="2369964" cy="255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97"/>
              </a:lnSpc>
              <a:spcBef>
                <a:spcPct val="0"/>
              </a:spcBef>
            </a:pPr>
            <a:r>
              <a:rPr lang="en-US" sz="1569" b="1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Nghiên Cứu Lý Thuyết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365969" y="5174578"/>
            <a:ext cx="2369964" cy="20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 b="1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Giai đoạn 1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4510958" y="6859672"/>
            <a:ext cx="2369964" cy="255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97"/>
              </a:lnSpc>
              <a:spcBef>
                <a:spcPct val="0"/>
              </a:spcBef>
            </a:pPr>
            <a:r>
              <a:rPr lang="en-US" sz="1569" b="1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Phân Tích &amp; Thiết Kế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4510958" y="5174578"/>
            <a:ext cx="2369964" cy="20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 b="1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Giai đoạn 2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7655946" y="6859672"/>
            <a:ext cx="2369964" cy="255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97"/>
              </a:lnSpc>
              <a:spcBef>
                <a:spcPct val="0"/>
              </a:spcBef>
            </a:pPr>
            <a:r>
              <a:rPr lang="en-US" sz="1569" b="1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Thực Nghiệm Phần Mềm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655946" y="5174578"/>
            <a:ext cx="2369964" cy="20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 b="1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Giai đoạn 3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0800935" y="6859672"/>
            <a:ext cx="2369964" cy="2554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2197"/>
              </a:lnSpc>
              <a:spcBef>
                <a:spcPct val="0"/>
              </a:spcBef>
            </a:pPr>
            <a:r>
              <a:rPr lang="en-US" sz="1569" b="1">
                <a:solidFill>
                  <a:srgbClr val="000000"/>
                </a:solidFill>
                <a:latin typeface="TT Hoves Bold"/>
                <a:ea typeface="TT Hoves Bold"/>
                <a:cs typeface="TT Hoves Bold"/>
                <a:sym typeface="TT Hoves Bold"/>
              </a:rPr>
              <a:t>Kiểm Thử &amp; Đánh Giá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10800935" y="5174578"/>
            <a:ext cx="2369964" cy="20623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 b="1">
                <a:solidFill>
                  <a:srgbClr val="FFFFFF"/>
                </a:solidFill>
                <a:latin typeface="TT Hoves Bold"/>
                <a:ea typeface="TT Hoves Bold"/>
                <a:cs typeface="TT Hoves Bold"/>
                <a:sym typeface="TT Hoves Bold"/>
              </a:rPr>
              <a:t>Giai đoạn 4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1365969" y="7328118"/>
            <a:ext cx="2369964" cy="863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Nghiên cứu phác đồ CBT, mô hình Clark &amp; Wells và thang đo LSAS để số hóa nghiệp vụ y văn vào logic phần mềm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4510958" y="7328118"/>
            <a:ext cx="2369964" cy="863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Khảo sát yêu cầu, mô hình hóa bằng biểu đồ UML (Use Case, Activity, Sequence, Class Diagram) và thiết kế ERD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7655946" y="7328118"/>
            <a:ext cx="2369964" cy="863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en-US" sz="1255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Lập trình Backend (Spring Boot), CSDL (MySQL), Mobile App và Web CMS (Flutter), tích hợp Gemini API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10706894" y="7328118"/>
            <a:ext cx="2558045" cy="6924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757"/>
              </a:lnSpc>
              <a:spcBef>
                <a:spcPct val="0"/>
              </a:spcBef>
            </a:pPr>
            <a:r>
              <a:rPr lang="vi-VN" sz="1255" smtClean="0">
                <a:solidFill>
                  <a:srgbClr val="000000"/>
                </a:solidFill>
                <a:latin typeface="TT Hoves"/>
                <a:ea typeface="TT Hoves"/>
                <a:cs typeface="TT Hoves"/>
                <a:sym typeface="TT Hoves"/>
              </a:rPr>
              <a:t>Kiểm thử các luồng nghiệp vụ, đánh giá định tính phản hồi AI và xác minh cơ chế chống đặt lịch trùng</a:t>
            </a:r>
            <a:endParaRPr lang="en-US" sz="1255">
              <a:solidFill>
                <a:srgbClr val="000000"/>
              </a:solidFill>
              <a:latin typeface="TT Hoves"/>
              <a:ea typeface="TT Hoves"/>
              <a:cs typeface="TT Hoves"/>
              <a:sym typeface="TT Hove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Box 18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2B5B91"/>
                </a:solidFill>
                <a:latin typeface="Aptos"/>
              </a:rPr>
              <a:t>CHỨC NĂNG CHÍNH CỦA HỆ THỐNG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600" smtClean="0">
                <a:solidFill>
                  <a:srgbClr val="4E5B69"/>
                </a:solidFill>
                <a:latin typeface="Aptos"/>
              </a:rPr>
              <a:t>Ba nhóm người dùng phối hợp trên cùng một nền tảng dữ liệu.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21" name="Rounded Rectangle 20"/>
          <p:cNvSpPr/>
          <p:nvPr/>
        </p:nvSpPr>
        <p:spPr>
          <a:xfrm>
            <a:off x="698500" y="2222500"/>
            <a:ext cx="4699000" cy="5207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/>
          <p:cNvSpPr/>
          <p:nvPr/>
        </p:nvSpPr>
        <p:spPr>
          <a:xfrm>
            <a:off x="698500" y="2222500"/>
            <a:ext cx="127000" cy="52070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/>
          <p:cNvSpPr txBox="1"/>
          <p:nvPr/>
        </p:nvSpPr>
        <p:spPr>
          <a:xfrm>
            <a:off x="1054100" y="2451100"/>
            <a:ext cx="4089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B5B91"/>
                </a:solidFill>
                <a:latin typeface="Aptos"/>
              </a:rPr>
              <a:t>BỆNH NHÂN – FLUTTER APP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54100" y="3009900"/>
            <a:ext cx="4089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Hồ sơ ẩn danh và hồ sơ chính thức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LSAS và mục tiêu trị liệu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Fear Ladder và Behavioral Experiment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Daily Check-in, Thought Record và AI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Đặt lịch tư vấn từ xa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5778500" y="2222500"/>
            <a:ext cx="4699000" cy="5207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5778500" y="2222500"/>
            <a:ext cx="127000" cy="5207000"/>
          </a:xfrm>
          <a:prstGeom prst="rect">
            <a:avLst/>
          </a:prstGeom>
          <a:solidFill>
            <a:srgbClr val="32858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6134100" y="2451100"/>
            <a:ext cx="4089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32858C"/>
                </a:solidFill>
                <a:latin typeface="Aptos"/>
              </a:rPr>
              <a:t>BÁC SĨ – WEB CMS</a:t>
            </a:r>
            <a:endParaRPr lang="en-US" sz="1900" b="1">
              <a:solidFill>
                <a:srgbClr val="32858C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134100" y="3009900"/>
            <a:ext cx="4089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Danh sách bệnh nhân phụ trách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Xem trước phiên tư vấn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Theo dõi LSAS và tiến trình trị liệu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Quản lý lịch làm việc, lịch hẹn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Ghi chú lâm sàng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10858500" y="2222500"/>
            <a:ext cx="4699000" cy="5207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10858500" y="2222500"/>
            <a:ext cx="127000" cy="5207000"/>
          </a:xfrm>
          <a:prstGeom prst="rect">
            <a:avLst/>
          </a:prstGeom>
          <a:solidFill>
            <a:srgbClr val="E2972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11214100" y="2451100"/>
            <a:ext cx="4089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E2972D"/>
                </a:solidFill>
                <a:latin typeface="Aptos"/>
              </a:rPr>
              <a:t>QUẢN TRỊ VIÊN</a:t>
            </a:r>
            <a:endParaRPr lang="en-US" sz="1900" b="1">
              <a:solidFill>
                <a:srgbClr val="E2972D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1214100" y="3009900"/>
            <a:ext cx="4089400" cy="115416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Quản lý tài khoản và bác sĩ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Duyệt hồ sơ chuyên môn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Theo dõi dashboard ưu tiên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Điều phối và gán bác sĩ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Xử lý hàng chờ Cờ đỏ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946669" y="-27941"/>
            <a:ext cx="10324927" cy="10398762"/>
            <a:chOff x="0" y="0"/>
            <a:chExt cx="13766570" cy="13865017"/>
          </a:xfrm>
        </p:grpSpPr>
        <p:pic>
          <p:nvPicPr>
            <p:cNvPr id="3" name="Picture 3"/>
            <p:cNvPicPr>
              <a:picLocks noChangeAspect="1"/>
            </p:cNvPicPr>
            <p:nvPr/>
          </p:nvPicPr>
          <p:blipFill>
            <a:blip r:embed="rId2"/>
            <a:srcRect t="2569" b="2569"/>
            <a:stretch>
              <a:fillRect/>
            </a:stretch>
          </p:blipFill>
          <p:spPr>
            <a:xfrm>
              <a:off x="0" y="0"/>
              <a:ext cx="13766570" cy="13865017"/>
            </a:xfrm>
            <a:prstGeom prst="rect">
              <a:avLst/>
            </a:prstGeom>
          </p:spPr>
        </p:pic>
      </p:grpSp>
      <p:sp>
        <p:nvSpPr>
          <p:cNvPr id="4" name="TextBox 4"/>
          <p:cNvSpPr txBox="1"/>
          <p:nvPr/>
        </p:nvSpPr>
        <p:spPr>
          <a:xfrm>
            <a:off x="12793688" y="428576"/>
            <a:ext cx="1253578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Profile</a:t>
            </a:r>
          </a:p>
        </p:txBody>
      </p:sp>
      <p:sp>
        <p:nvSpPr>
          <p:cNvPr id="5" name="TextBox 5"/>
          <p:cNvSpPr txBox="1"/>
          <p:nvPr/>
        </p:nvSpPr>
        <p:spPr>
          <a:xfrm>
            <a:off x="16444568" y="428576"/>
            <a:ext cx="814732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Contact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14275866" y="428576"/>
            <a:ext cx="8568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Gallery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15361279" y="428576"/>
            <a:ext cx="856813" cy="2076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r">
              <a:lnSpc>
                <a:spcPts val="1679"/>
              </a:lnSpc>
              <a:spcBef>
                <a:spcPct val="0"/>
              </a:spcBef>
            </a:pPr>
            <a:r>
              <a:rPr lang="en-US" sz="1200">
                <a:solidFill>
                  <a:srgbClr val="000000"/>
                </a:solidFill>
                <a:latin typeface="Inter"/>
                <a:ea typeface="Inter"/>
                <a:cs typeface="Inter"/>
                <a:sym typeface="Inter"/>
              </a:rPr>
              <a:t>Portfolio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94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2B5B91"/>
                </a:solidFill>
                <a:latin typeface="Aptos"/>
              </a:rPr>
              <a:t>CÁ NHÂN HÓA LỘ TRÌNH TRỊ LIỆU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600" smtClean="0">
                <a:solidFill>
                  <a:srgbClr val="4E5B69"/>
                </a:solidFill>
                <a:latin typeface="Aptos"/>
              </a:rPr>
              <a:t>LSAS baseline quyết định mức độ; goalType là tín hiệu ưu tiên, không thay thế đánh giá lâm sàng.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97" name="Rounded Rectangle 96"/>
          <p:cNvSpPr/>
          <p:nvPr/>
        </p:nvSpPr>
        <p:spPr>
          <a:xfrm>
            <a:off x="825500" y="2413000"/>
            <a:ext cx="4445000" cy="317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/>
          <p:cNvSpPr/>
          <p:nvPr/>
        </p:nvSpPr>
        <p:spPr>
          <a:xfrm>
            <a:off x="825500" y="2413000"/>
            <a:ext cx="127000" cy="31750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9" name="TextBox 98"/>
          <p:cNvSpPr txBox="1"/>
          <p:nvPr/>
        </p:nvSpPr>
        <p:spPr>
          <a:xfrm>
            <a:off x="1181100" y="2641600"/>
            <a:ext cx="3835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B5B91"/>
                </a:solidFill>
                <a:latin typeface="Aptos"/>
              </a:rPr>
              <a:t>1. DỮ LIỆU NỀN LSAS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00" name="TextBox 99"/>
          <p:cNvSpPr txBox="1"/>
          <p:nvPr/>
        </p:nvSpPr>
        <p:spPr>
          <a:xfrm>
            <a:off x="1181100" y="3200400"/>
            <a:ext cx="383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24 tình huống được chấm theo hai chiều: Sợ hãi và Né tránh. Hệ thống chỉ lấy các tình huống có điểm lớn hơn 0 để tạo Fear Ladder.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01" name="Rounded Rectangle 100"/>
          <p:cNvSpPr/>
          <p:nvPr/>
        </p:nvSpPr>
        <p:spPr>
          <a:xfrm>
            <a:off x="5905500" y="2413000"/>
            <a:ext cx="4445000" cy="317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2" name="Rectangle 101"/>
          <p:cNvSpPr/>
          <p:nvPr/>
        </p:nvSpPr>
        <p:spPr>
          <a:xfrm>
            <a:off x="5905500" y="2413000"/>
            <a:ext cx="127000" cy="3175000"/>
          </a:xfrm>
          <a:prstGeom prst="rect">
            <a:avLst/>
          </a:prstGeom>
          <a:solidFill>
            <a:srgbClr val="6E4F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" name="TextBox 102"/>
          <p:cNvSpPr txBox="1"/>
          <p:nvPr/>
        </p:nvSpPr>
        <p:spPr>
          <a:xfrm>
            <a:off x="6261100" y="2641600"/>
            <a:ext cx="3835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900" b="1" smtClean="0">
                <a:solidFill>
                  <a:srgbClr val="6E4FAA"/>
                </a:solidFill>
                <a:latin typeface="Aptos"/>
              </a:rPr>
              <a:t>2. ƯU TIÊN THEO MỤC TIÊU</a:t>
            </a:r>
            <a:endParaRPr lang="en-US" sz="1900" b="1">
              <a:solidFill>
                <a:srgbClr val="6E4FAA"/>
              </a:solidFill>
              <a:latin typeface="Aptos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6261100" y="3200400"/>
            <a:ext cx="3835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SOCIAL ưu tiên nhóm tương tác xã hội. BEHAVIORAL ưu tiên nhóm hiệu suất/biểu diễn. EMOTIONAL giữ thứ tự trung tính và bổ sung hướng dẫn điều hòa cảm xúc.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05" name="Rounded Rectangle 104"/>
          <p:cNvSpPr/>
          <p:nvPr/>
        </p:nvSpPr>
        <p:spPr>
          <a:xfrm>
            <a:off x="10985500" y="2413000"/>
            <a:ext cx="4445000" cy="3175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6" name="Rectangle 105"/>
          <p:cNvSpPr/>
          <p:nvPr/>
        </p:nvSpPr>
        <p:spPr>
          <a:xfrm>
            <a:off x="10985500" y="2413000"/>
            <a:ext cx="127000" cy="3175000"/>
          </a:xfrm>
          <a:prstGeom prst="rect">
            <a:avLst/>
          </a:prstGeom>
          <a:solidFill>
            <a:srgbClr val="228B5E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7" name="TextBox 106"/>
          <p:cNvSpPr txBox="1"/>
          <p:nvPr/>
        </p:nvSpPr>
        <p:spPr>
          <a:xfrm>
            <a:off x="11341100" y="2641600"/>
            <a:ext cx="3835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28B5E"/>
                </a:solidFill>
                <a:latin typeface="Aptos"/>
              </a:rPr>
              <a:t>3. SẮP XẾP VÀ MỞ KHÓA</a:t>
            </a:r>
            <a:endParaRPr lang="en-US" sz="1900" b="1">
              <a:solidFill>
                <a:srgbClr val="228B5E"/>
              </a:solidFill>
              <a:latin typeface="Aptos"/>
            </a:endParaRPr>
          </a:p>
        </p:txBody>
      </p:sp>
      <p:sp>
        <p:nvSpPr>
          <p:cNvPr id="108" name="TextBox 107"/>
          <p:cNvSpPr txBox="1"/>
          <p:nvPr/>
        </p:nvSpPr>
        <p:spPr>
          <a:xfrm>
            <a:off x="11341100" y="3200400"/>
            <a:ext cx="3835400" cy="6924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Thứ tự: goalMatch giảm dần → tổng điểm tăng dần → số tình huống. Các nấc được mở dần theo trạng thái hoàn thành.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09" name="TextBox 108"/>
          <p:cNvSpPr txBox="1"/>
          <p:nvPr/>
        </p:nvSpPr>
        <p:spPr>
          <a:xfrm>
            <a:off x="1143000" y="63500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smtClean="0">
                <a:solidFill>
                  <a:srgbClr val="152D4B"/>
                </a:solidFill>
                <a:latin typeface="Aptos"/>
              </a:rPr>
              <a:t>LSAS baseline</a:t>
            </a:r>
            <a:endParaRPr lang="en-US" b="1">
              <a:solidFill>
                <a:srgbClr val="152D4B"/>
              </a:solidFill>
              <a:latin typeface="Aptos"/>
            </a:endParaRPr>
          </a:p>
        </p:txBody>
      </p:sp>
      <p:sp>
        <p:nvSpPr>
          <p:cNvPr id="110" name="TextBox 109"/>
          <p:cNvSpPr txBox="1"/>
          <p:nvPr/>
        </p:nvSpPr>
        <p:spPr>
          <a:xfrm>
            <a:off x="4064000" y="6273800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600" b="1" smtClean="0">
                <a:solidFill>
                  <a:srgbClr val="2B5B91"/>
                </a:solidFill>
                <a:latin typeface="Aptos"/>
              </a:rPr>
              <a:t>→</a:t>
            </a:r>
            <a:endParaRPr lang="en-US" sz="26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11" name="TextBox 110"/>
          <p:cNvSpPr txBox="1"/>
          <p:nvPr/>
        </p:nvSpPr>
        <p:spPr>
          <a:xfrm>
            <a:off x="4953000" y="63500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smtClean="0">
                <a:solidFill>
                  <a:srgbClr val="152D4B"/>
                </a:solidFill>
                <a:latin typeface="Aptos"/>
              </a:rPr>
              <a:t>Goal priority</a:t>
            </a:r>
            <a:endParaRPr lang="en-US" b="1">
              <a:solidFill>
                <a:srgbClr val="152D4B"/>
              </a:solidFill>
              <a:latin typeface="Aptos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7874000" y="6273800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600" b="1" smtClean="0">
                <a:solidFill>
                  <a:srgbClr val="2B5B91"/>
                </a:solidFill>
                <a:latin typeface="Aptos"/>
              </a:rPr>
              <a:t>→</a:t>
            </a:r>
            <a:endParaRPr lang="en-US" sz="26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13" name="TextBox 112"/>
          <p:cNvSpPr txBox="1"/>
          <p:nvPr/>
        </p:nvSpPr>
        <p:spPr>
          <a:xfrm>
            <a:off x="8763000" y="6350000"/>
            <a:ext cx="2667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smtClean="0">
                <a:solidFill>
                  <a:srgbClr val="152D4B"/>
                </a:solidFill>
                <a:latin typeface="Aptos"/>
              </a:rPr>
              <a:t>Fear Ladder</a:t>
            </a:r>
            <a:endParaRPr lang="en-US" b="1">
              <a:solidFill>
                <a:srgbClr val="152D4B"/>
              </a:solidFill>
              <a:latin typeface="Aptos"/>
            </a:endParaRPr>
          </a:p>
        </p:txBody>
      </p:sp>
      <p:sp>
        <p:nvSpPr>
          <p:cNvPr id="114" name="TextBox 113"/>
          <p:cNvSpPr txBox="1"/>
          <p:nvPr/>
        </p:nvSpPr>
        <p:spPr>
          <a:xfrm>
            <a:off x="11684000" y="6273800"/>
            <a:ext cx="698500" cy="40011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2600" b="1" smtClean="0">
                <a:solidFill>
                  <a:srgbClr val="2B5B91"/>
                </a:solidFill>
                <a:latin typeface="Aptos"/>
              </a:rPr>
              <a:t>→</a:t>
            </a:r>
            <a:endParaRPr lang="en-US" sz="26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15" name="TextBox 114"/>
          <p:cNvSpPr txBox="1"/>
          <p:nvPr/>
        </p:nvSpPr>
        <p:spPr>
          <a:xfrm>
            <a:off x="12446000" y="6350000"/>
            <a:ext cx="3048000" cy="27699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b="1" smtClean="0">
                <a:solidFill>
                  <a:srgbClr val="152D4B"/>
                </a:solidFill>
                <a:latin typeface="Aptos"/>
              </a:rPr>
              <a:t>Behavioral Experiment</a:t>
            </a:r>
            <a:endParaRPr lang="en-US" b="1">
              <a:solidFill>
                <a:srgbClr val="152D4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TextBox 94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Một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số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màn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hình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chính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của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hệ</a:t>
            </a:r>
            <a:r>
              <a:rPr lang="en-US" sz="3100" b="1" dirty="0" smtClean="0">
                <a:solidFill>
                  <a:srgbClr val="2B5B91"/>
                </a:solidFill>
                <a:latin typeface="Aptos"/>
              </a:rPr>
              <a:t> </a:t>
            </a:r>
            <a:r>
              <a:rPr lang="en-US" sz="3100" b="1" dirty="0" err="1" smtClean="0">
                <a:solidFill>
                  <a:srgbClr val="2B5B91"/>
                </a:solidFill>
                <a:latin typeface="Aptos"/>
              </a:rPr>
              <a:t>thống</a:t>
            </a:r>
            <a:endParaRPr lang="en-US" sz="3100" b="1" dirty="0">
              <a:solidFill>
                <a:srgbClr val="2B5B91"/>
              </a:solidFill>
              <a:latin typeface="Aptos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38400" y="1714500"/>
            <a:ext cx="4953000" cy="63246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82200" y="1722620"/>
            <a:ext cx="4953000" cy="632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3236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2B5B91"/>
                </a:solidFill>
                <a:latin typeface="Aptos"/>
              </a:rPr>
              <a:t>KẾT QUẢ NGHIÊN CỨU VÀ KỸ THUẬT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smtClean="0">
                <a:solidFill>
                  <a:srgbClr val="4E5B69"/>
                </a:solidFill>
                <a:latin typeface="Aptos"/>
              </a:rPr>
              <a:t>Các kết quả đã hiện thực và có thể chứng minh bằng code, API hoặc dữ liệu kiểm thử.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89000" y="2222500"/>
            <a:ext cx="67310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889000" y="2222500"/>
            <a:ext cx="127000" cy="23495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244600" y="2451100"/>
            <a:ext cx="6121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i-FI" sz="1900" b="1" smtClean="0">
                <a:solidFill>
                  <a:srgbClr val="2B5B91"/>
                </a:solidFill>
                <a:latin typeface="Aptos"/>
              </a:rPr>
              <a:t>SẢN PHẨM ĐA VAI TRÒ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244600" y="3009900"/>
            <a:ext cx="6121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Flutter App cho bệnh nhân; Web CMS cho bác sĩ và quản trị viên; Spring Boot API kết nối dữ liệu xuyên suốt.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255000" y="2222500"/>
            <a:ext cx="67310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/>
          <p:cNvSpPr/>
          <p:nvPr/>
        </p:nvSpPr>
        <p:spPr>
          <a:xfrm>
            <a:off x="8255000" y="2222500"/>
            <a:ext cx="127000" cy="2349500"/>
          </a:xfrm>
          <a:prstGeom prst="rect">
            <a:avLst/>
          </a:prstGeom>
          <a:solidFill>
            <a:srgbClr val="32858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8610600" y="2451100"/>
            <a:ext cx="6121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32858C"/>
                </a:solidFill>
                <a:latin typeface="Aptos"/>
              </a:rPr>
              <a:t>SỐ HÓA NGHIỆP VỤ CBT</a:t>
            </a:r>
            <a:endParaRPr lang="en-US" sz="1900" b="1">
              <a:solidFill>
                <a:srgbClr val="32858C"/>
              </a:solidFill>
              <a:latin typeface="Aptos"/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8610600" y="3009900"/>
            <a:ext cx="6121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Ánh xạ LSAS, Thought Record, Fear Ladder và Behavioral Experiment từ cơ sở lý thuyết thành luồng phần mềm.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889000" y="5080000"/>
            <a:ext cx="67310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/>
          <p:cNvSpPr/>
          <p:nvPr/>
        </p:nvSpPr>
        <p:spPr>
          <a:xfrm>
            <a:off x="889000" y="5080000"/>
            <a:ext cx="127000" cy="2349500"/>
          </a:xfrm>
          <a:prstGeom prst="rect">
            <a:avLst/>
          </a:prstGeom>
          <a:solidFill>
            <a:srgbClr val="E2972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/>
          <p:cNvSpPr txBox="1"/>
          <p:nvPr/>
        </p:nvSpPr>
        <p:spPr>
          <a:xfrm>
            <a:off x="1244600" y="5308600"/>
            <a:ext cx="6121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E2972D"/>
                </a:solidFill>
                <a:latin typeface="Aptos"/>
              </a:rPr>
              <a:t>AN TOÀN VÀ TOÀN VẸN</a:t>
            </a:r>
            <a:endParaRPr lang="en-US" sz="1900" b="1">
              <a:solidFill>
                <a:srgbClr val="E2972D"/>
              </a:solidFill>
              <a:latin typeface="Apto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244600" y="5867400"/>
            <a:ext cx="6121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JWT, AES-128 cho dữ liệu nhạy cảm, transaction và unique constraint chống trùng lịch; Safety Gate và Red Flag.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8255000" y="5080000"/>
            <a:ext cx="6731000" cy="2349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/>
          <p:cNvSpPr/>
          <p:nvPr/>
        </p:nvSpPr>
        <p:spPr>
          <a:xfrm>
            <a:off x="8255000" y="5080000"/>
            <a:ext cx="127000" cy="2349500"/>
          </a:xfrm>
          <a:prstGeom prst="rect">
            <a:avLst/>
          </a:prstGeom>
          <a:solidFill>
            <a:srgbClr val="6E4F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/>
          <p:cNvSpPr txBox="1"/>
          <p:nvPr/>
        </p:nvSpPr>
        <p:spPr>
          <a:xfrm>
            <a:off x="8610600" y="5308600"/>
            <a:ext cx="6121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it-IT" sz="1900" b="1" smtClean="0">
                <a:solidFill>
                  <a:srgbClr val="6E4FAA"/>
                </a:solidFill>
                <a:latin typeface="Aptos"/>
              </a:rPr>
              <a:t>AI, RAG VÀ KIỂM THỬ</a:t>
            </a:r>
            <a:endParaRPr lang="en-US" sz="1900" b="1">
              <a:solidFill>
                <a:srgbClr val="6E4FAA"/>
              </a:solidFill>
              <a:latin typeface="Apto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8610600" y="5867400"/>
            <a:ext cx="6121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Gemini + Qdrant, index 26 knowledge chunks; API có schema và fallback; kiểm thử sáu kịch bản nghiệp vụ trọng tâm.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1607800" y="7493000"/>
            <a:ext cx="3708400" cy="1041400"/>
          </a:xfrm>
          <a:prstGeom prst="roundRect">
            <a:avLst/>
          </a:prstGeom>
          <a:solidFill>
            <a:srgbClr val="F1F8FD"/>
          </a:solidFill>
          <a:ln>
            <a:solidFill>
              <a:srgbClr val="BCD1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861800" y="76454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 smtClean="0">
                <a:solidFill>
                  <a:srgbClr val="0E3068"/>
                </a:solidFill>
                <a:latin typeface="Aptos"/>
              </a:rPr>
              <a:t>Minh chứng nghiên cứu</a:t>
            </a:r>
            <a:endParaRPr lang="en-US" sz="12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11861800" y="7975600"/>
            <a:ext cx="3175000" cy="533400"/>
          </a:xfrm>
          <a:prstGeom prst="roundRect">
            <a:avLst/>
          </a:prstGeom>
          <a:solidFill>
            <a:srgbClr val="1C4E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vi-VN" sz="1300" b="1" smtClean="0">
                <a:solidFill>
                  <a:srgbClr val="FFFFFF"/>
                </a:solidFill>
                <a:latin typeface="Aptos"/>
              </a:rPr>
              <a:t>↗  MỞ BÁO CÁO CƠ SỞ KHOA HỌC</a:t>
            </a:r>
            <a:endParaRPr lang="en-US" sz="13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3100" b="1" smtClean="0">
                <a:solidFill>
                  <a:srgbClr val="2B5B91"/>
                </a:solidFill>
                <a:latin typeface="Aptos"/>
              </a:rPr>
              <a:t>KIỂM SOÁT TƯƠNG TRANH KHI ĐẶT LỊCH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600" smtClean="0">
                <a:solidFill>
                  <a:srgbClr val="4E5B69"/>
                </a:solidFill>
                <a:latin typeface="Aptos"/>
              </a:rPr>
              <a:t>Hai request cùng chọn một khung giờ – hệ thống bảo vệ dữ liệu qua hai lớp.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8" name="Rounded Rectangle 7"/>
          <p:cNvSpPr/>
          <p:nvPr/>
        </p:nvSpPr>
        <p:spPr>
          <a:xfrm>
            <a:off x="825500" y="2667000"/>
            <a:ext cx="3810000" cy="2603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825500" y="2667000"/>
            <a:ext cx="127000" cy="2603500"/>
          </a:xfrm>
          <a:prstGeom prst="rect">
            <a:avLst/>
          </a:prstGeom>
          <a:solidFill>
            <a:srgbClr val="4E5B69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181100" y="2895600"/>
            <a:ext cx="3200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4E5B69"/>
                </a:solidFill>
                <a:latin typeface="Aptos"/>
              </a:rPr>
              <a:t>REQUEST ĐỒNG THỜI</a:t>
            </a:r>
            <a:endParaRPr lang="en-US" sz="1900" b="1">
              <a:solidFill>
                <a:srgbClr val="4E5B69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181100" y="3454400"/>
            <a:ext cx="3200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Request A và Request B cùng gửi yêu cầu đặt một slot của bác sĩ.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4826000" y="3556000"/>
            <a:ext cx="6985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3000" b="1" smtClean="0">
                <a:solidFill>
                  <a:srgbClr val="2B5B91"/>
                </a:solidFill>
                <a:latin typeface="Aptos"/>
              </a:rPr>
              <a:t>→</a:t>
            </a:r>
            <a:endParaRPr lang="en-US" sz="30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5651500" y="2667000"/>
            <a:ext cx="4318000" cy="2603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5651500" y="2667000"/>
            <a:ext cx="127000" cy="26035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/>
          <p:cNvSpPr txBox="1"/>
          <p:nvPr/>
        </p:nvSpPr>
        <p:spPr>
          <a:xfrm>
            <a:off x="6007100" y="2895600"/>
            <a:ext cx="370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B5B91"/>
                </a:solidFill>
                <a:latin typeface="Aptos"/>
              </a:rPr>
              <a:t>SPRING BOOT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007100" y="3454400"/>
            <a:ext cx="3708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Kiểm tra nghiệp vụ và lịch tồn tại. Toàn bộ thao tác chạy trong @Transactional.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160000" y="3556000"/>
            <a:ext cx="6985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3000" b="1" smtClean="0">
                <a:solidFill>
                  <a:srgbClr val="2B5B91"/>
                </a:solidFill>
                <a:latin typeface="Aptos"/>
              </a:rPr>
              <a:t>→</a:t>
            </a:r>
            <a:endParaRPr lang="en-US" sz="30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10985500" y="2667000"/>
            <a:ext cx="4445000" cy="26035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985500" y="2667000"/>
            <a:ext cx="127000" cy="2603500"/>
          </a:xfrm>
          <a:prstGeom prst="rect">
            <a:avLst/>
          </a:prstGeom>
          <a:solidFill>
            <a:srgbClr val="6E4F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11341100" y="2895600"/>
            <a:ext cx="3835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6E4FAA"/>
                </a:solidFill>
                <a:latin typeface="Aptos"/>
              </a:rPr>
              <a:t>MYSQL – LỚP BẢO VỆ CUỐI</a:t>
            </a:r>
            <a:endParaRPr lang="en-US" sz="1900" b="1">
              <a:solidFill>
                <a:srgbClr val="6E4FAA"/>
              </a:solidFill>
              <a:latin typeface="Aptos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1341100" y="3454400"/>
            <a:ext cx="3835400" cy="461665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UNIQUE (therapist_id, start_at)</a:t>
            </a:r>
          </a:p>
          <a:p>
            <a:r>
              <a:rPr lang="en-US" sz="1500" smtClean="0">
                <a:solidFill>
                  <a:srgbClr val="152D4B"/>
                </a:solidFill>
                <a:latin typeface="Aptos"/>
              </a:rPr>
              <a:t>UNIQUE (patient_id, start_at)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3175000" y="6350000"/>
            <a:ext cx="4191000" cy="533400"/>
          </a:xfrm>
          <a:prstGeom prst="roundRect">
            <a:avLst/>
          </a:prstGeom>
          <a:solidFill>
            <a:srgbClr val="228B5E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l-PL" sz="1500" b="1" smtClean="0">
                <a:solidFill>
                  <a:srgbClr val="FFFFFF"/>
                </a:solidFill>
                <a:latin typeface="Aptos"/>
              </a:rPr>
              <a:t>200 OK – Lịch được tạo</a:t>
            </a:r>
            <a:endParaRPr lang="en-US" sz="1500" b="1">
              <a:solidFill>
                <a:srgbClr val="FFFFFF"/>
              </a:solidFill>
              <a:latin typeface="Aptos"/>
            </a:endParaRPr>
          </a:p>
        </p:txBody>
      </p:sp>
      <p:sp>
        <p:nvSpPr>
          <p:cNvPr id="23" name="Rounded Rectangle 22"/>
          <p:cNvSpPr/>
          <p:nvPr/>
        </p:nvSpPr>
        <p:spPr>
          <a:xfrm>
            <a:off x="8890000" y="6350000"/>
            <a:ext cx="4826000" cy="533400"/>
          </a:xfrm>
          <a:prstGeom prst="roundRect">
            <a:avLst/>
          </a:prstGeom>
          <a:solidFill>
            <a:srgbClr val="CD474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500" b="1" smtClean="0">
                <a:solidFill>
                  <a:srgbClr val="FFFFFF"/>
                </a:solidFill>
                <a:latin typeface="Aptos"/>
              </a:rPr>
              <a:t>409 Conflict – Từ chối lịch trùng</a:t>
            </a:r>
            <a:endParaRPr lang="en-US" sz="15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9FE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3100" b="1" smtClean="0">
                <a:solidFill>
                  <a:srgbClr val="2B5B91"/>
                </a:solidFill>
                <a:latin typeface="Aptos"/>
              </a:rPr>
              <a:t>KẾT QUẢ ĐÁNH GIÁ AI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914400" y="1333500"/>
            <a:ext cx="14224000" cy="24622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600" smtClean="0">
                <a:solidFill>
                  <a:srgbClr val="4E5B69"/>
                </a:solidFill>
                <a:latin typeface="Aptos"/>
              </a:rPr>
              <a:t>Đánh giá ở mức chức năng phần mềm; chưa phải thử nghiệm lâm sàng.</a:t>
            </a:r>
            <a:endParaRPr lang="en-US" sz="1600">
              <a:solidFill>
                <a:srgbClr val="4E5B69"/>
              </a:solidFill>
              <a:latin typeface="Aptos"/>
            </a:endParaRPr>
          </a:p>
        </p:txBody>
      </p:sp>
      <p:sp>
        <p:nvSpPr>
          <p:cNvPr id="12" name="Rounded Rectangle 11"/>
          <p:cNvSpPr/>
          <p:nvPr/>
        </p:nvSpPr>
        <p:spPr>
          <a:xfrm>
            <a:off x="889000" y="2349500"/>
            <a:ext cx="6604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889000" y="2349500"/>
            <a:ext cx="127000" cy="3810000"/>
          </a:xfrm>
          <a:prstGeom prst="rect">
            <a:avLst/>
          </a:prstGeom>
          <a:solidFill>
            <a:srgbClr val="228B5E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1244600" y="2578100"/>
            <a:ext cx="599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28B5E"/>
                </a:solidFill>
                <a:latin typeface="Aptos"/>
              </a:rPr>
              <a:t>KẾT QUẢ ĐẠT</a:t>
            </a:r>
            <a:endParaRPr lang="en-US" sz="1900" b="1">
              <a:solidFill>
                <a:srgbClr val="228B5E"/>
              </a:solidFill>
              <a:latin typeface="Aptos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244600" y="3136900"/>
            <a:ext cx="5994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✓ API và JSON contract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✓ Qdrant RAG – 26 chunks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✓ Fallback khi Gemini/Qdrant lỗi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✓ Thought Record lưu AI metadata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16" name="Rounded Rectangle 15"/>
          <p:cNvSpPr/>
          <p:nvPr/>
        </p:nvSpPr>
        <p:spPr>
          <a:xfrm>
            <a:off x="8255000" y="2349500"/>
            <a:ext cx="6604000" cy="381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8255000" y="2349500"/>
            <a:ext cx="127000" cy="3810000"/>
          </a:xfrm>
          <a:prstGeom prst="rect">
            <a:avLst/>
          </a:prstGeom>
          <a:solidFill>
            <a:srgbClr val="E2972D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TextBox 17"/>
          <p:cNvSpPr txBox="1"/>
          <p:nvPr/>
        </p:nvSpPr>
        <p:spPr>
          <a:xfrm>
            <a:off x="8610600" y="2578100"/>
            <a:ext cx="5994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E2972D"/>
                </a:solidFill>
                <a:latin typeface="Aptos"/>
              </a:rPr>
              <a:t>KẾT QUẢ CẦN HIỆU CHỈNH</a:t>
            </a:r>
            <a:endParaRPr lang="en-US" sz="1900" b="1">
              <a:solidFill>
                <a:srgbClr val="E2972D"/>
              </a:solidFill>
              <a:latin typeface="Apto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8610600" y="3136900"/>
            <a:ext cx="5994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△ Nhận diện distortion: đạt một phần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△ Corpus tri thức còn nhỏ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○ Chưa có tập nhãn chuyên gia đủ lớn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○ Chưa đánh giá lâm sàng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587500" y="6794500"/>
            <a:ext cx="13081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vi-VN" sz="2000" b="1" smtClean="0">
                <a:solidFill>
                  <a:srgbClr val="152D4B"/>
                </a:solidFill>
                <a:latin typeface="Aptos"/>
              </a:rPr>
              <a:t>AI hỗ trợ nhận thức và điều hướng an toàn; không chẩn đoán hoặc thay thế quyết định của bác sĩ.</a:t>
            </a:r>
            <a:endParaRPr lang="en-US" sz="2000" b="1">
              <a:solidFill>
                <a:srgbClr val="152D4B"/>
              </a:solidFill>
              <a:latin typeface="Aptos"/>
            </a:endParaRPr>
          </a:p>
        </p:txBody>
      </p:sp>
      <p:sp>
        <p:nvSpPr>
          <p:cNvPr id="2" name="Rounded Rectangle 1"/>
          <p:cNvSpPr/>
          <p:nvPr/>
        </p:nvSpPr>
        <p:spPr>
          <a:xfrm>
            <a:off x="11607800" y="7493000"/>
            <a:ext cx="3708400" cy="1041400"/>
          </a:xfrm>
          <a:prstGeom prst="roundRect">
            <a:avLst/>
          </a:prstGeom>
          <a:solidFill>
            <a:srgbClr val="F1F8FD"/>
          </a:solidFill>
          <a:ln>
            <a:solidFill>
              <a:srgbClr val="BCD1E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1861800" y="7645400"/>
            <a:ext cx="3175000" cy="18466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200" b="1" smtClean="0">
                <a:solidFill>
                  <a:srgbClr val="0E3068"/>
                </a:solidFill>
                <a:latin typeface="Aptos"/>
              </a:rPr>
              <a:t>Minh chứng đánh giá</a:t>
            </a:r>
            <a:endParaRPr lang="en-US" sz="1200" b="1">
              <a:solidFill>
                <a:srgbClr val="0E3068"/>
              </a:solidFill>
              <a:latin typeface="Aptos"/>
            </a:endParaRPr>
          </a:p>
        </p:txBody>
      </p:sp>
      <p:sp>
        <p:nvSpPr>
          <p:cNvPr id="4" name="Rounded Rectangle 3">
            <a:hlinkClick r:id="rId2"/>
          </p:cNvPr>
          <p:cNvSpPr/>
          <p:nvPr/>
        </p:nvSpPr>
        <p:spPr>
          <a:xfrm>
            <a:off x="11861800" y="7975600"/>
            <a:ext cx="3175000" cy="533400"/>
          </a:xfrm>
          <a:prstGeom prst="roundRect">
            <a:avLst/>
          </a:prstGeom>
          <a:solidFill>
            <a:srgbClr val="1C4EAA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300" b="1" smtClean="0">
                <a:solidFill>
                  <a:srgbClr val="FFFFFF"/>
                </a:solidFill>
                <a:latin typeface="Aptos"/>
              </a:rPr>
              <a:t>↗  MỞ BÁO CÁO ĐÁNH GIÁ AI</a:t>
            </a:r>
            <a:endParaRPr lang="en-US" sz="1300" b="1">
              <a:solidFill>
                <a:srgbClr val="FFFFFF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extBox 23"/>
          <p:cNvSpPr txBox="1"/>
          <p:nvPr/>
        </p:nvSpPr>
        <p:spPr>
          <a:xfrm>
            <a:off x="889000" y="482600"/>
            <a:ext cx="14478000" cy="47705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3100" b="1" smtClean="0">
                <a:solidFill>
                  <a:srgbClr val="2B5B91"/>
                </a:solidFill>
                <a:latin typeface="Aptos"/>
              </a:rPr>
              <a:t>KẾT LUẬN VÀ HƯỚNG PHÁT TRIỂN</a:t>
            </a:r>
            <a:endParaRPr lang="en-US" sz="31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5" name="Rounded Rectangle 24"/>
          <p:cNvSpPr/>
          <p:nvPr/>
        </p:nvSpPr>
        <p:spPr>
          <a:xfrm>
            <a:off x="889000" y="2159000"/>
            <a:ext cx="6858000" cy="495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/>
          <p:cNvSpPr/>
          <p:nvPr/>
        </p:nvSpPr>
        <p:spPr>
          <a:xfrm>
            <a:off x="889000" y="2159000"/>
            <a:ext cx="127000" cy="4953000"/>
          </a:xfrm>
          <a:prstGeom prst="rect">
            <a:avLst/>
          </a:prstGeom>
          <a:solidFill>
            <a:srgbClr val="2B5B91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/>
          <p:cNvSpPr txBox="1"/>
          <p:nvPr/>
        </p:nvSpPr>
        <p:spPr>
          <a:xfrm>
            <a:off x="1244600" y="2387600"/>
            <a:ext cx="624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en-US" sz="1900" b="1" smtClean="0">
                <a:solidFill>
                  <a:srgbClr val="2B5B91"/>
                </a:solidFill>
                <a:latin typeface="Aptos"/>
              </a:rPr>
              <a:t>KẾT LUẬN</a:t>
            </a:r>
            <a:endParaRPr lang="en-US" sz="1900" b="1">
              <a:solidFill>
                <a:srgbClr val="2B5B91"/>
              </a:solidFill>
              <a:latin typeface="Aptos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244600" y="2946400"/>
            <a:ext cx="6248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Hoàn thiện hệ thống đa vai trò App – CMS – Backend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Số hóa các luồng CBT cốt lõi cho lo âu xã hội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Tích hợp vector RAG và cơ chế fallback an toàn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Bảo vệ toàn vẹn lịch hẹn bằng transaction và constraint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  <p:sp>
        <p:nvSpPr>
          <p:cNvPr id="29" name="Rounded Rectangle 28"/>
          <p:cNvSpPr/>
          <p:nvPr/>
        </p:nvSpPr>
        <p:spPr>
          <a:xfrm>
            <a:off x="8382000" y="2159000"/>
            <a:ext cx="6858000" cy="4953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ED1E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/>
          <p:cNvSpPr/>
          <p:nvPr/>
        </p:nvSpPr>
        <p:spPr>
          <a:xfrm>
            <a:off x="8382000" y="2159000"/>
            <a:ext cx="127000" cy="4953000"/>
          </a:xfrm>
          <a:prstGeom prst="rect">
            <a:avLst/>
          </a:prstGeom>
          <a:solidFill>
            <a:srgbClr val="32858C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50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/>
          <p:cNvSpPr txBox="1"/>
          <p:nvPr/>
        </p:nvSpPr>
        <p:spPr>
          <a:xfrm>
            <a:off x="8737600" y="2387600"/>
            <a:ext cx="6248400" cy="2923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900" b="1" smtClean="0">
                <a:solidFill>
                  <a:srgbClr val="32858C"/>
                </a:solidFill>
                <a:latin typeface="Aptos"/>
              </a:rPr>
              <a:t>HƯỚNG PHÁT TRIỂN</a:t>
            </a:r>
            <a:endParaRPr lang="en-US" sz="1900" b="1">
              <a:solidFill>
                <a:srgbClr val="32858C"/>
              </a:solidFill>
              <a:latin typeface="Aptos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8737600" y="2946400"/>
            <a:ext cx="6248400" cy="923330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Mở rộng và thẩm định corpus tri thức với chuyên gia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Đánh giá AI trên tập dữ liệu được gán nhãn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Bổ sung video call và thông báo thời gian thực</a:t>
            </a:r>
          </a:p>
          <a:p>
            <a:r>
              <a:rPr lang="vi-VN" sz="1500" smtClean="0">
                <a:solidFill>
                  <a:srgbClr val="152D4B"/>
                </a:solidFill>
                <a:latin typeface="Aptos"/>
              </a:rPr>
              <a:t>• Tăng cường audit, bảo mật khóa và triển khai production</a:t>
            </a:r>
            <a:endParaRPr lang="en-US" sz="1500">
              <a:solidFill>
                <a:srgbClr val="152D4B"/>
              </a:solidFill>
              <a:latin typeface="Apto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1731947" y="-383853"/>
            <a:ext cx="11054707" cy="11054707"/>
            <a:chOff x="0" y="0"/>
            <a:chExt cx="812800" cy="8128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2"/>
              <a:stretch>
                <a:fillRect/>
              </a:stretch>
            </a:blipFill>
          </p:spPr>
        </p:sp>
      </p:grpSp>
      <p:grpSp>
        <p:nvGrpSpPr>
          <p:cNvPr id="4" name="Group 4"/>
          <p:cNvGrpSpPr/>
          <p:nvPr/>
        </p:nvGrpSpPr>
        <p:grpSpPr>
          <a:xfrm>
            <a:off x="-2541448" y="0"/>
            <a:ext cx="4056204" cy="4123136"/>
            <a:chOff x="0" y="0"/>
            <a:chExt cx="799606" cy="812800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799606" cy="812800"/>
            </a:xfrm>
            <a:custGeom>
              <a:avLst/>
              <a:gdLst/>
              <a:ahLst/>
              <a:cxnLst/>
              <a:rect l="l" t="t" r="r" b="b"/>
              <a:pathLst>
                <a:path w="799606" h="812800">
                  <a:moveTo>
                    <a:pt x="399803" y="0"/>
                  </a:moveTo>
                  <a:cubicBezTo>
                    <a:pt x="178998" y="0"/>
                    <a:pt x="0" y="181951"/>
                    <a:pt x="0" y="406400"/>
                  </a:cubicBezTo>
                  <a:cubicBezTo>
                    <a:pt x="0" y="630849"/>
                    <a:pt x="178998" y="812800"/>
                    <a:pt x="399803" y="812800"/>
                  </a:cubicBezTo>
                  <a:cubicBezTo>
                    <a:pt x="620608" y="812800"/>
                    <a:pt x="799606" y="630849"/>
                    <a:pt x="799606" y="406400"/>
                  </a:cubicBezTo>
                  <a:cubicBezTo>
                    <a:pt x="799606" y="181951"/>
                    <a:pt x="620608" y="0"/>
                    <a:pt x="399803" y="0"/>
                  </a:cubicBezTo>
                  <a:close/>
                </a:path>
              </a:pathLst>
            </a:custGeom>
            <a:ln w="628650" cap="sq">
              <a:solidFill>
                <a:srgbClr val="3E8CB7"/>
              </a:solidFill>
              <a:prstDash val="solid"/>
              <a:miter/>
            </a:ln>
          </p:spPr>
        </p:sp>
        <p:sp>
          <p:nvSpPr>
            <p:cNvPr id="6" name="TextBox 6"/>
            <p:cNvSpPr txBox="1"/>
            <p:nvPr/>
          </p:nvSpPr>
          <p:spPr>
            <a:xfrm>
              <a:off x="74963" y="38100"/>
              <a:ext cx="64968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grpSp>
        <p:nvGrpSpPr>
          <p:cNvPr id="7" name="Group 7"/>
          <p:cNvGrpSpPr/>
          <p:nvPr/>
        </p:nvGrpSpPr>
        <p:grpSpPr>
          <a:xfrm>
            <a:off x="4910788" y="9421802"/>
            <a:ext cx="2498104" cy="2498104"/>
            <a:chOff x="0" y="0"/>
            <a:chExt cx="812800" cy="8128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E8CB7"/>
            </a:solidFill>
          </p:spPr>
        </p:sp>
        <p:sp>
          <p:nvSpPr>
            <p:cNvPr id="9" name="TextBox 9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0" name="Freeform 10"/>
          <p:cNvSpPr/>
          <p:nvPr/>
        </p:nvSpPr>
        <p:spPr>
          <a:xfrm>
            <a:off x="11245890" y="2061568"/>
            <a:ext cx="486056" cy="448083"/>
          </a:xfrm>
          <a:custGeom>
            <a:avLst/>
            <a:gdLst/>
            <a:ahLst/>
            <a:cxnLst/>
            <a:rect l="l" t="t" r="r" b="b"/>
            <a:pathLst>
              <a:path w="486056" h="448083">
                <a:moveTo>
                  <a:pt x="0" y="0"/>
                </a:moveTo>
                <a:lnTo>
                  <a:pt x="486057" y="0"/>
                </a:lnTo>
                <a:lnTo>
                  <a:pt x="486057" y="448083"/>
                </a:lnTo>
                <a:lnTo>
                  <a:pt x="0" y="4480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 l="-31484" t="-39236" r="-39297" b="-46019"/>
            </a:stretch>
          </a:blipFill>
        </p:spPr>
      </p:sp>
      <p:sp>
        <p:nvSpPr>
          <p:cNvPr id="11" name="Freeform 11"/>
          <p:cNvSpPr/>
          <p:nvPr/>
        </p:nvSpPr>
        <p:spPr>
          <a:xfrm>
            <a:off x="1609799" y="7186245"/>
            <a:ext cx="486056" cy="448083"/>
          </a:xfrm>
          <a:custGeom>
            <a:avLst/>
            <a:gdLst/>
            <a:ahLst/>
            <a:cxnLst/>
            <a:rect l="l" t="t" r="r" b="b"/>
            <a:pathLst>
              <a:path w="486056" h="448083">
                <a:moveTo>
                  <a:pt x="0" y="0"/>
                </a:moveTo>
                <a:lnTo>
                  <a:pt x="486056" y="0"/>
                </a:lnTo>
                <a:lnTo>
                  <a:pt x="486056" y="448083"/>
                </a:lnTo>
                <a:lnTo>
                  <a:pt x="0" y="448083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 l="-31484" t="-39236" r="-39297" b="-46019"/>
            </a:stretch>
          </a:blipFill>
        </p:spPr>
      </p:sp>
      <p:sp>
        <p:nvSpPr>
          <p:cNvPr id="12" name="TextBox 12"/>
          <p:cNvSpPr txBox="1"/>
          <p:nvPr/>
        </p:nvSpPr>
        <p:spPr>
          <a:xfrm>
            <a:off x="1028700" y="3097926"/>
            <a:ext cx="10125514" cy="41387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ctr">
              <a:lnSpc>
                <a:spcPts val="16236"/>
              </a:lnSpc>
            </a:pPr>
            <a:r>
              <a:rPr lang="en-US" sz="13997" b="1">
                <a:solidFill>
                  <a:srgbClr val="2A426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CẢM ƠN</a:t>
            </a:r>
          </a:p>
          <a:p>
            <a:pPr marL="0" lvl="0" indent="0" algn="ctr">
              <a:lnSpc>
                <a:spcPts val="16236"/>
              </a:lnSpc>
            </a:pPr>
            <a:r>
              <a:rPr lang="en-US" sz="13997" b="1">
                <a:solidFill>
                  <a:srgbClr val="2A4263"/>
                </a:solidFill>
                <a:latin typeface="League Spartan"/>
                <a:ea typeface="League Spartan"/>
                <a:cs typeface="League Spartan"/>
                <a:sym typeface="League Spartan"/>
              </a:rPr>
              <a:t>QUÝ VỊ!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1028700" y="8802049"/>
            <a:ext cx="6285149" cy="456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24"/>
              </a:lnSpc>
            </a:pPr>
            <a:r>
              <a:rPr lang="en-US" sz="2660">
                <a:solidFill>
                  <a:srgbClr val="2A4263"/>
                </a:solidFill>
                <a:latin typeface="Glacial Indifference"/>
                <a:ea typeface="Glacial Indifference"/>
                <a:cs typeface="Glacial Indifference"/>
                <a:sym typeface="Glacial Indifference"/>
              </a:rPr>
              <a:t>Nhóm Nghiên Cứu &amp; Phát Triển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9500164" y="8753067"/>
            <a:ext cx="4463565" cy="4562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3724"/>
              </a:lnSpc>
            </a:pPr>
            <a:r>
              <a:rPr lang="en-US" sz="2660" b="1">
                <a:solidFill>
                  <a:srgbClr val="2A4263"/>
                </a:solidFill>
                <a:latin typeface="Glacial Indifference Bold"/>
                <a:ea typeface="Glacial Indifference Bold"/>
                <a:cs typeface="Glacial Indifference Bold"/>
                <a:sym typeface="Glacial Indifference Bold"/>
              </a:rPr>
              <a:t>Lo Âu Xã Hội AI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9500164" y="-1550961"/>
            <a:ext cx="2498104" cy="2498104"/>
            <a:chOff x="0" y="0"/>
            <a:chExt cx="812800" cy="8128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3E8CB7"/>
            </a:solidFill>
          </p:spPr>
        </p:sp>
        <p:sp>
          <p:nvSpPr>
            <p:cNvPr id="17" name="TextBox 17"/>
            <p:cNvSpPr txBox="1"/>
            <p:nvPr/>
          </p:nvSpPr>
          <p:spPr>
            <a:xfrm>
              <a:off x="76200" y="38100"/>
              <a:ext cx="660400" cy="6985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marL="0" lvl="0" indent="0"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8" name="Freeform 18"/>
          <p:cNvSpPr/>
          <p:nvPr/>
        </p:nvSpPr>
        <p:spPr>
          <a:xfrm rot="2599173">
            <a:off x="2531375" y="1367104"/>
            <a:ext cx="609542" cy="561922"/>
          </a:xfrm>
          <a:custGeom>
            <a:avLst/>
            <a:gdLst/>
            <a:ahLst/>
            <a:cxnLst/>
            <a:rect l="l" t="t" r="r" b="b"/>
            <a:pathLst>
              <a:path w="609542" h="561922">
                <a:moveTo>
                  <a:pt x="0" y="0"/>
                </a:moveTo>
                <a:lnTo>
                  <a:pt x="609542" y="0"/>
                </a:lnTo>
                <a:lnTo>
                  <a:pt x="609542" y="561922"/>
                </a:lnTo>
                <a:lnTo>
                  <a:pt x="0" y="561922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xmlns="" r:embed="rId4"/>
                </a:ext>
              </a:extLst>
            </a:blip>
            <a:stretch>
              <a:fillRect l="-31484" t="-39236" r="-39297" b="-46019"/>
            </a:stretch>
          </a:blipFill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1536</Words>
  <Application>Microsoft Office PowerPoint</Application>
  <PresentationFormat>Custom</PresentationFormat>
  <Paragraphs>156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32" baseType="lpstr">
      <vt:lpstr>Arial</vt:lpstr>
      <vt:lpstr>Glacial Indifference Bold</vt:lpstr>
      <vt:lpstr>TT Hoves Bold</vt:lpstr>
      <vt:lpstr>Open Sauce</vt:lpstr>
      <vt:lpstr>Inter</vt:lpstr>
      <vt:lpstr>Open Sauce Bold</vt:lpstr>
      <vt:lpstr>Calibri</vt:lpstr>
      <vt:lpstr>Aptos</vt:lpstr>
      <vt:lpstr>League Spartan</vt:lpstr>
      <vt:lpstr>Nunito Bold</vt:lpstr>
      <vt:lpstr>Poppins Bold</vt:lpstr>
      <vt:lpstr>Glacial Indifference</vt:lpstr>
      <vt:lpstr>Agrandir Bold</vt:lpstr>
      <vt:lpstr>Poppins</vt:lpstr>
      <vt:lpstr>TT Hoves</vt:lpstr>
      <vt:lpstr>Nunito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Sinh viên: Nguyễn Khắc Nam Phương (2251172459) | Lớp: 64KTPM5 - Ngành: Kỹ thuật phần mềm</dc:title>
  <cp:lastModifiedBy>T14</cp:lastModifiedBy>
  <cp:revision>4</cp:revision>
  <dcterms:created xsi:type="dcterms:W3CDTF">2006-08-16T00:00:00Z</dcterms:created>
  <dcterms:modified xsi:type="dcterms:W3CDTF">2026-07-04T15:06:09Z</dcterms:modified>
  <dc:identifier>DAHOWN8GcjQ</dc:identifier>
</cp:coreProperties>
</file>