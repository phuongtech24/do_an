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1" r:id="rId13"/>
    <p:sldId id="273" r:id="rId14"/>
    <p:sldId id="274" r:id="rId15"/>
  </p:sldIdLst>
  <p:sldSz cx="18288000" cy="10287000"/>
  <p:notesSz cx="6858000" cy="9144000"/>
  <p:embeddedFontLst>
    <p:embeddedFont>
      <p:font typeface="Nunito" panose="020B0604020202020204" charset="0"/>
      <p:regular r:id="rId16"/>
    </p:embeddedFont>
    <p:embeddedFont>
      <p:font typeface="Poppins Bold" panose="020B0604020202020204" charset="0"/>
      <p:regular r:id="rId17"/>
    </p:embeddedFont>
    <p:embeddedFont>
      <p:font typeface="Poppins" panose="020B0604020202020204" charset="0"/>
      <p:regular r:id="rId18"/>
    </p:embeddedFont>
    <p:embeddedFont>
      <p:font typeface="League Spartan" panose="020B0604020202020204" charset="0"/>
      <p:regular r:id="rId19"/>
    </p:embeddedFont>
    <p:embeddedFont>
      <p:font typeface="TT Hoves Bold" panose="020B0604020202020204" charset="0"/>
      <p:regular r:id="rId20"/>
    </p:embeddedFont>
    <p:embeddedFont>
      <p:font typeface="Inter" panose="020B0604020202020204" charset="0"/>
      <p:regular r:id="rId21"/>
    </p:embeddedFont>
    <p:embeddedFont>
      <p:font typeface="TT Hoves" panose="020B0604020202020204" charset="0"/>
      <p:regular r:id="rId22"/>
    </p:embeddedFont>
    <p:embeddedFont>
      <p:font typeface="Glacial Indifference" panose="020B0604020202020204" charset="0"/>
      <p:regular r:id="rId23"/>
    </p:embeddedFont>
    <p:embeddedFont>
      <p:font typeface="Nunito Bold" panose="020B0604020202020204" charset="0"/>
      <p:regular r:id="rId24"/>
    </p:embeddedFont>
    <p:embeddedFont>
      <p:font typeface="Agrandir Bold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Glacial Indifference Bold" panose="020B0604020202020204" charset="0"/>
      <p:regular r:id="rId30"/>
    </p:embeddedFont>
    <p:embeddedFont>
      <p:font typeface="Open Sauce" panose="020B0604020202020204" charset="0"/>
      <p:regular r:id="rId31"/>
    </p:embeddedFont>
    <p:embeddedFont>
      <p:font typeface="Open Sauce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sv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5_co_so_khoa_hoc_va_anh_xa_nghiep_vu.md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4_bao_cao_danh_gia_thu_nghiem_ai.md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1F8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6256000" cy="965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87400" y="2540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 smtClean="0">
                <a:solidFill>
                  <a:srgbClr val="0E3068"/>
                </a:solidFill>
                <a:latin typeface="Aptos"/>
              </a:rPr>
              <a:t>TRƯỜNG ĐẠI HỌC THỦY LỢI</a:t>
            </a:r>
            <a:endParaRPr lang="en-US" sz="16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400" y="5588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smtClean="0">
                <a:solidFill>
                  <a:srgbClr val="495869"/>
                </a:solidFill>
                <a:latin typeface="Aptos"/>
              </a:rPr>
              <a:t>KHOA CÔNG NGHỆ THÔNG TIN</a:t>
            </a:r>
            <a:endParaRPr lang="en-US" sz="10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33000" y="965200"/>
            <a:ext cx="6223000" cy="7239000"/>
          </a:xfrm>
          <a:prstGeom prst="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3081000" y="965200"/>
            <a:ext cx="3175000" cy="7239000"/>
          </a:xfrm>
          <a:prstGeom prst="rect">
            <a:avLst/>
          </a:prstGeom>
          <a:solidFill>
            <a:srgbClr val="0E3068">
              <a:alpha val="9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795000" y="2032000"/>
            <a:ext cx="3111500" cy="31115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 cap="flat" cmpd="sng" algn="ctr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2446000" y="41910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 algn="ctr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0947400" y="31750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 smtClean="0">
                <a:solidFill>
                  <a:srgbClr val="FFFFFF"/>
                </a:solidFill>
                <a:latin typeface="Aptos"/>
              </a:rPr>
              <a:t>AI + CBT</a:t>
            </a:r>
            <a:endParaRPr lang="en-US" sz="3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795000" y="4000500"/>
            <a:ext cx="469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smtClean="0">
                <a:solidFill>
                  <a:srgbClr val="FFFFFF"/>
                </a:solidFill>
                <a:latin typeface="Aptos"/>
              </a:rPr>
              <a:t>Hỗ trợ • Theo dõi • An toàn</a:t>
            </a:r>
            <a:endParaRPr lang="en-US" sz="15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87400" y="1524000"/>
            <a:ext cx="9906000" cy="546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219200" y="1905000"/>
            <a:ext cx="2667000" cy="457200"/>
          </a:xfrm>
          <a:prstGeom prst="round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mtClean="0">
                <a:solidFill>
                  <a:srgbClr val="FFFFFF"/>
                </a:solidFill>
                <a:latin typeface="Aptos"/>
              </a:rPr>
              <a:t>ĐỒ ÁN TỐT NGHIỆP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19200" y="27305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smtClean="0">
                <a:solidFill>
                  <a:srgbClr val="1C4EAA"/>
                </a:solidFill>
                <a:latin typeface="Aptos"/>
              </a:rPr>
              <a:t>ĐỀ TÀI</a:t>
            </a:r>
            <a:endParaRPr lang="en-US" sz="1500" b="1">
              <a:solidFill>
                <a:srgbClr val="1C4EA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19200" y="3200400"/>
            <a:ext cx="825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0E3068"/>
                </a:solidFill>
                <a:latin typeface="Aptos"/>
              </a:rPr>
              <a:t>RECONNECT MINDHEALTH</a:t>
            </a:r>
            <a:endParaRPr lang="en-US" sz="31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9200" y="4000500"/>
            <a:ext cx="825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 smtClean="0">
                <a:solidFill>
                  <a:srgbClr val="0E3068"/>
                </a:solidFill>
                <a:latin typeface="Aptos"/>
              </a:rPr>
              <a:t>Hệ thống hỗ trợ trị liệu lo âu xã hội tích hợp AI</a:t>
            </a:r>
            <a:endParaRPr lang="en-US" sz="27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19200" y="5334000"/>
            <a:ext cx="825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495869"/>
                </a:solidFill>
                <a:latin typeface="Aptos"/>
              </a:rPr>
              <a:t>Ứng dụng CBT số hóa, RAG và điều phối lâm sàng an toàn</a:t>
            </a:r>
            <a:endParaRPr lang="en-US" sz="15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87400" y="7302500"/>
            <a:ext cx="9906000" cy="1092200"/>
          </a:xfrm>
          <a:prstGeom prst="roundRect">
            <a:avLst/>
          </a:prstGeom>
          <a:solidFill>
            <a:srgbClr val="FFFFFF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066800" y="7531100"/>
            <a:ext cx="927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b="1" smtClean="0">
                <a:solidFill>
                  <a:srgbClr val="0E3068"/>
                </a:solidFill>
                <a:latin typeface="Aptos"/>
              </a:rPr>
              <a:t>Sinh viên: Nguyễn Khắc Nam Phương  •  MSSV: 2251172459  •  Lớp: 64KTPM5</a:t>
            </a:r>
            <a:endParaRPr lang="en-US" sz="13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6800" y="7924800"/>
            <a:ext cx="927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 smtClean="0">
                <a:solidFill>
                  <a:srgbClr val="495869"/>
                </a:solidFill>
                <a:latin typeface="Aptos"/>
              </a:rPr>
              <a:t>Giảng viên hướng dẫn: Lê Thị Tú Kiên</a:t>
            </a:r>
            <a:endParaRPr lang="en-US" sz="1300">
              <a:solidFill>
                <a:srgbClr val="495869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787400" y="87757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FFFFFF"/>
                </a:solidFill>
                <a:latin typeface="Aptos"/>
              </a:rPr>
              <a:t>HÀ NỘI, 2026</a:t>
            </a:r>
            <a:endParaRPr lang="en-US" sz="12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5740" y="2195108"/>
            <a:ext cx="381096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593"/>
              </a:lnSpc>
              <a:spcBef>
                <a:spcPct val="0"/>
              </a:spcBef>
            </a:pPr>
            <a:r>
              <a:rPr lang="en-US" sz="7994" u="none" strike="noStrike">
                <a:solidFill>
                  <a:srgbClr val="1C75BC"/>
                </a:solidFill>
                <a:latin typeface="Poppins"/>
                <a:ea typeface="Poppins"/>
                <a:cs typeface="Poppins"/>
                <a:sym typeface="Poppins"/>
              </a:rPr>
              <a:t>Lý Do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57219" y="4385045"/>
            <a:ext cx="371475" cy="3714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7219" y="5900201"/>
            <a:ext cx="371475" cy="3714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7219" y="7415358"/>
            <a:ext cx="371475" cy="3714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90481" y="4346945"/>
            <a:ext cx="5004474" cy="37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Thực trạng xã hội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0481" y="5862101"/>
            <a:ext cx="5417103" cy="37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 u="none" strike="noStrik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3 Hạn Chế Của Trị Liệu Truyền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0481" y="7377258"/>
            <a:ext cx="6435943" cy="37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② Rào cản phán xét &amp; ③ Thiếu dữ liệu dọc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0481" y="4925715"/>
            <a:ext cx="6224474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 smtClean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 âu xã hội gây né tránh, tự cô lập và làm suy giảm khả năng học tập, làm việc và kết nối xã hội.</a:t>
            </a:r>
            <a:endParaRPr lang="en-US" sz="1841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90481" y="6440871"/>
            <a:ext cx="6435943" cy="63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① Điểm mù hành vi: Bác sĩ không thể giám sát việc loại bỏ "hành vi an toàn" (Safety Behaviors) ngoài thực tế hằng ngày.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0481" y="7956028"/>
            <a:ext cx="6224474" cy="96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Bệnh nhân SAD e ngại khai báo danh tính thật khi đến phòng khám. Hồ sơ giấy truyền thống không thu thập được dữ liệu chuỗi thời gian liên tục phục vụ nghiên cứu.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361382" y="4499345"/>
            <a:ext cx="8716741" cy="3998020"/>
            <a:chOff x="0" y="0"/>
            <a:chExt cx="2295767" cy="10529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5767" cy="1052977"/>
            </a:xfrm>
            <a:custGeom>
              <a:avLst/>
              <a:gdLst/>
              <a:ahLst/>
              <a:cxnLst/>
              <a:rect l="l" t="t" r="r" b="b"/>
              <a:pathLst>
                <a:path w="2295767" h="1052977">
                  <a:moveTo>
                    <a:pt x="28421" y="0"/>
                  </a:moveTo>
                  <a:lnTo>
                    <a:pt x="2267346" y="0"/>
                  </a:lnTo>
                  <a:cubicBezTo>
                    <a:pt x="2274884" y="0"/>
                    <a:pt x="2282113" y="2994"/>
                    <a:pt x="2287443" y="8324"/>
                  </a:cubicBezTo>
                  <a:cubicBezTo>
                    <a:pt x="2292773" y="13654"/>
                    <a:pt x="2295767" y="20884"/>
                    <a:pt x="2295767" y="28421"/>
                  </a:cubicBezTo>
                  <a:lnTo>
                    <a:pt x="2295767" y="1024555"/>
                  </a:lnTo>
                  <a:cubicBezTo>
                    <a:pt x="2295767" y="1040252"/>
                    <a:pt x="2283043" y="1052977"/>
                    <a:pt x="2267346" y="1052977"/>
                  </a:cubicBezTo>
                  <a:lnTo>
                    <a:pt x="28421" y="1052977"/>
                  </a:lnTo>
                  <a:cubicBezTo>
                    <a:pt x="20884" y="1052977"/>
                    <a:pt x="13654" y="1049982"/>
                    <a:pt x="8324" y="1044652"/>
                  </a:cubicBezTo>
                  <a:cubicBezTo>
                    <a:pt x="2994" y="1039322"/>
                    <a:pt x="0" y="1032093"/>
                    <a:pt x="0" y="1024555"/>
                  </a:cubicBezTo>
                  <a:lnTo>
                    <a:pt x="0" y="28421"/>
                  </a:lnTo>
                  <a:cubicBezTo>
                    <a:pt x="0" y="12725"/>
                    <a:pt x="12725" y="0"/>
                    <a:pt x="28421" y="0"/>
                  </a:cubicBezTo>
                  <a:close/>
                </a:path>
              </a:pathLst>
            </a:custGeom>
            <a:solidFill>
              <a:srgbClr val="E8E8F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95767" cy="1091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91144" y="4091290"/>
            <a:ext cx="5268156" cy="5167010"/>
            <a:chOff x="0" y="0"/>
            <a:chExt cx="764096" cy="7494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4096" cy="749425"/>
            </a:xfrm>
            <a:custGeom>
              <a:avLst/>
              <a:gdLst/>
              <a:ahLst/>
              <a:cxnLst/>
              <a:rect l="l" t="t" r="r" b="b"/>
              <a:pathLst>
                <a:path w="764096" h="749425">
                  <a:moveTo>
                    <a:pt x="33800" y="0"/>
                  </a:moveTo>
                  <a:lnTo>
                    <a:pt x="730296" y="0"/>
                  </a:lnTo>
                  <a:cubicBezTo>
                    <a:pt x="748963" y="0"/>
                    <a:pt x="764096" y="15133"/>
                    <a:pt x="764096" y="33800"/>
                  </a:cubicBezTo>
                  <a:lnTo>
                    <a:pt x="764096" y="715625"/>
                  </a:lnTo>
                  <a:cubicBezTo>
                    <a:pt x="764096" y="734293"/>
                    <a:pt x="748963" y="749425"/>
                    <a:pt x="730296" y="749425"/>
                  </a:cubicBezTo>
                  <a:lnTo>
                    <a:pt x="33800" y="749425"/>
                  </a:lnTo>
                  <a:cubicBezTo>
                    <a:pt x="15133" y="749425"/>
                    <a:pt x="0" y="734293"/>
                    <a:pt x="0" y="715625"/>
                  </a:cubicBezTo>
                  <a:lnTo>
                    <a:pt x="0" y="33800"/>
                  </a:lnTo>
                  <a:cubicBezTo>
                    <a:pt x="0" y="15133"/>
                    <a:pt x="15133" y="0"/>
                    <a:pt x="33800" y="0"/>
                  </a:cubicBezTo>
                  <a:close/>
                </a:path>
              </a:pathLst>
            </a:custGeom>
            <a:blipFill>
              <a:blip r:embed="rId2"/>
              <a:stretch>
                <a:fillRect l="-40" r="-4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4641272" y="2232395"/>
            <a:ext cx="694736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  <a:spcBef>
                <a:spcPct val="0"/>
              </a:spcBef>
            </a:pPr>
            <a:r>
              <a:rPr lang="en-US" sz="799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Chọn Đề Tài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96743" y="1160051"/>
            <a:ext cx="310893" cy="47625"/>
            <a:chOff x="0" y="0"/>
            <a:chExt cx="81881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881" cy="12543"/>
            </a:xfrm>
            <a:custGeom>
              <a:avLst/>
              <a:gdLst/>
              <a:ahLst/>
              <a:cxnLst/>
              <a:rect l="l" t="t" r="r" b="b"/>
              <a:pathLst>
                <a:path w="81881" h="12543">
                  <a:moveTo>
                    <a:pt x="0" y="0"/>
                  </a:moveTo>
                  <a:lnTo>
                    <a:pt x="81881" y="0"/>
                  </a:lnTo>
                  <a:lnTo>
                    <a:pt x="81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881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6743" y="1244241"/>
            <a:ext cx="310893" cy="47625"/>
            <a:chOff x="0" y="0"/>
            <a:chExt cx="81881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881" cy="12543"/>
            </a:xfrm>
            <a:custGeom>
              <a:avLst/>
              <a:gdLst/>
              <a:ahLst/>
              <a:cxnLst/>
              <a:rect l="l" t="t" r="r" b="b"/>
              <a:pathLst>
                <a:path w="81881" h="12543">
                  <a:moveTo>
                    <a:pt x="0" y="0"/>
                  </a:moveTo>
                  <a:lnTo>
                    <a:pt x="81881" y="0"/>
                  </a:lnTo>
                  <a:lnTo>
                    <a:pt x="81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1881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5400000">
            <a:off x="16917977" y="973938"/>
            <a:ext cx="263611" cy="419035"/>
          </a:xfrm>
          <a:custGeom>
            <a:avLst/>
            <a:gdLst/>
            <a:ahLst/>
            <a:cxnLst/>
            <a:rect l="l" t="t" r="r" b="b"/>
            <a:pathLst>
              <a:path w="263611" h="419035">
                <a:moveTo>
                  <a:pt x="0" y="0"/>
                </a:moveTo>
                <a:lnTo>
                  <a:pt x="263611" y="0"/>
                </a:lnTo>
                <a:lnTo>
                  <a:pt x="263611" y="419035"/>
                </a:lnTo>
                <a:lnTo>
                  <a:pt x="0" y="419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47249" y="1037046"/>
            <a:ext cx="1033971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Giới thiệu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18431" y="1037046"/>
            <a:ext cx="1033971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Vấn đề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89613" y="1037046"/>
            <a:ext cx="1018840" cy="31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8"/>
              </a:lnSpc>
            </a:pPr>
            <a:r>
              <a:rPr lang="en-US" sz="18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Giải pháp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0279" y="2121870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879338" y="600075"/>
            <a:ext cx="12529324" cy="176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11"/>
              </a:lnSpc>
              <a:spcBef>
                <a:spcPct val="0"/>
              </a:spcBef>
            </a:pPr>
            <a:r>
              <a:rPr lang="en-US" sz="8793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Mục Tiêu Nghiên Cứu</a:t>
            </a:r>
          </a:p>
        </p:txBody>
      </p:sp>
      <p:sp>
        <p:nvSpPr>
          <p:cNvPr id="4" name="Freeform 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5900989" y="2643550"/>
            <a:ext cx="10863414" cy="2167257"/>
            <a:chOff x="0" y="0"/>
            <a:chExt cx="2866578" cy="5718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425537" y="3028011"/>
            <a:ext cx="9523548" cy="13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Số hóa phác đồ CBT thành nền tảng kỹ thuật số tương tác, tích hợp AI đồng hành hỗ trợ nhận thức cho người dùng trong quá trình trị liệu.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998624" y="3615501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9340067" flipV="1">
            <a:off x="670974" y="3948991"/>
            <a:ext cx="5637614" cy="4715095"/>
          </a:xfrm>
          <a:custGeom>
            <a:avLst/>
            <a:gdLst/>
            <a:ahLst/>
            <a:cxnLst/>
            <a:rect l="l" t="t" r="r" b="b"/>
            <a:pathLst>
              <a:path w="5637614" h="4715095">
                <a:moveTo>
                  <a:pt x="0" y="4715095"/>
                </a:moveTo>
                <a:lnTo>
                  <a:pt x="5637614" y="4715095"/>
                </a:lnTo>
                <a:lnTo>
                  <a:pt x="5637614" y="0"/>
                </a:lnTo>
                <a:lnTo>
                  <a:pt x="0" y="0"/>
                </a:lnTo>
                <a:lnTo>
                  <a:pt x="0" y="471509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900989" y="5072908"/>
            <a:ext cx="10863414" cy="2167257"/>
            <a:chOff x="0" y="0"/>
            <a:chExt cx="2866578" cy="5718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25537" y="5457369"/>
            <a:ext cx="9523548" cy="13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Phát triển kiến trúc hệ thống đa người dùng với RESTful API, đảm bảo khả năng mở rộng và kết nối giữa nhà trị liệu và thân chủ.</a:t>
            </a:r>
          </a:p>
        </p:txBody>
      </p:sp>
      <p:sp>
        <p:nvSpPr>
          <p:cNvPr id="17" name="Freeform 17"/>
          <p:cNvSpPr/>
          <p:nvPr/>
        </p:nvSpPr>
        <p:spPr>
          <a:xfrm>
            <a:off x="4998624" y="6044859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70615" y="3124077"/>
            <a:ext cx="7651050" cy="12268447"/>
          </a:xfrm>
          <a:custGeom>
            <a:avLst/>
            <a:gdLst/>
            <a:ahLst/>
            <a:cxnLst/>
            <a:rect l="l" t="t" r="r" b="b"/>
            <a:pathLst>
              <a:path w="7651050" h="12268447">
                <a:moveTo>
                  <a:pt x="0" y="0"/>
                </a:moveTo>
                <a:lnTo>
                  <a:pt x="7651049" y="0"/>
                </a:lnTo>
                <a:lnTo>
                  <a:pt x="7651049" y="12268446"/>
                </a:lnTo>
                <a:lnTo>
                  <a:pt x="0" y="1226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028700" y="4218294"/>
            <a:ext cx="4802016" cy="4479196"/>
            <a:chOff x="0" y="0"/>
            <a:chExt cx="1267130" cy="1181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57284" y="2085444"/>
            <a:ext cx="4802016" cy="4479196"/>
            <a:chOff x="0" y="0"/>
            <a:chExt cx="1267130" cy="1181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42992" y="3151869"/>
            <a:ext cx="4802016" cy="4479196"/>
            <a:chOff x="0" y="0"/>
            <a:chExt cx="1267130" cy="1181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56122" y="3479517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Mô hình CBT - Judith Beck (2020)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6122" y="4048051"/>
            <a:ext cx="4011851" cy="13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Tái cấu trúc nhận thức qua Nhật ký suy nghĩ (Thought Record) 6 bước: Xác định tình huống → Cảm xúc → Suy nghĩ tự động → Bằng chứng → Phản hồi thích nghi → Kết quả.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1433494">
            <a:off x="4930128" y="2970811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771525"/>
            <a:ext cx="10516308" cy="104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16"/>
              </a:lnSpc>
              <a:spcBef>
                <a:spcPct val="0"/>
              </a:spcBef>
            </a:pPr>
            <a:r>
              <a:rPr lang="en-US" sz="5154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Cơ Sở Lý Thuyết Lâm Sàng</a:t>
            </a:r>
          </a:p>
        </p:txBody>
      </p:sp>
      <p:sp>
        <p:nvSpPr>
          <p:cNvPr id="19" name="Freeform 19"/>
          <p:cNvSpPr/>
          <p:nvPr/>
        </p:nvSpPr>
        <p:spPr>
          <a:xfrm rot="1433494">
            <a:off x="10649180" y="1938069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41830" y="4545942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Mô hình Clark &amp; Wells (1995)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1830" y="5114477"/>
            <a:ext cx="4011851" cy="13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Phá vỡ vòng lặp duy trì lo âu xã hội. Cơ chế: chú ý tự hướng nội và hành vi an toàn củng cố nỗi sợ. Can thiệp: Thử nghiệm hành vi (Behavioral Experiments) để kiểm chứng niềm tin sai lệch.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0414" y="2413092"/>
            <a:ext cx="3784832" cy="27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1640" b="1" spc="8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Thang đo LSAS-SR (Liebowitz, 1987)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70414" y="2981626"/>
            <a:ext cx="4011851" cy="10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1523" u="none" strike="noStrike" spc="7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24 tình huống xã hội đo lường hai miền: Sợ hãi (Fear) và Né tránh (Avoidance). Công cụ chuẩn hóa đánh giá mức độ lo âu xã hội trước và sau can thiệp CBT số hóa.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PHẠM VI ĐỀ TÀI VÀ GIỚI HẠN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Xác định rõ phần hệ thống đã hiện thực và các nội dung chưa thuộc phạm vi đồ án.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2500" y="22225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52500" y="2222500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308100" y="24511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PHẠM VI ĐÃ HIỆN THỰC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08100" y="3009900"/>
            <a:ext cx="6248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Hồ sơ ẩn danh và tài khoản bệnh nhân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LSAS, Goal Setting và lộ trình CBT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Thought Record, Daily Check-in và Safety Gate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Đặt lịch, Web CMS và điều phối Cờ đỏ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Gemini AI kết hợp vector RAG trên Qdrant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45500" y="22225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445500" y="2222500"/>
            <a:ext cx="127000" cy="4953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801100" y="24511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GIỚI HẠN VÀ LOẠI TRỪ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01100" y="3009900"/>
            <a:ext cx="6248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Chưa tích hợp video call trực tiếp; sử dụng liên kết họp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AI là mô hình tổng quát, không thay thế bác sĩ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Chưa thực hiện thử nghiệm lâm sàng trên người bệnh thật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Chưa công bố độ chính xác khi thiếu tập nhãn chuyên gia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Dữ liệu nhạy cảm cần tiếp tục tăng cường quản trị khi triển khai thật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5969" y="3450709"/>
            <a:ext cx="12486777" cy="2359541"/>
          </a:xfrm>
          <a:custGeom>
            <a:avLst/>
            <a:gdLst/>
            <a:ahLst/>
            <a:cxnLst/>
            <a:rect l="l" t="t" r="r" b="b"/>
            <a:pathLst>
              <a:path w="12486777" h="2359541">
                <a:moveTo>
                  <a:pt x="0" y="0"/>
                </a:moveTo>
                <a:lnTo>
                  <a:pt x="12486777" y="0"/>
                </a:lnTo>
                <a:lnTo>
                  <a:pt x="12486777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43246" y="3450709"/>
            <a:ext cx="3069285" cy="2359541"/>
          </a:xfrm>
          <a:custGeom>
            <a:avLst/>
            <a:gdLst/>
            <a:ahLst/>
            <a:cxnLst/>
            <a:rect l="l" t="t" r="r" b="b"/>
            <a:pathLst>
              <a:path w="3069285" h="2359541">
                <a:moveTo>
                  <a:pt x="0" y="0"/>
                </a:moveTo>
                <a:lnTo>
                  <a:pt x="3069285" y="0"/>
                </a:lnTo>
                <a:lnTo>
                  <a:pt x="3069285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306830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433771" y="6420478"/>
            <a:ext cx="19155541" cy="0"/>
          </a:xfrm>
          <a:prstGeom prst="line">
            <a:avLst/>
          </a:prstGeom>
          <a:ln w="95250" cap="flat">
            <a:solidFill>
              <a:srgbClr val="DBE0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2416972" y="6286500"/>
            <a:ext cx="267956" cy="2679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61961" y="6286500"/>
            <a:ext cx="267956" cy="2679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06950" y="6286500"/>
            <a:ext cx="267956" cy="2679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51939" y="6286500"/>
            <a:ext cx="267956" cy="26795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D6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44810" y="6286500"/>
            <a:ext cx="267956" cy="26795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3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253803" y="4172448"/>
            <a:ext cx="617717" cy="591583"/>
          </a:xfrm>
          <a:custGeom>
            <a:avLst/>
            <a:gdLst/>
            <a:ahLst/>
            <a:cxnLst/>
            <a:rect l="l" t="t" r="r" b="b"/>
            <a:pathLst>
              <a:path w="617717" h="591583">
                <a:moveTo>
                  <a:pt x="0" y="0"/>
                </a:moveTo>
                <a:lnTo>
                  <a:pt x="617718" y="0"/>
                </a:lnTo>
                <a:lnTo>
                  <a:pt x="617718" y="591583"/>
                </a:lnTo>
                <a:lnTo>
                  <a:pt x="0" y="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364115" y="4120804"/>
            <a:ext cx="658282" cy="624323"/>
          </a:xfrm>
          <a:custGeom>
            <a:avLst/>
            <a:gdLst/>
            <a:ahLst/>
            <a:cxnLst/>
            <a:rect l="l" t="t" r="r" b="b"/>
            <a:pathLst>
              <a:path w="658282" h="624323">
                <a:moveTo>
                  <a:pt x="0" y="0"/>
                </a:moveTo>
                <a:lnTo>
                  <a:pt x="658282" y="0"/>
                </a:lnTo>
                <a:lnTo>
                  <a:pt x="658282" y="624324"/>
                </a:lnTo>
                <a:lnTo>
                  <a:pt x="0" y="624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287783" y="4120682"/>
            <a:ext cx="1081451" cy="630470"/>
          </a:xfrm>
          <a:custGeom>
            <a:avLst/>
            <a:gdLst/>
            <a:ahLst/>
            <a:cxnLst/>
            <a:rect l="l" t="t" r="r" b="b"/>
            <a:pathLst>
              <a:path w="1081451" h="630470">
                <a:moveTo>
                  <a:pt x="0" y="0"/>
                </a:moveTo>
                <a:lnTo>
                  <a:pt x="1081452" y="0"/>
                </a:lnTo>
                <a:lnTo>
                  <a:pt x="1081452" y="630469"/>
                </a:lnTo>
                <a:lnTo>
                  <a:pt x="0" y="630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691086" y="4019021"/>
            <a:ext cx="525258" cy="725615"/>
          </a:xfrm>
          <a:custGeom>
            <a:avLst/>
            <a:gdLst/>
            <a:ahLst/>
            <a:cxnLst/>
            <a:rect l="l" t="t" r="r" b="b"/>
            <a:pathLst>
              <a:path w="525258" h="725615">
                <a:moveTo>
                  <a:pt x="0" y="0"/>
                </a:moveTo>
                <a:lnTo>
                  <a:pt x="525259" y="0"/>
                </a:lnTo>
                <a:lnTo>
                  <a:pt x="525259" y="725615"/>
                </a:lnTo>
                <a:lnTo>
                  <a:pt x="0" y="7256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324443" y="904875"/>
            <a:ext cx="11639114" cy="47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4"/>
              </a:lnSpc>
            </a:pPr>
            <a:r>
              <a:rPr lang="en-US" sz="2824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Phương Pháp Nghiên Cứu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24443" y="1715943"/>
            <a:ext cx="11639114" cy="24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7"/>
              </a:lnSpc>
            </a:pPr>
            <a:r>
              <a:rPr lang="en-US" sz="149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Bốn giai đoạn tuần tự trong quy trình nghiên cứu và phát triển phần mềm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5969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Nghiên Cứu Lý Thuyết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5969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0958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Phân Tích &amp; Thiết Kế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0958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55946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Thực Nghiệm Phần Mềm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55946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00935" y="6859672"/>
            <a:ext cx="2369964" cy="25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156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Kiểm Thử &amp; Đánh Giá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00935" y="5174578"/>
            <a:ext cx="2369964" cy="20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Giai đoạn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5969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Nghiên cứu phác đồ CBT, mô hình Clark &amp; Wells và thang đo LSAS để số hóa nghiệp vụ y văn vào logic phần mềm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0958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Khảo sát yêu cầu, mô hình hóa bằng biểu đồ UML (Use Case, Activity, Sequence, Class Diagram) và thiết kế ERD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55946" y="7328118"/>
            <a:ext cx="2369964" cy="8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Lập trình Backend (Spring Boot), CSDL (MySQL), Mobile App và Web CMS (Flutter), tích hợp Gemini API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706894" y="7328118"/>
            <a:ext cx="255804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vi-VN" sz="1255" smtClean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Kiểm thử các luồng nghiệp vụ, đánh giá định tính phản hồi AI và xác minh cơ chế chống đặt lịch trùng</a:t>
            </a:r>
            <a:endParaRPr lang="en-US" sz="1255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CHỨC NĂNG CHÍNH CỦA HỆ THỐNG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Ba nhóm người dùng phối hợp trên cùng một nền tảng dữ liệu.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9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98500" y="2222500"/>
            <a:ext cx="127000" cy="5207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05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BỆNH NHÂN – FLUTTER APP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Hồ sơ ẩn danh và hồ sơ chính thức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LSAS và mục tiêu trị liệu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Fear Ladder và Behavioral Experiment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Daily Check-in, Thought Record và AI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Đặt lịch tư vấn từ xa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77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778500" y="2222500"/>
            <a:ext cx="127000" cy="5207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13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32858C"/>
                </a:solidFill>
                <a:latin typeface="Aptos"/>
              </a:rPr>
              <a:t>BÁC SĨ – WEB CMS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3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Danh sách bệnh nhân phụ trách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Xem trước phiên tư vấn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Theo dõi LSAS và tiến trình trị liệu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Quản lý lịch làm việc, lịch hẹn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Ghi chú lâm sàng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858500" y="22225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858500" y="2222500"/>
            <a:ext cx="127000" cy="5207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214100" y="245110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QUẢN TRỊ VIÊN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14100" y="3009900"/>
            <a:ext cx="4089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Quản lý tài khoản và bác sĩ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Duyệt hồ sơ chuyên môn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Theo dõi dashboard ưu tiên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Điều phối và gán bác sĩ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Xử lý hàng chờ Cờ đỏ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46669" y="-27941"/>
            <a:ext cx="10324927" cy="10398762"/>
            <a:chOff x="0" y="0"/>
            <a:chExt cx="13766570" cy="138650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569" b="2569"/>
            <a:stretch>
              <a:fillRect/>
            </a:stretch>
          </p:blipFill>
          <p:spPr>
            <a:xfrm>
              <a:off x="0" y="0"/>
              <a:ext cx="13766570" cy="13865017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2793688" y="428576"/>
            <a:ext cx="125357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44568" y="428576"/>
            <a:ext cx="8147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75866" y="428576"/>
            <a:ext cx="8568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Gallery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61279" y="428576"/>
            <a:ext cx="8568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CÁ NHÂN HÓA LỘ TRÌNH TRỊ LIỆU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LSAS baseline quyết định mức độ; goalType là tín hiệu ưu tiên, không thay thế đánh giá lâm sàng.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2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825500" y="2413000"/>
            <a:ext cx="127000" cy="3175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118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1. DỮ LIỆU NỀN LSAS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1100" y="3200400"/>
            <a:ext cx="383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24 tình huống được chấm theo hai chiều: Sợ hãi và Né tránh. Hệ thống chỉ lấy các tình huống có điểm lớn hơn 0 để tạo Fear Ladder.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90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905500" y="2413000"/>
            <a:ext cx="127000" cy="31750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626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 b="1" smtClean="0">
                <a:solidFill>
                  <a:srgbClr val="6E4FAA"/>
                </a:solidFill>
                <a:latin typeface="Aptos"/>
              </a:rPr>
              <a:t>2. ƯU TIÊN THEO MỤC TIÊU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261100" y="3200400"/>
            <a:ext cx="3835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SOCIAL ưu tiên nhóm tương tác xã hội. BEHAVIORAL ưu tiên nhóm hiệu suất/biểu diễn. EMOTIONAL giữ thứ tự trung tính và bổ sung hướng dẫn điều hòa cảm xúc.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098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10985500" y="2413000"/>
            <a:ext cx="127000" cy="3175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11341100" y="2641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28B5E"/>
                </a:solidFill>
                <a:latin typeface="Aptos"/>
              </a:rPr>
              <a:t>3. SẮP XẾP VÀ MỞ KHÓA</a:t>
            </a:r>
            <a:endParaRPr lang="en-US" sz="1900" b="1">
              <a:solidFill>
                <a:srgbClr val="228B5E"/>
              </a:solidFill>
              <a:latin typeface="Apto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1341100" y="3200400"/>
            <a:ext cx="3835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Thứ tự: goalMatch giảm dần → tổng điểm tăng dần → số tình huống. Các nấc được mở dần theo trạng thái hoàn thành.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14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LSAS baseline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06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95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Goal priority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87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76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Fear Ladder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8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26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2446000" y="6350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ptos"/>
              </a:rPr>
              <a:t>Behavioral Experiment</a:t>
            </a:r>
            <a:endParaRPr lang="en-US" b="1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KẾT QUẢ NGHIÊN CỨU VÀ KỸ THUẬT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E5B69"/>
                </a:solidFill>
                <a:latin typeface="Aptos"/>
              </a:rPr>
              <a:t>Các kết quả đã hiện thực và có thể chứng minh bằng code, API hoặc dữ liệu kiểm thử.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000" y="22225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89000" y="2222500"/>
            <a:ext cx="127000" cy="2349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244600" y="24511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1900" b="1" smtClean="0">
                <a:solidFill>
                  <a:srgbClr val="2B5B91"/>
                </a:solidFill>
                <a:latin typeface="Aptos"/>
              </a:rPr>
              <a:t>SẢN PHẨM ĐA VAI TRÒ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4600" y="30099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Flutter App cho bệnh nhân; Web CMS cho bác sĩ và quản trị viên; Spring Boot API kết nối dữ liệu xuyên suốt.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55000" y="22225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255000" y="2222500"/>
            <a:ext cx="127000" cy="23495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610600" y="24511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32858C"/>
                </a:solidFill>
                <a:latin typeface="Aptos"/>
              </a:rPr>
              <a:t>SỐ HÓA NGHIỆP VỤ CBT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10600" y="30099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Ánh xạ LSAS, Thought Record, Fear Ladder và Behavioral Experiment từ cơ sở lý thuyết thành luồng phần mềm.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000" y="50800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89000" y="5080000"/>
            <a:ext cx="127000" cy="23495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244600" y="53086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AN TOÀN VÀ TOÀN VẸN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4600" y="58674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JWT, AES-128 cho dữ liệu nhạy cảm, transaction và unique constraint chống trùng lịch; Safety Gate và Red Flag.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55000" y="50800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255000" y="5080000"/>
            <a:ext cx="127000" cy="2349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610600" y="530860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900" b="1" smtClean="0">
                <a:solidFill>
                  <a:srgbClr val="6E4FAA"/>
                </a:solidFill>
                <a:latin typeface="Aptos"/>
              </a:rPr>
              <a:t>AI, RAG VÀ KIỂM THỬ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10600" y="5867400"/>
            <a:ext cx="612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Gemini + Qdrant, index 26 knowledge chunks; API có schema và fallback; kiểm thử sáu kịch bản nghiệp vụ trọng tâm.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607800" y="7493000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861800" y="7645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0E3068"/>
                </a:solidFill>
                <a:latin typeface="Aptos"/>
              </a:rPr>
              <a:t>Minh chứng nghiên cứu</a:t>
            </a:r>
            <a:endParaRPr lang="en-US" sz="12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1861800" y="797560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300" b="1" smtClean="0">
                <a:solidFill>
                  <a:srgbClr val="FFFFFF"/>
                </a:solidFill>
                <a:latin typeface="Aptos"/>
              </a:rPr>
              <a:t>↗  MỞ BÁO CÁO CƠ SỞ KHOA HỌC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smtClean="0">
                <a:solidFill>
                  <a:srgbClr val="2B5B91"/>
                </a:solidFill>
                <a:latin typeface="Aptos"/>
              </a:rPr>
              <a:t>KIỂM SOÁT TƯƠNG TRANH KHI ĐẶT LỊCH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smtClean="0">
                <a:solidFill>
                  <a:srgbClr val="4E5B69"/>
                </a:solidFill>
                <a:latin typeface="Aptos"/>
              </a:rPr>
              <a:t>Hai request cùng chọn một khung giờ – hệ thống bảo vệ dữ liệu qua hai lớp.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5500" y="2667000"/>
            <a:ext cx="3810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5500" y="2667000"/>
            <a:ext cx="127000" cy="2603500"/>
          </a:xfrm>
          <a:prstGeom prst="rect">
            <a:avLst/>
          </a:prstGeom>
          <a:solidFill>
            <a:srgbClr val="4E5B6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81100" y="289560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4E5B69"/>
                </a:solidFill>
                <a:latin typeface="Aptos"/>
              </a:rPr>
              <a:t>REQUEST ĐỒNG THỜI</a:t>
            </a:r>
            <a:endParaRPr lang="en-US" sz="1900" b="1">
              <a:solidFill>
                <a:srgbClr val="4E5B6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1100" y="3454400"/>
            <a:ext cx="3200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Request A và Request B cùng gửi yêu cầu đặt một slot của bác sĩ.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26000" y="3556000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30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51500" y="2667000"/>
            <a:ext cx="4318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51500" y="2667000"/>
            <a:ext cx="127000" cy="2603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07100" y="2895600"/>
            <a:ext cx="370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SPRING BOOT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07100" y="3454400"/>
            <a:ext cx="3708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Kiểm tra nghiệp vụ và lịch tồn tại. Toàn bộ thao tác chạy trong @Transactional.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60000" y="3556000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rgbClr val="2B5B91"/>
                </a:solidFill>
                <a:latin typeface="Aptos"/>
              </a:rPr>
              <a:t>→</a:t>
            </a:r>
            <a:endParaRPr lang="en-US" sz="30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85500" y="2667000"/>
            <a:ext cx="4445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985500" y="2667000"/>
            <a:ext cx="127000" cy="2603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341100" y="28956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6E4FAA"/>
                </a:solidFill>
                <a:latin typeface="Aptos"/>
              </a:rPr>
              <a:t>MYSQL – LỚP BẢO VỆ CUỐI</a:t>
            </a:r>
            <a:endParaRPr lang="en-US" sz="1900" b="1">
              <a:solidFill>
                <a:srgbClr val="6E4FA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41100" y="3454400"/>
            <a:ext cx="383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UNIQUE (therapist_id, start_at)</a:t>
            </a:r>
          </a:p>
          <a:p>
            <a:r>
              <a:rPr lang="en-US" sz="1500" smtClean="0">
                <a:solidFill>
                  <a:srgbClr val="152D4B"/>
                </a:solidFill>
                <a:latin typeface="Aptos"/>
              </a:rPr>
              <a:t>UNIQUE (patient_id, start_at)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000" y="6350000"/>
            <a:ext cx="4191000" cy="533400"/>
          </a:xfrm>
          <a:prstGeom prst="round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500" b="1" smtClean="0">
                <a:solidFill>
                  <a:srgbClr val="FFFFFF"/>
                </a:solidFill>
                <a:latin typeface="Aptos"/>
              </a:rPr>
              <a:t>200 OK – Lịch được tạo</a:t>
            </a:r>
            <a:endParaRPr lang="en-US"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90000" y="6350000"/>
            <a:ext cx="4826000" cy="533400"/>
          </a:xfrm>
          <a:prstGeom prst="roundRect">
            <a:avLst/>
          </a:prstGeom>
          <a:solidFill>
            <a:srgbClr val="CD47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smtClean="0">
                <a:solidFill>
                  <a:srgbClr val="FFFFFF"/>
                </a:solidFill>
                <a:latin typeface="Aptos"/>
              </a:rPr>
              <a:t>409 Conflict – Từ chối lịch trùng</a:t>
            </a:r>
            <a:endParaRPr lang="en-US" sz="15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smtClean="0">
                <a:solidFill>
                  <a:srgbClr val="2B5B91"/>
                </a:solidFill>
                <a:latin typeface="Aptos"/>
              </a:rPr>
              <a:t>KẾT QUẢ ĐÁNH GIÁ AI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3335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ptos"/>
              </a:rPr>
              <a:t>Đánh giá ở mức chức năng phần mềm; chưa phải thử nghiệm lâm sàng.</a:t>
            </a:r>
            <a:endParaRPr lang="en-US" sz="1600">
              <a:solidFill>
                <a:srgbClr val="4E5B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89000" y="2349500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89000" y="2349500"/>
            <a:ext cx="127000" cy="3810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44600" y="2578100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28B5E"/>
                </a:solidFill>
                <a:latin typeface="Aptos"/>
              </a:rPr>
              <a:t>KẾT QUẢ ĐẠT</a:t>
            </a:r>
            <a:endParaRPr lang="en-US" sz="1900" b="1">
              <a:solidFill>
                <a:srgbClr val="228B5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4600" y="3136900"/>
            <a:ext cx="5994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API và JSON contract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Qdrant RAG – 26 chunks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Fallback khi Gemini/Qdrant lỗi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✓ Thought Record lưu AI metadata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55000" y="2349500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255000" y="2349500"/>
            <a:ext cx="127000" cy="3810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610600" y="2578100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E2972D"/>
                </a:solidFill>
                <a:latin typeface="Aptos"/>
              </a:rPr>
              <a:t>KẾT QUẢ CẦN HIỆU CHỈNH</a:t>
            </a:r>
            <a:endParaRPr lang="en-US" sz="1900" b="1">
              <a:solidFill>
                <a:srgbClr val="E297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10600" y="3136900"/>
            <a:ext cx="5994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△ Nhận diện distortion: đạt một phần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△ Corpus tri thức còn nhỏ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○ Chưa có tập nhãn chuyên gia đủ lớn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○ Chưa đánh giá lâm sàng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87500" y="6794500"/>
            <a:ext cx="130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2000" b="1" smtClean="0">
                <a:solidFill>
                  <a:srgbClr val="152D4B"/>
                </a:solidFill>
                <a:latin typeface="Aptos"/>
              </a:rPr>
              <a:t>AI hỗ trợ nhận thức và điều hướng an toàn; không chẩn đoán hoặc thay thế quyết định của bác sĩ.</a:t>
            </a:r>
            <a:endParaRPr lang="en-US" sz="2000" b="1">
              <a:solidFill>
                <a:srgbClr val="152D4B"/>
              </a:solidFill>
              <a:latin typeface="Apto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607800" y="7493000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861800" y="7645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0E3068"/>
                </a:solidFill>
                <a:latin typeface="Aptos"/>
              </a:rPr>
              <a:t>Minh chứng đánh giá</a:t>
            </a:r>
            <a:endParaRPr lang="en-US" sz="1200" b="1">
              <a:solidFill>
                <a:srgbClr val="0E3068"/>
              </a:solidFill>
              <a:latin typeface="Aptos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1861800" y="797560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mtClean="0">
                <a:solidFill>
                  <a:srgbClr val="FFFFFF"/>
                </a:solidFill>
                <a:latin typeface="Aptos"/>
              </a:rPr>
              <a:t>↗  MỞ BÁO CÁO ĐÁNH GIÁ AI</a:t>
            </a:r>
            <a:endParaRPr lang="en-US" sz="13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89000" y="48260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smtClean="0">
                <a:solidFill>
                  <a:srgbClr val="2B5B91"/>
                </a:solidFill>
                <a:latin typeface="Aptos"/>
              </a:rPr>
              <a:t>KẾT LUẬN VÀ HƯỚNG PHÁT TRIỂN</a:t>
            </a:r>
            <a:endParaRPr lang="en-US" sz="31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9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9000" y="2159000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244600" y="23876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ptos"/>
              </a:rPr>
              <a:t>KẾT LUẬN</a:t>
            </a:r>
            <a:endParaRPr lang="en-US" sz="1900" b="1">
              <a:solidFill>
                <a:srgbClr val="2B5B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4600" y="2946400"/>
            <a:ext cx="6248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Hoàn thiện hệ thống đa vai trò App – CMS – Backend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Số hóa các luồng CBT cốt lõi cho lo âu xã hội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Tích hợp vector RAG và cơ chế fallback an toàn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Bảo vệ toàn vẹn lịch hẹn bằng transaction và constraint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82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82000" y="2159000"/>
            <a:ext cx="127000" cy="4953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737600" y="2387600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 b="1" smtClean="0">
                <a:solidFill>
                  <a:srgbClr val="32858C"/>
                </a:solidFill>
                <a:latin typeface="Aptos"/>
              </a:rPr>
              <a:t>HƯỚNG PHÁT TRIỂN</a:t>
            </a:r>
            <a:endParaRPr lang="en-US" sz="1900" b="1">
              <a:solidFill>
                <a:srgbClr val="32858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7600" y="2946400"/>
            <a:ext cx="6248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Mở rộng và thẩm định corpus tri thức với chuyên gia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Đánh giá AI trên tập dữ liệu được gán nhãn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Bổ sung video call và thông báo thời gian thực</a:t>
            </a:r>
          </a:p>
          <a:p>
            <a:r>
              <a:rPr lang="vi-VN" sz="1500" smtClean="0">
                <a:solidFill>
                  <a:srgbClr val="152D4B"/>
                </a:solidFill>
                <a:latin typeface="Aptos"/>
              </a:rPr>
              <a:t>• Tăng cường audit, bảo mật khóa và triển khai production</a:t>
            </a:r>
            <a:endParaRPr lang="en-US" sz="1500">
              <a:solidFill>
                <a:srgbClr val="152D4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31947" y="-383853"/>
            <a:ext cx="11054707" cy="110547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541448" y="0"/>
            <a:ext cx="4056204" cy="4123136"/>
            <a:chOff x="0" y="0"/>
            <a:chExt cx="79960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9606" cy="812800"/>
            </a:xfrm>
            <a:custGeom>
              <a:avLst/>
              <a:gdLst/>
              <a:ahLst/>
              <a:cxnLst/>
              <a:rect l="l" t="t" r="r" b="b"/>
              <a:pathLst>
                <a:path w="799606" h="812800">
                  <a:moveTo>
                    <a:pt x="399803" y="0"/>
                  </a:moveTo>
                  <a:cubicBezTo>
                    <a:pt x="178998" y="0"/>
                    <a:pt x="0" y="181951"/>
                    <a:pt x="0" y="406400"/>
                  </a:cubicBezTo>
                  <a:cubicBezTo>
                    <a:pt x="0" y="630849"/>
                    <a:pt x="178998" y="812800"/>
                    <a:pt x="399803" y="812800"/>
                  </a:cubicBezTo>
                  <a:cubicBezTo>
                    <a:pt x="620608" y="812800"/>
                    <a:pt x="799606" y="630849"/>
                    <a:pt x="799606" y="406400"/>
                  </a:cubicBezTo>
                  <a:cubicBezTo>
                    <a:pt x="799606" y="181951"/>
                    <a:pt x="620608" y="0"/>
                    <a:pt x="399803" y="0"/>
                  </a:cubicBezTo>
                  <a:close/>
                </a:path>
              </a:pathLst>
            </a:custGeom>
            <a:ln w="628650" cap="sq">
              <a:solidFill>
                <a:srgbClr val="3E8CB7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63" y="38100"/>
              <a:ext cx="64968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10788" y="9421802"/>
            <a:ext cx="2498104" cy="24981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245890" y="2061568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7" y="0"/>
                </a:lnTo>
                <a:lnTo>
                  <a:pt x="486057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9799" y="7186245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6" y="0"/>
                </a:lnTo>
                <a:lnTo>
                  <a:pt x="486056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3097926"/>
            <a:ext cx="10125514" cy="413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36"/>
              </a:lnSpc>
            </a:pPr>
            <a:r>
              <a:rPr lang="en-US" sz="13997" b="1">
                <a:solidFill>
                  <a:srgbClr val="2A4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CẢM ƠN</a:t>
            </a:r>
          </a:p>
          <a:p>
            <a:pPr marL="0" lvl="0" indent="0" algn="ctr">
              <a:lnSpc>
                <a:spcPts val="16236"/>
              </a:lnSpc>
            </a:pPr>
            <a:r>
              <a:rPr lang="en-US" sz="13997" b="1">
                <a:solidFill>
                  <a:srgbClr val="2A42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QUÝ VỊ!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02049"/>
            <a:ext cx="6285149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>
                <a:solidFill>
                  <a:srgbClr val="2A426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Nhóm Nghiên Cứu &amp; Phát Triển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0164" y="8753067"/>
            <a:ext cx="4463565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 b="1">
                <a:solidFill>
                  <a:srgbClr val="2A426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 Âu Xã Hội AI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00164" y="-1550961"/>
            <a:ext cx="2498104" cy="249810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2599173">
            <a:off x="2531375" y="1367104"/>
            <a:ext cx="609542" cy="561922"/>
          </a:xfrm>
          <a:custGeom>
            <a:avLst/>
            <a:gdLst/>
            <a:ahLst/>
            <a:cxnLst/>
            <a:rect l="l" t="t" r="r" b="b"/>
            <a:pathLst>
              <a:path w="609542" h="561922">
                <a:moveTo>
                  <a:pt x="0" y="0"/>
                </a:moveTo>
                <a:lnTo>
                  <a:pt x="609542" y="0"/>
                </a:lnTo>
                <a:lnTo>
                  <a:pt x="609542" y="561922"/>
                </a:lnTo>
                <a:lnTo>
                  <a:pt x="0" y="5619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Microsoft Office PowerPoint</Application>
  <PresentationFormat>Custom</PresentationFormat>
  <Paragraphs>155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31" baseType="lpstr">
      <vt:lpstr>Nunito</vt:lpstr>
      <vt:lpstr>Poppins Bold</vt:lpstr>
      <vt:lpstr>Poppins</vt:lpstr>
      <vt:lpstr>League Spartan</vt:lpstr>
      <vt:lpstr>TT Hoves Bold</vt:lpstr>
      <vt:lpstr>Inter</vt:lpstr>
      <vt:lpstr>TT Hoves</vt:lpstr>
      <vt:lpstr>Glacial Indifference</vt:lpstr>
      <vt:lpstr>Nunito Bold</vt:lpstr>
      <vt:lpstr>Agrandir Bold</vt:lpstr>
      <vt:lpstr>Calibri</vt:lpstr>
      <vt:lpstr>Glacial Indifference Bold</vt:lpstr>
      <vt:lpstr>Arial</vt:lpstr>
      <vt:lpstr>Aptos</vt:lpstr>
      <vt:lpstr>Open Sauce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viên: Nguyễn Khắc Nam Phương (2251172459) | Lớp: 64KTPM5 - Ngành: Kỹ thuật phần mềm</dc:title>
  <cp:lastModifiedBy>T14</cp:lastModifiedBy>
  <cp:revision>3</cp:revision>
  <dcterms:created xsi:type="dcterms:W3CDTF">2006-08-16T00:00:00Z</dcterms:created>
  <dcterms:modified xsi:type="dcterms:W3CDTF">2026-07-04T13:42:33Z</dcterms:modified>
  <dc:identifier>DAHOWN8GcjQ</dc:identifier>
</cp:coreProperties>
</file>